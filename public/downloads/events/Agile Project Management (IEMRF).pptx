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3"/>
  </p:notesMasterIdLst>
  <p:handoutMasterIdLst>
    <p:handoutMasterId r:id="rId34"/>
  </p:handoutMasterIdLst>
  <p:sldIdLst>
    <p:sldId id="265" r:id="rId2"/>
    <p:sldId id="257" r:id="rId3"/>
    <p:sldId id="336" r:id="rId4"/>
    <p:sldId id="335" r:id="rId5"/>
    <p:sldId id="337" r:id="rId6"/>
    <p:sldId id="338" r:id="rId7"/>
    <p:sldId id="339" r:id="rId8"/>
    <p:sldId id="347" r:id="rId9"/>
    <p:sldId id="343" r:id="rId10"/>
    <p:sldId id="340" r:id="rId11"/>
    <p:sldId id="345" r:id="rId12"/>
    <p:sldId id="348" r:id="rId13"/>
    <p:sldId id="344" r:id="rId14"/>
    <p:sldId id="342" r:id="rId15"/>
    <p:sldId id="341" r:id="rId16"/>
    <p:sldId id="346" r:id="rId17"/>
    <p:sldId id="349" r:id="rId18"/>
    <p:sldId id="358" r:id="rId19"/>
    <p:sldId id="350" r:id="rId20"/>
    <p:sldId id="351" r:id="rId21"/>
    <p:sldId id="352" r:id="rId22"/>
    <p:sldId id="353" r:id="rId23"/>
    <p:sldId id="354" r:id="rId24"/>
    <p:sldId id="355" r:id="rId25"/>
    <p:sldId id="356" r:id="rId26"/>
    <p:sldId id="359" r:id="rId27"/>
    <p:sldId id="360" r:id="rId28"/>
    <p:sldId id="361" r:id="rId29"/>
    <p:sldId id="362" r:id="rId30"/>
    <p:sldId id="363" r:id="rId31"/>
    <p:sldId id="325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iswajit Chaki" initials="BC" lastIdx="2" clrIdx="0">
    <p:extLst>
      <p:ext uri="{19B8F6BF-5375-455C-9EA6-DF929625EA0E}">
        <p15:presenceInfo xmlns:p15="http://schemas.microsoft.com/office/powerpoint/2012/main" userId="1a18300efc14ae7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BA17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196" autoAdjust="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3154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commentAuthors" Target="comment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06EE3F1-ACD9-4B05-3E21-00B20382A8E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IEMCS Internal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891743-9EEC-18B2-F8B4-C1FC0CDA33B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en-US"/>
              <a:t>05-11-2024</a:t>
            </a:r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249E38-F69A-1C5D-1921-EF21961277E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/>
              <a:t>Client Presentation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F101B0-CF62-B7C4-042E-04CEEBDD76A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CD2AEB-F303-4943-BD11-9A3C340FC9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847123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IEMCS Internal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en-US"/>
              <a:t>05-11-2024</a:t>
            </a:r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/>
              <a:t>Client Presentation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AF328F-B902-4FC0-BE3F-8C7AFDD7A8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075959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85102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7EDE5-403F-27BA-3FB6-5DBA181E31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07D505-EF71-0D8E-2F97-A944E3A7A5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F7154-FD43-02AE-06E3-DE1DE358AB4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23765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8D7890-7571-B8C9-2E02-7AF08FEE8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81200" y="6356349"/>
            <a:ext cx="6210300" cy="365125"/>
          </a:xfrm>
        </p:spPr>
        <p:txBody>
          <a:bodyPr/>
          <a:lstStyle>
            <a:lvl1pPr algn="l">
              <a:defRPr/>
            </a:lvl1pPr>
          </a:lstStyle>
          <a:p>
            <a:r>
              <a:rPr lang="fr-FR"/>
              <a:t>IEMCS Internal | Agile Project Management</a:t>
            </a:r>
            <a:endParaRPr lang="en-IN" dirty="0">
              <a:solidFill>
                <a:schemeClr val="tx1"/>
              </a:solidFill>
              <a:latin typeface="Poppins" panose="00000800000000000000" pitchFamily="2" charset="0"/>
              <a:cs typeface="Poppins" panose="00000800000000000000" pitchFamily="2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B7D79B-E35A-3ED1-3105-82D3ABD36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46449-9627-49D8-A7BB-62F07B68A9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2853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89718-7745-DB9B-BC95-4950BB983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E97FA5-7D17-17D2-087A-6FFA946A7C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B976C-B96B-9084-2D6D-0F6B6B0F4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41111" y="6492875"/>
            <a:ext cx="3954714" cy="365125"/>
          </a:xfrm>
        </p:spPr>
        <p:txBody>
          <a:bodyPr/>
          <a:lstStyle>
            <a:lvl1pPr algn="l">
              <a:defRPr sz="1000"/>
            </a:lvl1pPr>
          </a:lstStyle>
          <a:p>
            <a:r>
              <a:rPr lang="fr-FR"/>
              <a:t>IEMCS Internal | Agile Project Management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ED3F67-222E-C5C4-67D1-312F0B88A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379" y="6426695"/>
            <a:ext cx="462574" cy="365125"/>
          </a:xfrm>
        </p:spPr>
        <p:txBody>
          <a:bodyPr/>
          <a:lstStyle>
            <a:lvl1pPr algn="l">
              <a:defRPr sz="1000"/>
            </a:lvl1pPr>
          </a:lstStyle>
          <a:p>
            <a:fld id="{0E146449-9627-49D8-A7BB-62F07B68A900}" type="slidenum">
              <a:rPr lang="en-IN" smtClean="0"/>
              <a:pPr/>
              <a:t>‹#›</a:t>
            </a:fld>
            <a:endParaRPr lang="en-IN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5559D61D-8F9A-2972-F8C5-1ACCA4004EDD}"/>
              </a:ext>
            </a:extLst>
          </p:cNvPr>
          <p:cNvSpPr txBox="1">
            <a:spLocks/>
          </p:cNvSpPr>
          <p:nvPr userDrawn="1"/>
        </p:nvSpPr>
        <p:spPr>
          <a:xfrm>
            <a:off x="10922145" y="6426694"/>
            <a:ext cx="6201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 Page #</a:t>
            </a:r>
          </a:p>
        </p:txBody>
      </p:sp>
    </p:spTree>
    <p:extLst>
      <p:ext uri="{BB962C8B-B14F-4D97-AF65-F5344CB8AC3E}">
        <p14:creationId xmlns:p14="http://schemas.microsoft.com/office/powerpoint/2010/main" val="2159925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8D79-D503-38B5-2F97-C2422C190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493F1A-A296-40D6-4733-CD03A89298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3EBB86A-1637-BC86-DB53-58F8C6195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41111" y="6492875"/>
            <a:ext cx="4297614" cy="365125"/>
          </a:xfrm>
        </p:spPr>
        <p:txBody>
          <a:bodyPr/>
          <a:lstStyle>
            <a:lvl1pPr algn="l">
              <a:defRPr sz="1000"/>
            </a:lvl1pPr>
          </a:lstStyle>
          <a:p>
            <a:r>
              <a:rPr lang="fr-FR"/>
              <a:t>IEMCS Internal | Agile Project Management</a:t>
            </a:r>
            <a:endParaRPr lang="en-IN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7F0E11A-C1D6-BD90-E04B-4D2DF28FE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379" y="6426695"/>
            <a:ext cx="462574" cy="365125"/>
          </a:xfrm>
        </p:spPr>
        <p:txBody>
          <a:bodyPr/>
          <a:lstStyle>
            <a:lvl1pPr algn="l">
              <a:defRPr sz="1000"/>
            </a:lvl1pPr>
          </a:lstStyle>
          <a:p>
            <a:fld id="{0E146449-9627-49D8-A7BB-62F07B68A900}" type="slidenum">
              <a:rPr lang="en-IN" smtClean="0"/>
              <a:pPr/>
              <a:t>‹#›</a:t>
            </a:fld>
            <a:endParaRPr lang="en-IN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DE5B81FE-B475-2DF1-7335-F672B717B567}"/>
              </a:ext>
            </a:extLst>
          </p:cNvPr>
          <p:cNvSpPr txBox="1">
            <a:spLocks/>
          </p:cNvSpPr>
          <p:nvPr userDrawn="1"/>
        </p:nvSpPr>
        <p:spPr>
          <a:xfrm>
            <a:off x="10922145" y="6426694"/>
            <a:ext cx="6201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 Page #</a:t>
            </a:r>
          </a:p>
        </p:txBody>
      </p:sp>
    </p:spTree>
    <p:extLst>
      <p:ext uri="{BB962C8B-B14F-4D97-AF65-F5344CB8AC3E}">
        <p14:creationId xmlns:p14="http://schemas.microsoft.com/office/powerpoint/2010/main" val="1813572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68327-83D1-435E-406E-6A2861383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4DC0CC-14A5-5278-F52C-CC792C3CC2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76A0A7-C744-6411-E01B-469174E0DC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95BF53DE-3A1E-A9AF-E209-9F2D03E29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41110" y="6492875"/>
            <a:ext cx="4288089" cy="365125"/>
          </a:xfrm>
        </p:spPr>
        <p:txBody>
          <a:bodyPr/>
          <a:lstStyle>
            <a:lvl1pPr algn="l">
              <a:defRPr sz="1000"/>
            </a:lvl1pPr>
          </a:lstStyle>
          <a:p>
            <a:r>
              <a:rPr lang="fr-FR"/>
              <a:t>IEMCS Internal | Agile Project Management</a:t>
            </a:r>
            <a:endParaRPr lang="en-IN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81CE4C9-A7DB-A7DF-62B9-D8769A1C7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379" y="6426695"/>
            <a:ext cx="462574" cy="365125"/>
          </a:xfrm>
        </p:spPr>
        <p:txBody>
          <a:bodyPr/>
          <a:lstStyle>
            <a:lvl1pPr algn="l">
              <a:defRPr sz="1000"/>
            </a:lvl1pPr>
          </a:lstStyle>
          <a:p>
            <a:fld id="{0E146449-9627-49D8-A7BB-62F07B68A900}" type="slidenum">
              <a:rPr lang="en-IN" smtClean="0"/>
              <a:pPr/>
              <a:t>‹#›</a:t>
            </a:fld>
            <a:endParaRPr lang="en-IN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F184FB4A-353C-C9EC-8CC2-5841BFE50216}"/>
              </a:ext>
            </a:extLst>
          </p:cNvPr>
          <p:cNvSpPr txBox="1">
            <a:spLocks/>
          </p:cNvSpPr>
          <p:nvPr userDrawn="1"/>
        </p:nvSpPr>
        <p:spPr>
          <a:xfrm>
            <a:off x="10922145" y="6426694"/>
            <a:ext cx="6201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 Page #</a:t>
            </a:r>
          </a:p>
        </p:txBody>
      </p:sp>
    </p:spTree>
    <p:extLst>
      <p:ext uri="{BB962C8B-B14F-4D97-AF65-F5344CB8AC3E}">
        <p14:creationId xmlns:p14="http://schemas.microsoft.com/office/powerpoint/2010/main" val="1507109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48097-69E9-B79B-2E99-C86798E06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D147B6-0B9E-DC6F-A844-08407F4243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2079DC-E225-EED3-C0F3-33BA243EE9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48CA21-230B-D747-F5AE-9E824A5530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AD1DEF-91F2-E822-C98F-2B1F536516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06AAC06-BD31-98E0-03A2-8B172F2DB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41111" y="6492875"/>
            <a:ext cx="5256464" cy="365125"/>
          </a:xfrm>
        </p:spPr>
        <p:txBody>
          <a:bodyPr/>
          <a:lstStyle>
            <a:lvl1pPr algn="l">
              <a:defRPr sz="1000"/>
            </a:lvl1pPr>
          </a:lstStyle>
          <a:p>
            <a:r>
              <a:rPr lang="fr-FR"/>
              <a:t>IEMCS Internal | Agile Project Management</a:t>
            </a:r>
            <a:endParaRPr lang="en-IN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D9C628C2-A8DF-5278-AD96-ABD6F6E82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379" y="6426695"/>
            <a:ext cx="462574" cy="365125"/>
          </a:xfrm>
        </p:spPr>
        <p:txBody>
          <a:bodyPr/>
          <a:lstStyle>
            <a:lvl1pPr algn="l">
              <a:defRPr sz="1000"/>
            </a:lvl1pPr>
          </a:lstStyle>
          <a:p>
            <a:fld id="{0E146449-9627-49D8-A7BB-62F07B68A900}" type="slidenum">
              <a:rPr lang="en-IN" smtClean="0"/>
              <a:pPr/>
              <a:t>‹#›</a:t>
            </a:fld>
            <a:endParaRPr lang="en-IN" dirty="0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0EE77121-0EF8-7C6B-FFCA-E3F313CC276E}"/>
              </a:ext>
            </a:extLst>
          </p:cNvPr>
          <p:cNvSpPr txBox="1">
            <a:spLocks/>
          </p:cNvSpPr>
          <p:nvPr userDrawn="1"/>
        </p:nvSpPr>
        <p:spPr>
          <a:xfrm>
            <a:off x="10922145" y="6426694"/>
            <a:ext cx="6201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 Page #</a:t>
            </a:r>
          </a:p>
        </p:txBody>
      </p:sp>
    </p:spTree>
    <p:extLst>
      <p:ext uri="{BB962C8B-B14F-4D97-AF65-F5344CB8AC3E}">
        <p14:creationId xmlns:p14="http://schemas.microsoft.com/office/powerpoint/2010/main" val="2021578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19E58-D497-E7F5-8B5A-E8ECEAD96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3697637-AF0E-CED9-5F4A-C0B99B73F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41111" y="6492875"/>
            <a:ext cx="4335714" cy="365125"/>
          </a:xfrm>
        </p:spPr>
        <p:txBody>
          <a:bodyPr/>
          <a:lstStyle>
            <a:lvl1pPr algn="l">
              <a:defRPr sz="1000"/>
            </a:lvl1pPr>
          </a:lstStyle>
          <a:p>
            <a:r>
              <a:rPr lang="fr-FR"/>
              <a:t>IEMCS Internal | Agile Project Management</a:t>
            </a:r>
            <a:endParaRPr lang="en-IN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837E0F1-1728-F0FA-FDCF-8E9EAB4F1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379" y="6426695"/>
            <a:ext cx="462574" cy="365125"/>
          </a:xfrm>
        </p:spPr>
        <p:txBody>
          <a:bodyPr/>
          <a:lstStyle>
            <a:lvl1pPr algn="l">
              <a:defRPr sz="1000"/>
            </a:lvl1pPr>
          </a:lstStyle>
          <a:p>
            <a:fld id="{0E146449-9627-49D8-A7BB-62F07B68A900}" type="slidenum">
              <a:rPr lang="en-IN" smtClean="0"/>
              <a:pPr/>
              <a:t>‹#›</a:t>
            </a:fld>
            <a:endParaRPr lang="en-IN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0660560-6EF3-2F61-0579-721810B6A4AD}"/>
              </a:ext>
            </a:extLst>
          </p:cNvPr>
          <p:cNvSpPr txBox="1">
            <a:spLocks/>
          </p:cNvSpPr>
          <p:nvPr userDrawn="1"/>
        </p:nvSpPr>
        <p:spPr>
          <a:xfrm>
            <a:off x="10922145" y="6426694"/>
            <a:ext cx="6201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 Page #</a:t>
            </a:r>
          </a:p>
        </p:txBody>
      </p:sp>
    </p:spTree>
    <p:extLst>
      <p:ext uri="{BB962C8B-B14F-4D97-AF65-F5344CB8AC3E}">
        <p14:creationId xmlns:p14="http://schemas.microsoft.com/office/powerpoint/2010/main" val="817525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CB12B0-5789-D7C8-F9FC-155211F1C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3F64F8-6B69-3860-1A84-8C55F63CC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IEMCS Internal | Agile Project Management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BFB22A-76E4-107A-1603-1080A0C2E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46449-9627-49D8-A7BB-62F07B68A9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3060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66D34-AFA4-B52B-E34E-8AA1FC8C7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532829-B23D-846B-2DF9-5C65B6FF3C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9F6224-877A-D13A-E557-7672996B47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112204-5CF1-DE41-DF46-2F10466E4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8D9BD5-4FCC-B07D-3766-DEA9920C8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IEMCS Internal | Agile Project Management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DA5948-31B7-47C0-AD4E-9B0CFB08E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46449-9627-49D8-A7BB-62F07B68A9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1867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0026F-F9B4-A766-FD3E-040557610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3A875A-DF76-DA96-18F0-4D198A6FC5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F6FBEA-11BE-8F1B-C7E5-091EA301AB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4E8C73-80EE-E8EC-BC6D-046B63C82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8B6539-CD05-617E-551A-D8358BD5D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IEMCS Internal | Agile Project Management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71B55D-C475-1362-738F-5CBE1BFBE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46449-9627-49D8-A7BB-62F07B68A9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9958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6CB10-1C94-E283-5E5D-DADF2A829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84AA79-8350-5849-F6FF-A9A9875630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43C462-3B0E-5F11-E2C9-DC953185F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954D37-85C1-3E1C-58B0-9BA1048CB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IEMCS Internal | Agile Project Management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C0BE87-770C-6B56-F6E4-6D9ABE6A3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46449-9627-49D8-A7BB-62F07B68A9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916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3540CC-19D3-D514-B314-7B76806967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EE927D-7361-E9AD-6C24-7FDAD3074F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C14C5D-7280-63E8-368E-1D466B616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6BAAA5-1C07-DC2C-C999-C2004BD75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IEMCS Internal | Agile Project Management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D35157-9C69-B026-247D-E8B2AE19E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46449-9627-49D8-A7BB-62F07B68A9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1235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07F581-3F2F-F01C-C1F2-57C806405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C0B89B-C086-D78E-C215-A68C2912BE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0B0FA2-769A-5981-830A-A454EAD5F9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BC9660-845C-C457-372F-AA22D891B7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FR"/>
              <a:t>IEMCS Internal | Agile Project Management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D8CC52-6DFE-50EB-E20B-8CC2B6F6BB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146449-9627-49D8-A7BB-62F07B68A9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982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25E5EBA5-964D-0A3E-F339-ED2475C76E74}"/>
              </a:ext>
            </a:extLst>
          </p:cNvPr>
          <p:cNvSpPr txBox="1"/>
          <p:nvPr/>
        </p:nvSpPr>
        <p:spPr>
          <a:xfrm>
            <a:off x="419661" y="1749893"/>
            <a:ext cx="991178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5400" b="1" i="0">
                <a:solidFill>
                  <a:srgbClr val="155FCF"/>
                </a:solidFill>
                <a:effectLst/>
                <a:latin typeface="inherit"/>
                <a:cs typeface="Varela Round" panose="020F0502020204030204" pitchFamily="2" charset="-79"/>
              </a:defRPr>
            </a:lvl1pPr>
          </a:lstStyle>
          <a:p>
            <a:r>
              <a:rPr lang="en-IN" sz="7200" dirty="0">
                <a:solidFill>
                  <a:schemeClr val="tx1"/>
                </a:solidFill>
                <a:latin typeface="Modern No. 20" panose="02070704070505020303" pitchFamily="18" charset="0"/>
                <a:cs typeface="Poppins" panose="00000800000000000000" pitchFamily="2" charset="0"/>
              </a:rPr>
              <a:t>Agile Project management </a:t>
            </a:r>
            <a:endParaRPr lang="en-US" sz="7200" dirty="0">
              <a:solidFill>
                <a:schemeClr val="tx1"/>
              </a:solidFill>
              <a:latin typeface="Modern No. 20" panose="02070704070505020303" pitchFamily="18" charset="0"/>
              <a:cs typeface="Poppins" panose="000008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DCFD25-638D-6E52-F5DB-CB5AE1D7D59E}"/>
              </a:ext>
            </a:extLst>
          </p:cNvPr>
          <p:cNvSpPr txBox="1"/>
          <p:nvPr/>
        </p:nvSpPr>
        <p:spPr>
          <a:xfrm>
            <a:off x="10041157" y="1142772"/>
            <a:ext cx="2103265" cy="407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000" spc="100" dirty="0">
                <a:latin typeface="Poppins Light" panose="00000400000000000000" pitchFamily="2" charset="0"/>
                <a:cs typeface="Poppins Light" panose="00000400000000000000" pitchFamily="2" charset="0"/>
              </a:rPr>
              <a:t>Empowering </a:t>
            </a:r>
            <a:r>
              <a:rPr lang="en-IN" sz="1000" spc="100" dirty="0">
                <a:effectLst/>
                <a:latin typeface="Poppins Light" panose="00000400000000000000" pitchFamily="2" charset="0"/>
                <a:cs typeface="Poppins Light" panose="00000400000000000000" pitchFamily="2" charset="0"/>
              </a:rPr>
              <a:t>Excellence </a:t>
            </a:r>
            <a:r>
              <a:rPr lang="en-IN" sz="1050" spc="200" dirty="0">
                <a:latin typeface="Poppins Light" panose="00000400000000000000" pitchFamily="2" charset="0"/>
                <a:cs typeface="Poppins Light" panose="00000400000000000000" pitchFamily="2" charset="0"/>
              </a:rPr>
              <a:t>T</a:t>
            </a:r>
            <a:r>
              <a:rPr lang="en-IN" sz="1050" spc="200" dirty="0">
                <a:effectLst/>
                <a:latin typeface="Poppins Light" panose="00000400000000000000" pitchFamily="2" charset="0"/>
                <a:cs typeface="Poppins Light" panose="00000400000000000000" pitchFamily="2" charset="0"/>
              </a:rPr>
              <a:t>hrough Knowledge </a:t>
            </a:r>
            <a:endParaRPr lang="en-IN" sz="1050" spc="200" dirty="0"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pic>
        <p:nvPicPr>
          <p:cNvPr id="2" name="Picture 12" descr="Picture1">
            <a:extLst>
              <a:ext uri="{FF2B5EF4-FFF2-40B4-BE49-F238E27FC236}">
                <a16:creationId xmlns:a16="http://schemas.microsoft.com/office/drawing/2014/main" id="{3AA9D1AC-14A3-7532-6851-3815FFEF82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750" b="26765"/>
          <a:stretch>
            <a:fillRect/>
          </a:stretch>
        </p:blipFill>
        <p:spPr bwMode="auto">
          <a:xfrm>
            <a:off x="8382000" y="3046413"/>
            <a:ext cx="3810000" cy="3811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BDA89DA-8F11-EF71-F08F-68EAF9DA00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6999" y="304647"/>
            <a:ext cx="1611581" cy="91916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0B9FC89-A4BF-552B-5E73-E14069554561}"/>
              </a:ext>
            </a:extLst>
          </p:cNvPr>
          <p:cNvSpPr txBox="1"/>
          <p:nvPr/>
        </p:nvSpPr>
        <p:spPr>
          <a:xfrm>
            <a:off x="419661" y="4857945"/>
            <a:ext cx="545222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Poppins Light" panose="00000400000000000000" pitchFamily="2" charset="0"/>
                <a:cs typeface="Poppins Light" panose="00000400000000000000" pitchFamily="2" charset="0"/>
              </a:rPr>
              <a:t>Workshop</a:t>
            </a:r>
          </a:p>
          <a:p>
            <a:r>
              <a:rPr lang="en-IN" sz="1600" dirty="0">
                <a:latin typeface="Poppins ExtraLight" panose="00000300000000000000" pitchFamily="2" charset="0"/>
                <a:cs typeface="Poppins ExtraLight" panose="00000300000000000000" pitchFamily="2" charset="0"/>
              </a:rPr>
              <a:t>Developed by:</a:t>
            </a:r>
          </a:p>
          <a:p>
            <a:r>
              <a:rPr lang="en-IN" sz="1600" b="1" dirty="0">
                <a:latin typeface="Poppins Light" panose="00000400000000000000" pitchFamily="2" charset="0"/>
                <a:cs typeface="Poppins Light" panose="00000400000000000000" pitchFamily="2" charset="0"/>
              </a:rPr>
              <a:t>IEM Consultancy Services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9C36D30-EB54-B207-3F37-5F01CC12E4CA}"/>
              </a:ext>
            </a:extLst>
          </p:cNvPr>
          <p:cNvCxnSpPr>
            <a:cxnSpLocks/>
          </p:cNvCxnSpPr>
          <p:nvPr/>
        </p:nvCxnSpPr>
        <p:spPr>
          <a:xfrm>
            <a:off x="527241" y="4857945"/>
            <a:ext cx="337073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6122762"/>
      </p:ext>
    </p:extLst>
  </p:cSld>
  <p:clrMapOvr>
    <a:masterClrMapping/>
  </p:clrMapOvr>
  <p:transition spd="slow">
    <p:cov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9D16F285-84C9-F55D-126F-031C81AD9B7D}"/>
              </a:ext>
            </a:extLst>
          </p:cNvPr>
          <p:cNvSpPr txBox="1"/>
          <p:nvPr/>
        </p:nvSpPr>
        <p:spPr>
          <a:xfrm>
            <a:off x="545031" y="189329"/>
            <a:ext cx="76369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/>
              <a:t>AGILE PROJECT MANAGEMENT</a:t>
            </a:r>
            <a:endParaRPr lang="en-US" sz="4400" b="1" dirty="0"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C37107-9D34-E7DB-F3B8-4A81A1E99A66}"/>
              </a:ext>
            </a:extLst>
          </p:cNvPr>
          <p:cNvSpPr txBox="1"/>
          <p:nvPr/>
        </p:nvSpPr>
        <p:spPr>
          <a:xfrm>
            <a:off x="545031" y="1167334"/>
            <a:ext cx="9149916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Agile Project Management (APM)</a:t>
            </a:r>
            <a:r>
              <a:rPr lang="en-US" sz="2000" dirty="0"/>
              <a:t> is an </a:t>
            </a:r>
            <a:r>
              <a:rPr lang="en-US" sz="2000" b="1" dirty="0"/>
              <a:t>iterative, collaborative, and flexible approach</a:t>
            </a:r>
            <a:r>
              <a:rPr lang="en-US" sz="2000" dirty="0"/>
              <a:t> to managing projects, particularly in </a:t>
            </a:r>
            <a:r>
              <a:rPr lang="en-US" sz="2000" b="1" dirty="0"/>
              <a:t>software development</a:t>
            </a:r>
            <a:r>
              <a:rPr lang="en-US" sz="2000" dirty="0"/>
              <a:t>. It focuses on </a:t>
            </a:r>
            <a:r>
              <a:rPr lang="en-US" sz="2000" b="1" dirty="0"/>
              <a:t>delivering value quickly</a:t>
            </a:r>
            <a:r>
              <a:rPr lang="en-US" sz="2000" dirty="0"/>
              <a:t>, adapting to changes, and ensuring </a:t>
            </a:r>
            <a:r>
              <a:rPr lang="en-US" sz="2000" b="1" dirty="0"/>
              <a:t>continuous customer feedback</a:t>
            </a:r>
            <a:r>
              <a:rPr lang="en-US" sz="2000" dirty="0"/>
              <a:t>.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dirty="0"/>
              <a:t>Agile Project Management</a:t>
            </a:r>
            <a:r>
              <a:rPr lang="en-US" sz="2000" dirty="0"/>
              <a:t> is a modern, </a:t>
            </a:r>
            <a:r>
              <a:rPr lang="en-US" sz="2000" b="1" dirty="0"/>
              <a:t>adaptive, and value-driven</a:t>
            </a:r>
            <a:r>
              <a:rPr lang="en-US" sz="2000" dirty="0"/>
              <a:t> approach that enhances </a:t>
            </a:r>
            <a:r>
              <a:rPr lang="en-US" sz="2000" b="1" dirty="0"/>
              <a:t>team collaboration, flexibility, and speed</a:t>
            </a:r>
            <a:r>
              <a:rPr lang="en-US" sz="2000" dirty="0"/>
              <a:t>. It is widely used across industries to ensure </a:t>
            </a:r>
            <a:r>
              <a:rPr lang="en-US" sz="2000" b="1" dirty="0"/>
              <a:t>efficient project execution and continuous improvement</a:t>
            </a:r>
            <a:r>
              <a:rPr lang="en-US" sz="2000" dirty="0"/>
              <a:t>. </a:t>
            </a:r>
            <a:endParaRPr lang="en-IN" sz="2000" dirty="0"/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503762C4-AD67-D58F-2B99-3C2648852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5032" y="6484989"/>
            <a:ext cx="4069236" cy="365125"/>
          </a:xfrm>
        </p:spPr>
        <p:txBody>
          <a:bodyPr/>
          <a:lstStyle/>
          <a:p>
            <a:r>
              <a:rPr lang="fr-FR"/>
              <a:t>IEMCS Internal | Agile Project Management</a:t>
            </a:r>
            <a:endParaRPr lang="en-IN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CBB0E1D6-2DCE-A567-1338-E4FE2258FC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1752" y="189329"/>
            <a:ext cx="1054596" cy="601487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895207-5069-B304-9F39-71380A76A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46449-9627-49D8-A7BB-62F07B68A900}" type="slidenum">
              <a:rPr lang="en-IN" smtClean="0"/>
              <a:pPr/>
              <a:t>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2490412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D0944-5DD0-0B07-AE93-FFB894304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2BF590B6-329E-D966-4C0C-711C751176D9}"/>
              </a:ext>
            </a:extLst>
          </p:cNvPr>
          <p:cNvSpPr txBox="1"/>
          <p:nvPr/>
        </p:nvSpPr>
        <p:spPr>
          <a:xfrm>
            <a:off x="545031" y="189329"/>
            <a:ext cx="76369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/>
              <a:t>AGILE PROJECT MANAGEMENT</a:t>
            </a:r>
            <a:endParaRPr lang="en-US" sz="4400" b="1" dirty="0"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1D6FE992-89F9-E6ED-5ED4-7AE72AB8C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5032" y="6484989"/>
            <a:ext cx="4069236" cy="365125"/>
          </a:xfrm>
        </p:spPr>
        <p:txBody>
          <a:bodyPr/>
          <a:lstStyle/>
          <a:p>
            <a:r>
              <a:rPr lang="fr-FR"/>
              <a:t>IEMCS Internal | Agile Project Management</a:t>
            </a:r>
            <a:endParaRPr lang="en-IN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A36CCB53-4D30-56A7-79DB-BBFAF3AEF2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1752" y="189329"/>
            <a:ext cx="1054596" cy="601487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FA0609F-F187-50BB-306B-D5719E0576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5991274"/>
              </p:ext>
            </p:extLst>
          </p:nvPr>
        </p:nvGraphicFramePr>
        <p:xfrm>
          <a:off x="703451" y="4032995"/>
          <a:ext cx="7320101" cy="2011680"/>
        </p:xfrm>
        <a:graphic>
          <a:graphicData uri="http://schemas.openxmlformats.org/drawingml/2006/table">
            <a:tbl>
              <a:tblPr/>
              <a:tblGrid>
                <a:gridCol w="2163371">
                  <a:extLst>
                    <a:ext uri="{9D8B030D-6E8A-4147-A177-3AD203B41FA5}">
                      <a16:colId xmlns:a16="http://schemas.microsoft.com/office/drawing/2014/main" val="4121527996"/>
                    </a:ext>
                  </a:extLst>
                </a:gridCol>
                <a:gridCol w="2673420">
                  <a:extLst>
                    <a:ext uri="{9D8B030D-6E8A-4147-A177-3AD203B41FA5}">
                      <a16:colId xmlns:a16="http://schemas.microsoft.com/office/drawing/2014/main" val="708066414"/>
                    </a:ext>
                  </a:extLst>
                </a:gridCol>
                <a:gridCol w="2483310">
                  <a:extLst>
                    <a:ext uri="{9D8B030D-6E8A-4147-A177-3AD203B41FA5}">
                      <a16:colId xmlns:a16="http://schemas.microsoft.com/office/drawing/2014/main" val="41661819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1600" b="1" dirty="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 dirty="0"/>
                        <a:t>Agile 🏃‍♂️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 dirty="0"/>
                        <a:t>Waterfall ⏳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44707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600" b="1"/>
                        <a:t>Approach</a:t>
                      </a:r>
                      <a:endParaRPr lang="en-IN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Iterative &amp; incremental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Linear &amp; sequential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72574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600" b="1"/>
                        <a:t>Flexibility</a:t>
                      </a:r>
                      <a:endParaRPr lang="en-IN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High (can adapt)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Low (fixed plan)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22461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600" b="1"/>
                        <a:t>Customer Involvement</a:t>
                      </a:r>
                      <a:endParaRPr lang="en-IN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Continuous feedback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Mostly at the end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305783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600" b="1"/>
                        <a:t>Risk Management</a:t>
                      </a:r>
                      <a:endParaRPr lang="en-IN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Early detection &amp; mitigation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Risks found late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707624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600" b="1"/>
                        <a:t>Delivery</a:t>
                      </a:r>
                      <a:endParaRPr lang="en-IN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Frequent releases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One final delivery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79575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7FA57328-5D2B-1B52-5654-64AD83ACB018}"/>
              </a:ext>
            </a:extLst>
          </p:cNvPr>
          <p:cNvSpPr txBox="1"/>
          <p:nvPr/>
        </p:nvSpPr>
        <p:spPr>
          <a:xfrm>
            <a:off x="524106" y="1097270"/>
            <a:ext cx="660988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IN" sz="2000" b="1" dirty="0"/>
              <a:t>When to Use Agile?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✔ </a:t>
            </a: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Software Development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(e.g., apps, websites, AI solutions)</a:t>
            </a:r>
          </a:p>
          <a:p>
            <a:pPr>
              <a:spcAft>
                <a:spcPts val="600"/>
              </a:spcAft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✔ </a:t>
            </a: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Startups &amp; Innovation Projects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(fast-changing requirements)</a:t>
            </a:r>
          </a:p>
          <a:p>
            <a:pPr>
              <a:spcAft>
                <a:spcPts val="600"/>
              </a:spcAft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✔ </a:t>
            </a: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Complex &amp; Uncertain Projects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(where flexibility is key)</a:t>
            </a:r>
          </a:p>
          <a:p>
            <a:pPr>
              <a:spcAft>
                <a:spcPts val="600"/>
              </a:spcAft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✔ </a:t>
            </a: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Customer-Centric Workflows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(frequent feedback required)</a:t>
            </a:r>
          </a:p>
          <a:p>
            <a:pPr>
              <a:spcAft>
                <a:spcPts val="600"/>
              </a:spcAft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🚫 </a:t>
            </a: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Not Ideal For:</a:t>
            </a:r>
          </a:p>
          <a:p>
            <a:pPr>
              <a:spcAft>
                <a:spcPts val="600"/>
              </a:spcAft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❌ Fixed-scope, highly regulated industries (e.g., construction, healthcare compliance).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55183B-6CCA-CD65-0FCC-CA56AF0B6D4F}"/>
              </a:ext>
            </a:extLst>
          </p:cNvPr>
          <p:cNvSpPr txBox="1"/>
          <p:nvPr/>
        </p:nvSpPr>
        <p:spPr>
          <a:xfrm>
            <a:off x="6548034" y="1049994"/>
            <a:ext cx="5057107" cy="2723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IN" sz="2000" b="1" dirty="0"/>
              <a:t>Benefits of Agile </a:t>
            </a:r>
          </a:p>
          <a:p>
            <a:pPr>
              <a:spcAft>
                <a:spcPts val="600"/>
              </a:spcAft>
            </a:pPr>
            <a:r>
              <a:rPr lang="en-IN" b="1" dirty="0"/>
              <a:t>Faster Delivery</a:t>
            </a:r>
            <a:r>
              <a:rPr lang="en-IN" dirty="0"/>
              <a:t> – Delivers value in small increments.</a:t>
            </a:r>
          </a:p>
          <a:p>
            <a:pPr>
              <a:spcAft>
                <a:spcPts val="600"/>
              </a:spcAft>
            </a:pPr>
            <a:r>
              <a:rPr lang="en-IN" b="1" dirty="0"/>
              <a:t>Flexibility</a:t>
            </a:r>
            <a:r>
              <a:rPr lang="en-IN" dirty="0"/>
              <a:t> – Adapts to changes quickly.</a:t>
            </a:r>
          </a:p>
          <a:p>
            <a:pPr>
              <a:spcAft>
                <a:spcPts val="600"/>
              </a:spcAft>
            </a:pPr>
            <a:r>
              <a:rPr lang="en-IN" b="1" dirty="0"/>
              <a:t>Higher Quality</a:t>
            </a:r>
            <a:r>
              <a:rPr lang="en-IN" dirty="0"/>
              <a:t> – Frequent testing and feedback.</a:t>
            </a:r>
          </a:p>
          <a:p>
            <a:pPr>
              <a:spcAft>
                <a:spcPts val="600"/>
              </a:spcAft>
            </a:pPr>
            <a:r>
              <a:rPr lang="en-IN" b="1" dirty="0"/>
              <a:t>Customer Satisfaction</a:t>
            </a:r>
            <a:r>
              <a:rPr lang="en-IN" dirty="0"/>
              <a:t> – Continuous involvement and quick adjustments.</a:t>
            </a:r>
          </a:p>
          <a:p>
            <a:pPr>
              <a:spcAft>
                <a:spcPts val="600"/>
              </a:spcAft>
            </a:pPr>
            <a:r>
              <a:rPr lang="en-IN" b="1" dirty="0"/>
              <a:t>Better Risk Management</a:t>
            </a:r>
            <a:r>
              <a:rPr lang="en-IN" dirty="0"/>
              <a:t> – Issues are identified early.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3EF3C1-C849-9070-5955-C93CC60F4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46449-9627-49D8-A7BB-62F07B68A900}" type="slidenum">
              <a:rPr lang="en-IN" smtClean="0"/>
              <a:pPr/>
              <a:t>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8404849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24273-BEAC-BFA9-B479-9FB64CDD6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B88CE952-5D74-BD90-96E8-E7F71D981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IEMCS Internal | Agile Project Management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B66DBB-95F8-7A8D-CA75-B0FB63DAFA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1752" y="189329"/>
            <a:ext cx="1054596" cy="60148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6436DA4-5FA7-5259-A699-B6045D9D0D36}"/>
              </a:ext>
            </a:extLst>
          </p:cNvPr>
          <p:cNvSpPr txBox="1"/>
          <p:nvPr/>
        </p:nvSpPr>
        <p:spPr>
          <a:xfrm>
            <a:off x="263245" y="56044"/>
            <a:ext cx="76369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/>
              <a:t>AGILE PROJECT MANAGEMENT</a:t>
            </a:r>
            <a:endParaRPr lang="en-US" sz="4400" b="1" dirty="0"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0ED88E-E7D3-83D6-E8C9-1DDA6C9EE550}"/>
              </a:ext>
            </a:extLst>
          </p:cNvPr>
          <p:cNvSpPr txBox="1"/>
          <p:nvPr/>
        </p:nvSpPr>
        <p:spPr>
          <a:xfrm>
            <a:off x="263245" y="990600"/>
            <a:ext cx="8987118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IN" b="1" dirty="0"/>
              <a:t>Popular Agile Frameworks: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IN" b="1" dirty="0"/>
              <a:t>Scrum</a:t>
            </a:r>
            <a:r>
              <a:rPr lang="en-IN" dirty="0"/>
              <a:t> – Uses Sprints, Scrum Master, Product Owner, and development team.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IN" b="1" dirty="0"/>
              <a:t>Kanban</a:t>
            </a:r>
            <a:r>
              <a:rPr lang="en-IN" dirty="0"/>
              <a:t> – Uses a visual board to manage work-in-progress (WIP).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IN" b="1" dirty="0"/>
              <a:t>Lean</a:t>
            </a:r>
            <a:r>
              <a:rPr lang="en-IN" dirty="0"/>
              <a:t> – Focuses on reducing waste and maximizing value.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IN" b="1" dirty="0"/>
              <a:t>SAFe (Scaled Agile Framework)</a:t>
            </a:r>
            <a:r>
              <a:rPr lang="en-IN" dirty="0"/>
              <a:t> – Extends Agile for large enterprises.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17A32B-548E-39C9-D98B-17150C05C4F2}"/>
              </a:ext>
            </a:extLst>
          </p:cNvPr>
          <p:cNvSpPr txBox="1"/>
          <p:nvPr/>
        </p:nvSpPr>
        <p:spPr>
          <a:xfrm>
            <a:off x="315351" y="2940819"/>
            <a:ext cx="8935011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Key Principles of Agile</a:t>
            </a:r>
          </a:p>
          <a:p>
            <a:endParaRPr lang="en-IN" dirty="0"/>
          </a:p>
          <a:p>
            <a:r>
              <a:rPr lang="en-US" dirty="0"/>
              <a:t>Agile follows the </a:t>
            </a:r>
            <a:r>
              <a:rPr lang="en-US" b="1" dirty="0"/>
              <a:t>12 principles</a:t>
            </a:r>
            <a:r>
              <a:rPr lang="en-US" dirty="0"/>
              <a:t> from the </a:t>
            </a:r>
            <a:r>
              <a:rPr lang="en-US" b="1" dirty="0"/>
              <a:t>Agile Manifesto</a:t>
            </a:r>
            <a:r>
              <a:rPr lang="en-US" dirty="0"/>
              <a:t>, but here are the four core values:</a:t>
            </a:r>
          </a:p>
          <a:p>
            <a:endParaRPr lang="en-US" b="1" dirty="0"/>
          </a:p>
          <a:p>
            <a:pPr marL="342900" indent="-342900">
              <a:spcAft>
                <a:spcPts val="600"/>
              </a:spcAft>
              <a:buFont typeface="+mj-lt"/>
              <a:buAutoNum type="arabicParenR"/>
            </a:pPr>
            <a:r>
              <a:rPr lang="en-US" b="1" dirty="0"/>
              <a:t>Individuals and interactions</a:t>
            </a:r>
            <a:r>
              <a:rPr lang="en-US" dirty="0"/>
              <a:t> over processes and tools.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arenR"/>
            </a:pPr>
            <a:r>
              <a:rPr lang="en-US" b="1" dirty="0"/>
              <a:t>Working software</a:t>
            </a:r>
            <a:r>
              <a:rPr lang="en-US" dirty="0"/>
              <a:t> over comprehensive documentation.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arenR"/>
            </a:pPr>
            <a:r>
              <a:rPr lang="en-US" b="1" dirty="0"/>
              <a:t>Customer collaboration</a:t>
            </a:r>
            <a:r>
              <a:rPr lang="en-US" dirty="0"/>
              <a:t> over contract negotiation.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arenR"/>
            </a:pPr>
            <a:r>
              <a:rPr lang="en-US" b="1" dirty="0"/>
              <a:t>Responding to change</a:t>
            </a:r>
            <a:r>
              <a:rPr lang="en-US" dirty="0"/>
              <a:t> over a plan.</a:t>
            </a:r>
          </a:p>
          <a:p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AF017C2-FACA-1C66-5477-873156F48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46449-9627-49D8-A7BB-62F07B68A900}" type="slidenum">
              <a:rPr lang="en-IN" smtClean="0"/>
              <a:pPr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4887923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9217D-EE16-A03A-6051-EBB6498C6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F3C9B18F-AC0C-02A6-B89B-A423C1452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IEMCS Internal | Agile Project Management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321488-2E0E-2B0F-579B-5FE265582B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1752" y="189329"/>
            <a:ext cx="1054596" cy="60148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571A9DF-AE7F-7C5A-FB39-B20D477F5F7F}"/>
              </a:ext>
            </a:extLst>
          </p:cNvPr>
          <p:cNvSpPr txBox="1"/>
          <p:nvPr/>
        </p:nvSpPr>
        <p:spPr>
          <a:xfrm>
            <a:off x="263245" y="56044"/>
            <a:ext cx="76369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/>
              <a:t>AGILE PROJECT MANAGEMENT</a:t>
            </a:r>
            <a:endParaRPr lang="en-US" sz="4400" b="1" dirty="0"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1D2D31-E433-B44C-05A0-B773952E91EB}"/>
              </a:ext>
            </a:extLst>
          </p:cNvPr>
          <p:cNvSpPr txBox="1"/>
          <p:nvPr/>
        </p:nvSpPr>
        <p:spPr>
          <a:xfrm>
            <a:off x="288458" y="103251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How Agile Project Management Works?</a:t>
            </a:r>
            <a:endParaRPr lang="en-IN" sz="2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59D49A-17FD-CC98-8015-5B0C2CF40D5E}"/>
              </a:ext>
            </a:extLst>
          </p:cNvPr>
          <p:cNvSpPr txBox="1"/>
          <p:nvPr/>
        </p:nvSpPr>
        <p:spPr>
          <a:xfrm>
            <a:off x="385482" y="1798243"/>
            <a:ext cx="9161930" cy="40575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800"/>
              </a:spcAft>
              <a:buFont typeface="+mj-lt"/>
              <a:buAutoNum type="arabicPeriod"/>
            </a:pPr>
            <a:r>
              <a:rPr lang="en-US" b="1" dirty="0"/>
              <a:t>Iterative Development (Sprints) </a:t>
            </a:r>
          </a:p>
          <a:p>
            <a:pPr marL="742950" lvl="1" indent="-285750">
              <a:buBlip>
                <a:blip r:embed="rId3"/>
              </a:buBlip>
            </a:pPr>
            <a:r>
              <a:rPr lang="en-US" dirty="0"/>
              <a:t>Work is broken into </a:t>
            </a:r>
            <a:r>
              <a:rPr lang="en-US" b="1" dirty="0"/>
              <a:t>small, manageable cycles</a:t>
            </a:r>
            <a:r>
              <a:rPr lang="en-US" dirty="0"/>
              <a:t> called </a:t>
            </a:r>
            <a:r>
              <a:rPr lang="en-US" b="1" dirty="0"/>
              <a:t>Sprints</a:t>
            </a:r>
            <a:r>
              <a:rPr lang="en-US" dirty="0"/>
              <a:t> (1-4 weeks).</a:t>
            </a:r>
          </a:p>
          <a:p>
            <a:pPr marL="742950" lvl="1" indent="-285750">
              <a:buBlip>
                <a:blip r:embed="rId3"/>
              </a:buBlip>
            </a:pPr>
            <a:r>
              <a:rPr lang="en-US" dirty="0"/>
              <a:t>Teams develop, test, and deliver functional increments in each Sprint.</a:t>
            </a:r>
          </a:p>
          <a:p>
            <a:pPr marL="342900" indent="-342900">
              <a:spcBef>
                <a:spcPts val="600"/>
              </a:spcBef>
              <a:spcAft>
                <a:spcPts val="800"/>
              </a:spcAft>
              <a:buFont typeface="+mj-lt"/>
              <a:buAutoNum type="arabicPeriod"/>
            </a:pPr>
            <a:r>
              <a:rPr lang="en-US" b="1" dirty="0"/>
              <a:t>Continuous Feedback &amp; Adaptation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Regular meetings (</a:t>
            </a:r>
            <a:r>
              <a:rPr lang="en-US" b="1" dirty="0"/>
              <a:t>Daily Stand-ups, Sprint Reviews</a:t>
            </a:r>
            <a:r>
              <a:rPr lang="en-US" dirty="0"/>
              <a:t>) allow for quick adjustments.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Customer and stakeholder feedback is incorporated frequently.</a:t>
            </a:r>
          </a:p>
          <a:p>
            <a:pPr marL="342900" indent="-342900">
              <a:spcBef>
                <a:spcPts val="600"/>
              </a:spcBef>
              <a:spcAft>
                <a:spcPts val="800"/>
              </a:spcAft>
              <a:buFont typeface="+mj-lt"/>
              <a:buAutoNum type="arabicPeriod"/>
            </a:pPr>
            <a:r>
              <a:rPr lang="en-US" b="1" dirty="0"/>
              <a:t>Self-Organizing Teams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Teams are </a:t>
            </a:r>
            <a:r>
              <a:rPr lang="en-US" b="1" dirty="0"/>
              <a:t>cross-functional</a:t>
            </a:r>
            <a:r>
              <a:rPr lang="en-US" dirty="0"/>
              <a:t> (developers, testers, designers).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Members take ownership and make </a:t>
            </a:r>
            <a:r>
              <a:rPr lang="en-US" b="1" dirty="0"/>
              <a:t>collaborative decisions</a:t>
            </a:r>
            <a:r>
              <a:rPr lang="en-US" dirty="0"/>
              <a:t>.</a:t>
            </a:r>
          </a:p>
          <a:p>
            <a:pPr marL="342900" indent="-342900">
              <a:spcBef>
                <a:spcPts val="600"/>
              </a:spcBef>
              <a:spcAft>
                <a:spcPts val="800"/>
              </a:spcAft>
              <a:buFont typeface="+mj-lt"/>
              <a:buAutoNum type="arabicPeriod"/>
            </a:pPr>
            <a:r>
              <a:rPr lang="en-US" b="1" dirty="0"/>
              <a:t>Prioritization &amp; Backlog Management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Product Backlog</a:t>
            </a:r>
            <a:r>
              <a:rPr lang="en-US" dirty="0"/>
              <a:t> contains all feature requests.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Teams prioritize tasks based on business value.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D12A526-60F6-F28B-DFFB-A3D620DBB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46449-9627-49D8-A7BB-62F07B68A900}" type="slidenum">
              <a:rPr lang="en-IN" smtClean="0"/>
              <a:pPr/>
              <a:t>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5356161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6C481-3875-8B01-1830-109E0A7B2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CA998709-760F-DD10-7076-0A34FD4C4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IEMCS Internal | Agile Project Management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75EE4A-7C86-0E2C-4088-303421FAEE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1752" y="189329"/>
            <a:ext cx="1054596" cy="60148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41AE9FF-B2BD-D6B9-05F9-D94C855D68DD}"/>
              </a:ext>
            </a:extLst>
          </p:cNvPr>
          <p:cNvSpPr txBox="1"/>
          <p:nvPr/>
        </p:nvSpPr>
        <p:spPr>
          <a:xfrm>
            <a:off x="1876892" y="2207572"/>
            <a:ext cx="76369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/>
              <a:t>SCRUM FRAMEWORK</a:t>
            </a:r>
            <a:endParaRPr lang="en-US" sz="4400" b="1" dirty="0"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8E4103-3F6D-11A1-6029-EF6E1E0F3CF1}"/>
              </a:ext>
            </a:extLst>
          </p:cNvPr>
          <p:cNvSpPr txBox="1"/>
          <p:nvPr/>
        </p:nvSpPr>
        <p:spPr>
          <a:xfrm>
            <a:off x="2286000" y="3079848"/>
            <a:ext cx="734209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Scrum</a:t>
            </a:r>
            <a:r>
              <a:rPr lang="en-US" sz="2000" dirty="0"/>
              <a:t> is an </a:t>
            </a:r>
            <a:r>
              <a:rPr lang="en-US" sz="2000" b="1" dirty="0"/>
              <a:t>Agile framework</a:t>
            </a:r>
            <a:r>
              <a:rPr lang="en-US" sz="2000" dirty="0"/>
              <a:t> used for managing complex projects, especially in </a:t>
            </a:r>
            <a:r>
              <a:rPr lang="en-US" sz="2000" b="1" dirty="0"/>
              <a:t>software development</a:t>
            </a:r>
            <a:r>
              <a:rPr lang="en-US" sz="2000" dirty="0"/>
              <a:t>. It promotes </a:t>
            </a:r>
            <a:r>
              <a:rPr lang="en-US" sz="2000" b="1" dirty="0"/>
              <a:t>collaboration, flexibility, and iterative progress</a:t>
            </a:r>
            <a:r>
              <a:rPr lang="en-US" sz="2000" dirty="0"/>
              <a:t> to deliver high-quality products efficiently.</a:t>
            </a:r>
            <a:endParaRPr lang="en-IN" sz="2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AB93C72-32EB-7EA7-688F-DDB5A22EC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46449-9627-49D8-A7BB-62F07B68A900}" type="slidenum">
              <a:rPr lang="en-IN" smtClean="0"/>
              <a:pPr/>
              <a:t>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31028440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42D3D-4C15-9ADF-8C30-69C6F844C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811A119D-C623-89DF-885E-1E8E33F49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IEMCS Internal | Agile Project Management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A7485B-D340-6565-440A-47C367EC23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1752" y="189329"/>
            <a:ext cx="1054596" cy="60148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B0CE858-44E3-81EF-0EB3-5AF9976FE4AA}"/>
              </a:ext>
            </a:extLst>
          </p:cNvPr>
          <p:cNvSpPr txBox="1"/>
          <p:nvPr/>
        </p:nvSpPr>
        <p:spPr>
          <a:xfrm>
            <a:off x="733425" y="1212975"/>
            <a:ext cx="9136716" cy="2446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800" b="1" dirty="0"/>
              <a:t>Key Principles of Scrum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arenR"/>
            </a:pPr>
            <a:r>
              <a:rPr lang="en-US" sz="2000" b="1" dirty="0"/>
              <a:t>Empirical Process Control</a:t>
            </a:r>
            <a:r>
              <a:rPr lang="en-US" sz="2000" dirty="0"/>
              <a:t> – Decisions are based on observation, experience, and experimentation.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arenR"/>
            </a:pPr>
            <a:r>
              <a:rPr lang="en-US" sz="2000" b="1" dirty="0"/>
              <a:t>Transparency</a:t>
            </a:r>
            <a:r>
              <a:rPr lang="en-US" sz="2000" dirty="0"/>
              <a:t> – All aspects of the process must be visible to everyone involved.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arenR"/>
            </a:pPr>
            <a:r>
              <a:rPr lang="en-US" sz="2000" b="1" dirty="0"/>
              <a:t>Inspection</a:t>
            </a:r>
            <a:r>
              <a:rPr lang="en-US" sz="2000" dirty="0"/>
              <a:t> – Frequent reviews of progress help identify and address issues early.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arenR"/>
            </a:pPr>
            <a:r>
              <a:rPr lang="en-US" sz="2000" b="1" dirty="0"/>
              <a:t>Adaptation</a:t>
            </a:r>
            <a:r>
              <a:rPr lang="en-US" sz="2000" dirty="0"/>
              <a:t> – Plans are adjusted based on feedback and changing requirements.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B7233C-A671-D07F-8F18-A6461F792346}"/>
              </a:ext>
            </a:extLst>
          </p:cNvPr>
          <p:cNvSpPr txBox="1"/>
          <p:nvPr/>
        </p:nvSpPr>
        <p:spPr>
          <a:xfrm>
            <a:off x="493059" y="189329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800" b="1" dirty="0"/>
              <a:t>SCRUM FRAMEWORK</a:t>
            </a:r>
            <a:endParaRPr lang="en-US" sz="4800" b="1" dirty="0"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F06E6C6-3D6C-0C78-FD56-65460E944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46449-9627-49D8-A7BB-62F07B68A900}" type="slidenum">
              <a:rPr lang="en-IN" smtClean="0"/>
              <a:pPr/>
              <a:t>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125703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F61264-18BC-4834-3C26-845D7A3A2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IEMCS Internal | Agile Project Management</a:t>
            </a:r>
            <a:endParaRPr lang="en-IN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044CBBC-17A7-389D-8032-3D7790E10F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181" y="358588"/>
            <a:ext cx="9379866" cy="6085532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3765454-8739-E6A2-97B2-EC264830C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46449-9627-49D8-A7BB-62F07B68A900}" type="slidenum">
              <a:rPr lang="en-IN" smtClean="0"/>
              <a:pPr/>
              <a:t>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73194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411B2-FA25-F62D-005A-AB4BC33D8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8B6BA1A6-93A4-3F47-E9C6-1D82FAB14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IEMCS Internal | Agile Project Management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CB6087-FDBC-3E87-2C13-C7E67AC0CF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1752" y="189329"/>
            <a:ext cx="1054596" cy="60148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C1F80EB-81CB-6757-D952-EE8868270225}"/>
              </a:ext>
            </a:extLst>
          </p:cNvPr>
          <p:cNvSpPr txBox="1"/>
          <p:nvPr/>
        </p:nvSpPr>
        <p:spPr>
          <a:xfrm>
            <a:off x="654424" y="208329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800" b="1" dirty="0"/>
              <a:t>SCRUM ROLES</a:t>
            </a:r>
            <a:endParaRPr lang="en-US" sz="4800" b="1" dirty="0"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A0EA7B2-4214-3BB9-BFE1-E85DC2F5FE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4424" y="1134567"/>
            <a:ext cx="9412941" cy="38010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 Owner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742950" lvl="2" indent="-285750" fontAlgn="base">
              <a:spcBef>
                <a:spcPct val="0"/>
              </a:spcBef>
              <a:spcAft>
                <a:spcPct val="0"/>
              </a:spcAft>
              <a:buBlip>
                <a:blip r:embed="rId3"/>
              </a:buBlip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Defines product vision and manages the product backlog.</a:t>
            </a:r>
          </a:p>
          <a:p>
            <a:pPr marL="742950" lvl="2" indent="-285750" fontAlgn="base">
              <a:spcBef>
                <a:spcPct val="0"/>
              </a:spcBef>
              <a:spcAft>
                <a:spcPct val="0"/>
              </a:spcAft>
              <a:buBlip>
                <a:blip r:embed="rId3"/>
              </a:buBlip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Prioritizes features based on business value.</a:t>
            </a:r>
          </a:p>
          <a:p>
            <a:pPr marL="742950" lvl="2" indent="-285750" fontAlgn="base">
              <a:spcBef>
                <a:spcPct val="0"/>
              </a:spcBef>
              <a:spcAft>
                <a:spcPct val="0"/>
              </a:spcAft>
              <a:buBlip>
                <a:blip r:embed="rId3"/>
              </a:buBlip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Represents customer interests.</a:t>
            </a:r>
          </a:p>
          <a:p>
            <a:pPr marL="342900" indent="-342900" eaLnBrk="0" fontAlgn="base" hangingPunct="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altLang="en-US" b="1" dirty="0">
                <a:latin typeface="Arial" panose="020B0604020202020204" pitchFamily="34" charset="0"/>
              </a:rPr>
              <a:t>Scrum Master </a:t>
            </a:r>
          </a:p>
          <a:p>
            <a:pPr marL="742950" lvl="2" indent="-285750" fontAlgn="base">
              <a:spcBef>
                <a:spcPct val="0"/>
              </a:spcBef>
              <a:spcAft>
                <a:spcPct val="0"/>
              </a:spcAft>
              <a:buBlip>
                <a:blip r:embed="rId3"/>
              </a:buBlip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Facilitates Scrum processes and ensures adherence to Agile principles.</a:t>
            </a:r>
          </a:p>
          <a:p>
            <a:pPr marL="742950" lvl="2" indent="-285750" fontAlgn="base">
              <a:spcBef>
                <a:spcPct val="0"/>
              </a:spcBef>
              <a:spcAft>
                <a:spcPct val="0"/>
              </a:spcAft>
              <a:buBlip>
                <a:blip r:embed="rId3"/>
              </a:buBlip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Removes roadblocks and fosters collaboration.</a:t>
            </a:r>
          </a:p>
          <a:p>
            <a:pPr marL="742950" lvl="2" indent="-285750" fontAlgn="base">
              <a:spcBef>
                <a:spcPct val="0"/>
              </a:spcBef>
              <a:spcAft>
                <a:spcPct val="0"/>
              </a:spcAft>
              <a:buBlip>
                <a:blip r:embed="rId3"/>
              </a:buBlip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Acts as a coach for the Scrum team.</a:t>
            </a:r>
          </a:p>
          <a:p>
            <a:pPr marL="342900" marR="0" lvl="0" indent="-342900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b="1" dirty="0">
                <a:latin typeface="Arial" panose="020B0604020202020204" pitchFamily="34" charset="0"/>
              </a:rPr>
              <a:t>Development Team</a:t>
            </a:r>
          </a:p>
          <a:p>
            <a:pPr marL="742950" lvl="2" indent="-285750" fontAlgn="base">
              <a:spcBef>
                <a:spcPct val="0"/>
              </a:spcBef>
              <a:spcAft>
                <a:spcPct val="0"/>
              </a:spcAft>
              <a:buBlip>
                <a:blip r:embed="rId3"/>
              </a:buBlip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Self-organizing, cross-functional team that builds and delivers the product.</a:t>
            </a:r>
          </a:p>
          <a:p>
            <a:pPr marL="742950" lvl="2" indent="-285750" fontAlgn="base">
              <a:spcBef>
                <a:spcPct val="0"/>
              </a:spcBef>
              <a:spcAft>
                <a:spcPct val="0"/>
              </a:spcAft>
              <a:buBlip>
                <a:blip r:embed="rId3"/>
              </a:buBlip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Works in sprints to develop and improve the product incrementally.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AC20CC-5E03-1CBB-0195-5D5CF1E42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46449-9627-49D8-A7BB-62F07B68A900}" type="slidenum">
              <a:rPr lang="en-IN" smtClean="0"/>
              <a:pPr/>
              <a:t>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9236998"/>
      </p:ext>
    </p:extLst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6EC14-543C-84D5-454C-B20570E25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BA3D2C3-AA5A-E2AF-EB73-7D031305B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IEMCS Internal | Agile Project Management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1C84A2-CECC-46FF-4EC3-CDB9A1DC59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8081" y="208329"/>
            <a:ext cx="1054596" cy="60148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ED96BEC-0216-7DF3-20B3-375507088999}"/>
              </a:ext>
            </a:extLst>
          </p:cNvPr>
          <p:cNvSpPr txBox="1"/>
          <p:nvPr/>
        </p:nvSpPr>
        <p:spPr>
          <a:xfrm>
            <a:off x="654424" y="208329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800" b="1" dirty="0"/>
              <a:t>SCRUM WORKFLOW</a:t>
            </a:r>
            <a:endParaRPr lang="en-US" sz="4800" b="1" dirty="0"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572BF7-E6F4-081B-59BC-8EA15454E58A}"/>
              </a:ext>
            </a:extLst>
          </p:cNvPr>
          <p:cNvSpPr txBox="1"/>
          <p:nvPr/>
        </p:nvSpPr>
        <p:spPr>
          <a:xfrm>
            <a:off x="741111" y="1411105"/>
            <a:ext cx="8824230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/>
              <a:t>Scrum Workflow (How Scrum Works?)</a:t>
            </a:r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r>
              <a:rPr lang="en-US" sz="2000" b="1" dirty="0"/>
              <a:t>Product Owner creates &amp; maintains the Product Backlog</a:t>
            </a:r>
            <a:r>
              <a:rPr lang="en-US" sz="2000" dirty="0"/>
              <a:t>.</a:t>
            </a:r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r>
              <a:rPr lang="en-US" sz="2000" b="1" dirty="0"/>
              <a:t>Sprint Planning</a:t>
            </a:r>
            <a:r>
              <a:rPr lang="en-US" sz="2000" dirty="0"/>
              <a:t> – The team selects items from the backlog to work on.</a:t>
            </a:r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r>
              <a:rPr lang="en-US" sz="2000" b="1" dirty="0"/>
              <a:t>Development Team works in Sprints</a:t>
            </a:r>
            <a:r>
              <a:rPr lang="en-US" sz="2000" dirty="0"/>
              <a:t> – Daily Scrum meetings track progress.</a:t>
            </a:r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r>
              <a:rPr lang="en-US" sz="2000" b="1" dirty="0"/>
              <a:t>Sprint Review</a:t>
            </a:r>
            <a:r>
              <a:rPr lang="en-US" sz="2000" dirty="0"/>
              <a:t> – Work is demonstrated and feedback is gathered.</a:t>
            </a:r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r>
              <a:rPr lang="en-US" sz="2000" b="1" dirty="0"/>
              <a:t>Sprint Retrospective</a:t>
            </a:r>
            <a:r>
              <a:rPr lang="en-US" sz="2000" dirty="0"/>
              <a:t> – Team reflects on the sprint and improves processes.</a:t>
            </a:r>
          </a:p>
          <a:p>
            <a:pPr marL="457200" indent="-457200">
              <a:spcAft>
                <a:spcPts val="600"/>
              </a:spcAft>
              <a:buFont typeface="+mj-lt"/>
              <a:buAutoNum type="arabicPeriod"/>
            </a:pPr>
            <a:r>
              <a:rPr lang="en-US" sz="2000" b="1" dirty="0"/>
              <a:t>Repeat for the next Sprint</a:t>
            </a:r>
            <a:r>
              <a:rPr lang="en-US" sz="2000" dirty="0"/>
              <a:t>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2100B83-E988-7AA5-33A5-6E9AA2A1B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46449-9627-49D8-A7BB-62F07B68A900}" type="slidenum">
              <a:rPr lang="en-IN" smtClean="0"/>
              <a:pPr/>
              <a:t>10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660413"/>
      </p:ext>
    </p:extLst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25D61-74BE-02C3-0E8F-0B93702BB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CB12F0BA-FECC-1A1E-2F04-CA4C65D5C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IEMCS Internal | Agile Project Management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8A81D7-6AFA-25A6-E1B5-595912447F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1752" y="189329"/>
            <a:ext cx="1054596" cy="60148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3DDCEC8-60C8-291C-EBEF-34E3BEFB5959}"/>
              </a:ext>
            </a:extLst>
          </p:cNvPr>
          <p:cNvSpPr txBox="1"/>
          <p:nvPr/>
        </p:nvSpPr>
        <p:spPr>
          <a:xfrm>
            <a:off x="654423" y="208329"/>
            <a:ext cx="999564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/>
              <a:t>WHAT IS REFINEMENT IN SCRUM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AAEE74-E6C1-20A8-2D09-B756739E7B8D}"/>
              </a:ext>
            </a:extLst>
          </p:cNvPr>
          <p:cNvSpPr txBox="1"/>
          <p:nvPr/>
        </p:nvSpPr>
        <p:spPr>
          <a:xfrm>
            <a:off x="741110" y="1059665"/>
            <a:ext cx="990895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 </a:t>
            </a:r>
            <a:r>
              <a:rPr lang="en-US" b="1" dirty="0"/>
              <a:t>Scrum</a:t>
            </a:r>
            <a:r>
              <a:rPr lang="en-US" dirty="0"/>
              <a:t>, </a:t>
            </a:r>
            <a:r>
              <a:rPr lang="en-US" b="1" dirty="0"/>
              <a:t>Refinement</a:t>
            </a:r>
            <a:r>
              <a:rPr lang="en-US" dirty="0"/>
              <a:t> (previously known as "Backlog Grooming") is the </a:t>
            </a:r>
            <a:r>
              <a:rPr lang="en-US" b="1" dirty="0"/>
              <a:t>ongoing process</a:t>
            </a:r>
            <a:r>
              <a:rPr lang="en-US" dirty="0"/>
              <a:t> of reviewing, clarifying, and improving the </a:t>
            </a:r>
            <a:r>
              <a:rPr lang="en-US" b="1" dirty="0"/>
              <a:t>Product Backlog</a:t>
            </a:r>
            <a:r>
              <a:rPr lang="en-US" dirty="0"/>
              <a:t> to ensure that it is ready for future Sprints.</a:t>
            </a:r>
          </a:p>
          <a:p>
            <a:r>
              <a:rPr lang="en-US" dirty="0"/>
              <a:t>This process helps the Scrum Team </a:t>
            </a:r>
            <a:r>
              <a:rPr lang="en-US" b="1" dirty="0"/>
              <a:t>prioritize, estimate, and break down complex requirements</a:t>
            </a:r>
            <a:r>
              <a:rPr lang="en-US" dirty="0"/>
              <a:t> into well-defined </a:t>
            </a:r>
            <a:r>
              <a:rPr lang="en-US" b="1" dirty="0"/>
              <a:t>User Stories</a:t>
            </a:r>
            <a:r>
              <a:rPr lang="en-US" dirty="0"/>
              <a:t> that can be completed within a Sprint.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369083-4F61-B640-A2BB-A7707CAE49D0}"/>
              </a:ext>
            </a:extLst>
          </p:cNvPr>
          <p:cNvSpPr txBox="1"/>
          <p:nvPr/>
        </p:nvSpPr>
        <p:spPr>
          <a:xfrm>
            <a:off x="741110" y="2414808"/>
            <a:ext cx="8483572" cy="4001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1600" b="1" dirty="0"/>
              <a:t>How Does Refinement Work?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arenR"/>
            </a:pPr>
            <a:r>
              <a:rPr lang="en-US" sz="1600" b="1" dirty="0"/>
              <a:t>Who is Involved?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Product Owner (PO)</a:t>
            </a:r>
            <a:r>
              <a:rPr lang="en-US" sz="1600" dirty="0"/>
              <a:t> – Ensures backlog items align with business priorities.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Development Team</a:t>
            </a:r>
            <a:r>
              <a:rPr lang="en-US" sz="1600" dirty="0"/>
              <a:t> – Clarifies technical feasibility, dependencies, and effort.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Scrum Master</a:t>
            </a:r>
            <a:r>
              <a:rPr lang="en-US" sz="1600" dirty="0"/>
              <a:t> – Facilitates the process and ensures the backlog is well-structured.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arenR"/>
            </a:pPr>
            <a:r>
              <a:rPr lang="en-US" sz="1600" b="1" dirty="0"/>
              <a:t>When Does Refinement Happen?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Ongoing Process</a:t>
            </a:r>
            <a:r>
              <a:rPr lang="en-US" sz="1600" dirty="0"/>
              <a:t> – Refinement is </a:t>
            </a:r>
            <a:r>
              <a:rPr lang="en-US" sz="1600" b="1" dirty="0"/>
              <a:t>not a Scrum Event</a:t>
            </a:r>
            <a:r>
              <a:rPr lang="en-US" sz="1600" dirty="0"/>
              <a:t> but happens continuously.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Backlog Refinement Meeting</a:t>
            </a:r>
            <a:r>
              <a:rPr lang="en-US" sz="1600" dirty="0"/>
              <a:t> – Often held </a:t>
            </a:r>
            <a:r>
              <a:rPr lang="en-US" sz="1600" b="1" dirty="0"/>
              <a:t>mid-Sprint</a:t>
            </a:r>
            <a:r>
              <a:rPr lang="en-US" sz="1600" dirty="0"/>
              <a:t> (typically 1–2 sessions per Sprint).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arenR"/>
            </a:pPr>
            <a:r>
              <a:rPr lang="en-US" sz="1600" b="1" dirty="0"/>
              <a:t>What Happens During Refinement?</a:t>
            </a:r>
          </a:p>
          <a:p>
            <a:pPr lvl="1"/>
            <a:r>
              <a:rPr lang="en-US" sz="1600" dirty="0"/>
              <a:t>✔ </a:t>
            </a:r>
            <a:r>
              <a:rPr lang="en-US" sz="1600" b="1" dirty="0"/>
              <a:t>Clarify Requirements</a:t>
            </a:r>
            <a:r>
              <a:rPr lang="en-US" sz="1600" dirty="0"/>
              <a:t> – PO explains backlog items; team asks questions.</a:t>
            </a:r>
            <a:br>
              <a:rPr lang="en-US" sz="1600" dirty="0"/>
            </a:br>
            <a:r>
              <a:rPr lang="en-US" sz="1600" dirty="0"/>
              <a:t>✔ </a:t>
            </a:r>
            <a:r>
              <a:rPr lang="en-US" sz="1600" b="1" dirty="0"/>
              <a:t>Prioritize Items</a:t>
            </a:r>
            <a:r>
              <a:rPr lang="en-US" sz="1600" dirty="0"/>
              <a:t> – High-value work is moved up in the backlog.</a:t>
            </a:r>
            <a:br>
              <a:rPr lang="en-US" sz="1600" dirty="0"/>
            </a:br>
            <a:r>
              <a:rPr lang="en-US" sz="1600" dirty="0"/>
              <a:t>✔ </a:t>
            </a:r>
            <a:r>
              <a:rPr lang="en-US" sz="1600" b="1" dirty="0"/>
              <a:t>Break Down Epics</a:t>
            </a:r>
            <a:r>
              <a:rPr lang="en-US" sz="1600" dirty="0"/>
              <a:t> – Large Epics are split into smaller User Stories.</a:t>
            </a:r>
            <a:br>
              <a:rPr lang="en-US" sz="1600" dirty="0"/>
            </a:br>
            <a:r>
              <a:rPr lang="en-US" sz="1600" dirty="0"/>
              <a:t>✔ </a:t>
            </a:r>
            <a:r>
              <a:rPr lang="en-US" sz="1600" b="1" dirty="0"/>
              <a:t>Add Acceptance Criteria</a:t>
            </a:r>
            <a:r>
              <a:rPr lang="en-US" sz="1600" dirty="0"/>
              <a:t> – Define what makes a story </a:t>
            </a:r>
            <a:r>
              <a:rPr lang="en-US" sz="1600" b="1" dirty="0"/>
              <a:t>“done.”</a:t>
            </a:r>
            <a:br>
              <a:rPr lang="en-US" sz="1600" dirty="0"/>
            </a:br>
            <a:r>
              <a:rPr lang="en-US" sz="1600" dirty="0"/>
              <a:t>✔ </a:t>
            </a:r>
            <a:r>
              <a:rPr lang="en-US" sz="1600" b="1" dirty="0"/>
              <a:t>Estimate Story Points</a:t>
            </a:r>
            <a:r>
              <a:rPr lang="en-US" sz="1600" dirty="0"/>
              <a:t> – The team assigns </a:t>
            </a:r>
            <a:r>
              <a:rPr lang="en-US" sz="1600" b="1" dirty="0"/>
              <a:t>Fibonacci numbers</a:t>
            </a:r>
            <a:r>
              <a:rPr lang="en-US" sz="1600" dirty="0"/>
              <a:t> for effort estimation.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7FBEBA-26CD-A760-7A43-F411A4C86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46449-9627-49D8-A7BB-62F07B68A900}" type="slidenum">
              <a:rPr lang="en-IN" smtClean="0"/>
              <a:pPr/>
              <a:t>11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30693579"/>
      </p:ext>
    </p:extLst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3E1837-C596-9512-BAAB-87283CA97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IEMCS Internal | Agile Project Management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4E59BF7-5172-92E3-C1A6-BDA01877F7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53" y="1671568"/>
            <a:ext cx="8182502" cy="325274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6A6D13F-0C10-0436-6DEB-D3AAD985A5B6}"/>
              </a:ext>
            </a:extLst>
          </p:cNvPr>
          <p:cNvSpPr txBox="1"/>
          <p:nvPr/>
        </p:nvSpPr>
        <p:spPr>
          <a:xfrm>
            <a:off x="1001836" y="5067941"/>
            <a:ext cx="1018832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1️⃣ </a:t>
            </a:r>
            <a:r>
              <a:rPr lang="en-IN" sz="2000" b="1" dirty="0"/>
              <a:t>Theme</a:t>
            </a:r>
            <a:r>
              <a:rPr lang="en-IN" sz="2000" dirty="0"/>
              <a:t> → A broad business objective (e.g., "Improve User Security").</a:t>
            </a:r>
            <a:br>
              <a:rPr lang="en-IN" sz="2000" dirty="0"/>
            </a:br>
            <a:r>
              <a:rPr lang="en-IN" sz="2000" dirty="0"/>
              <a:t>2️⃣ </a:t>
            </a:r>
            <a:r>
              <a:rPr lang="en-IN" sz="2000" b="1" dirty="0"/>
              <a:t>Epic</a:t>
            </a:r>
            <a:r>
              <a:rPr lang="en-IN" sz="2000" dirty="0"/>
              <a:t> → A major feature related to the theme (e.g., "Implement User Authentication").</a:t>
            </a:r>
            <a:br>
              <a:rPr lang="en-IN" sz="2000" dirty="0"/>
            </a:br>
            <a:r>
              <a:rPr lang="en-IN" sz="2000" dirty="0"/>
              <a:t>3️⃣ </a:t>
            </a:r>
            <a:r>
              <a:rPr lang="en-IN" sz="2000" b="1" dirty="0"/>
              <a:t>User Stories</a:t>
            </a:r>
            <a:r>
              <a:rPr lang="en-IN" sz="2000" dirty="0"/>
              <a:t> → Specific functionalities under the Epic (e.g., "User Login", "Password Reset").</a:t>
            </a:r>
            <a:br>
              <a:rPr lang="en-IN" sz="2000" dirty="0"/>
            </a:br>
            <a:r>
              <a:rPr lang="en-IN" sz="2000" dirty="0"/>
              <a:t>4️⃣ </a:t>
            </a:r>
            <a:r>
              <a:rPr lang="en-IN" sz="2000" b="1" dirty="0"/>
              <a:t>Tasks</a:t>
            </a:r>
            <a:r>
              <a:rPr lang="en-IN" sz="2000" dirty="0"/>
              <a:t> → Individual development and testing efforts.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D167E8-5290-E56F-3854-6A77F9BED2AB}"/>
              </a:ext>
            </a:extLst>
          </p:cNvPr>
          <p:cNvSpPr txBox="1"/>
          <p:nvPr/>
        </p:nvSpPr>
        <p:spPr>
          <a:xfrm>
            <a:off x="573741" y="27835"/>
            <a:ext cx="999564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/>
              <a:t>SCRUM EVENTS </a:t>
            </a:r>
          </a:p>
          <a:p>
            <a:r>
              <a:rPr lang="en-US" sz="2400" dirty="0"/>
              <a:t>(The Process of Scrum)</a:t>
            </a:r>
            <a:endParaRPr lang="en-US" sz="2400" b="1" dirty="0"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6934E60-E099-2680-60C7-FEBD28354B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8081" y="208329"/>
            <a:ext cx="1054596" cy="60148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49B7B13-1324-82D8-5474-D372D46C813C}"/>
              </a:ext>
            </a:extLst>
          </p:cNvPr>
          <p:cNvSpPr txBox="1"/>
          <p:nvPr/>
        </p:nvSpPr>
        <p:spPr>
          <a:xfrm>
            <a:off x="8918399" y="2254111"/>
            <a:ext cx="3301978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/>
              <a:t>🚀 Why Use Themes in Agile?</a:t>
            </a:r>
          </a:p>
          <a:p>
            <a:r>
              <a:rPr lang="en-IN" sz="1400" dirty="0"/>
              <a:t>✅ </a:t>
            </a:r>
            <a:r>
              <a:rPr lang="en-IN" sz="1400" b="1" dirty="0"/>
              <a:t>Aligns work with business goals</a:t>
            </a:r>
            <a:r>
              <a:rPr lang="en-IN" sz="1400" dirty="0"/>
              <a:t> 🎯</a:t>
            </a:r>
            <a:br>
              <a:rPr lang="en-IN" sz="1400" dirty="0"/>
            </a:br>
            <a:r>
              <a:rPr lang="en-IN" sz="1400" dirty="0"/>
              <a:t>✅ </a:t>
            </a:r>
            <a:r>
              <a:rPr lang="en-IN" sz="1400" b="1" dirty="0"/>
              <a:t>Improves prioritization &amp; focus</a:t>
            </a:r>
            <a:r>
              <a:rPr lang="en-IN" sz="1400" dirty="0"/>
              <a:t> 🔍</a:t>
            </a:r>
            <a:br>
              <a:rPr lang="en-IN" sz="1400" dirty="0"/>
            </a:br>
            <a:r>
              <a:rPr lang="en-IN" sz="1400" dirty="0"/>
              <a:t>✅ </a:t>
            </a:r>
            <a:r>
              <a:rPr lang="en-IN" sz="1400" b="1" dirty="0"/>
              <a:t>Provides visibility to stakeholders</a:t>
            </a:r>
            <a:r>
              <a:rPr lang="en-IN" sz="1400" dirty="0"/>
              <a:t> 📊</a:t>
            </a:r>
            <a:br>
              <a:rPr lang="en-IN" sz="1400" dirty="0"/>
            </a:br>
            <a:r>
              <a:rPr lang="en-IN" sz="1400" dirty="0"/>
              <a:t>✅ </a:t>
            </a:r>
            <a:r>
              <a:rPr lang="en-IN" sz="1400" b="1" dirty="0"/>
              <a:t>Helps in roadmap planning</a:t>
            </a:r>
            <a:r>
              <a:rPr lang="en-IN" sz="1400" dirty="0"/>
              <a:t> 🛤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C5104FC-A4B1-2C19-4727-2EDE058E8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46449-9627-49D8-A7BB-62F07B68A900}" type="slidenum">
              <a:rPr lang="en-IN" smtClean="0"/>
              <a:pPr/>
              <a:t>12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33493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8F2BE-6994-5DFA-1A78-E6A13D334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0AD58342-7734-6E99-82BC-92E103AA3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IEMCS Internal | Agile Project Management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F9DFA3-6D7E-1D73-2023-5F5E75A37C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1752" y="189329"/>
            <a:ext cx="1054596" cy="60148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26F356D-D2BD-163A-797D-67740B26B439}"/>
              </a:ext>
            </a:extLst>
          </p:cNvPr>
          <p:cNvSpPr txBox="1"/>
          <p:nvPr/>
        </p:nvSpPr>
        <p:spPr>
          <a:xfrm>
            <a:off x="654423" y="208329"/>
            <a:ext cx="999564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/>
              <a:t>WHAT IS AN EPIC IN AGILE?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E04F4B-2687-9D2A-BABD-6AB2FBE9E9D9}"/>
              </a:ext>
            </a:extLst>
          </p:cNvPr>
          <p:cNvSpPr txBox="1"/>
          <p:nvPr/>
        </p:nvSpPr>
        <p:spPr>
          <a:xfrm>
            <a:off x="741111" y="1039326"/>
            <a:ext cx="979241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An </a:t>
            </a:r>
            <a:r>
              <a:rPr lang="en-US" b="1" dirty="0"/>
              <a:t>Epic</a:t>
            </a:r>
            <a:r>
              <a:rPr lang="en-US" dirty="0"/>
              <a:t> is a </a:t>
            </a:r>
            <a:r>
              <a:rPr lang="en-US" b="1" dirty="0"/>
              <a:t>large user story</a:t>
            </a:r>
            <a:r>
              <a:rPr lang="en-US" dirty="0"/>
              <a:t> in Agile project management that cannot be completed in a single iteration (Sprint). It represents a </a:t>
            </a:r>
            <a:r>
              <a:rPr lang="en-US" b="1" dirty="0"/>
              <a:t>high-level requirement</a:t>
            </a:r>
            <a:r>
              <a:rPr lang="en-US" dirty="0"/>
              <a:t> or </a:t>
            </a:r>
            <a:r>
              <a:rPr lang="en-US" b="1" dirty="0"/>
              <a:t>feature</a:t>
            </a:r>
            <a:r>
              <a:rPr lang="en-US" dirty="0"/>
              <a:t> that is later broken down into smaller, more manageable </a:t>
            </a:r>
            <a:r>
              <a:rPr lang="en-US" b="1" dirty="0"/>
              <a:t>User Stories</a:t>
            </a:r>
            <a:r>
              <a:rPr lang="en-US" dirty="0"/>
              <a:t>.</a:t>
            </a:r>
          </a:p>
          <a:p>
            <a:r>
              <a:rPr lang="en-US" b="1" dirty="0"/>
              <a:t>Think of it like a book:</a:t>
            </a:r>
            <a:br>
              <a:rPr lang="en-US" dirty="0"/>
            </a:br>
            <a:r>
              <a:rPr lang="en-US" b="1" dirty="0"/>
              <a:t>Epic</a:t>
            </a:r>
            <a:r>
              <a:rPr lang="en-US" dirty="0"/>
              <a:t> → A whole book (large functionality).</a:t>
            </a:r>
            <a:br>
              <a:rPr lang="en-US" dirty="0"/>
            </a:br>
            <a:r>
              <a:rPr lang="en-US" b="1" dirty="0"/>
              <a:t>User Stories</a:t>
            </a:r>
            <a:r>
              <a:rPr lang="en-US" dirty="0"/>
              <a:t> → Individual chapters (smaller tasks that contribute to the epic).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5326B6-36C5-6656-09C8-1871CB3FAFE8}"/>
              </a:ext>
            </a:extLst>
          </p:cNvPr>
          <p:cNvSpPr txBox="1"/>
          <p:nvPr/>
        </p:nvSpPr>
        <p:spPr>
          <a:xfrm>
            <a:off x="741111" y="2847513"/>
            <a:ext cx="6729515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b="1" dirty="0"/>
              <a:t>Key Characteristics of an Epic</a:t>
            </a:r>
          </a:p>
          <a:p>
            <a:r>
              <a:rPr lang="en-US" b="1" dirty="0"/>
              <a:t>High-Level Requirement</a:t>
            </a:r>
            <a:r>
              <a:rPr lang="en-US" dirty="0"/>
              <a:t> – Represents a major feature or functionality.</a:t>
            </a:r>
            <a:br>
              <a:rPr lang="en-US" dirty="0"/>
            </a:br>
            <a:r>
              <a:rPr lang="en-US" b="1" dirty="0"/>
              <a:t>Too Large for One Sprint</a:t>
            </a:r>
            <a:r>
              <a:rPr lang="en-US" dirty="0"/>
              <a:t> – Needs to be broken into User Stories.</a:t>
            </a:r>
            <a:br>
              <a:rPr lang="en-US" dirty="0"/>
            </a:br>
            <a:r>
              <a:rPr lang="en-US" b="1" dirty="0"/>
              <a:t>Flexible &amp; Evolving</a:t>
            </a:r>
            <a:r>
              <a:rPr lang="en-US" dirty="0"/>
              <a:t> – Can change based on feedback and priority.</a:t>
            </a:r>
            <a:br>
              <a:rPr lang="en-US" dirty="0"/>
            </a:br>
            <a:r>
              <a:rPr lang="en-US" b="1" dirty="0"/>
              <a:t>Tied to Business Goals</a:t>
            </a:r>
            <a:r>
              <a:rPr lang="en-US" dirty="0"/>
              <a:t> – Directly contributes to the product vision.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C5FF8B-3153-BC3C-C374-CDBE1BD262A6}"/>
              </a:ext>
            </a:extLst>
          </p:cNvPr>
          <p:cNvSpPr txBox="1"/>
          <p:nvPr/>
        </p:nvSpPr>
        <p:spPr>
          <a:xfrm>
            <a:off x="773990" y="4646216"/>
            <a:ext cx="9876080" cy="184665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b="1" dirty="0"/>
              <a:t>Example of an Epic</a:t>
            </a:r>
          </a:p>
          <a:p>
            <a:r>
              <a:rPr lang="en-US" sz="1600" b="1" dirty="0"/>
              <a:t>Epic:</a:t>
            </a:r>
            <a:r>
              <a:rPr lang="en-US" sz="1600" dirty="0"/>
              <a:t> "Implement a User Authentication System"</a:t>
            </a:r>
            <a:br>
              <a:rPr lang="en-US" sz="1600" dirty="0"/>
            </a:br>
            <a:r>
              <a:rPr lang="en-US" sz="1600" b="1" dirty="0"/>
              <a:t>User Stories within the Epic: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"As a user, I want to sign up using my email and password."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"As a user, I want to reset my password if I forget it."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"As an admin, I want to monitor login attempts for security."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Each </a:t>
            </a:r>
            <a:r>
              <a:rPr lang="en-US" sz="1600" b="1" dirty="0"/>
              <a:t>User Story</a:t>
            </a:r>
            <a:r>
              <a:rPr lang="en-US" sz="1600" dirty="0"/>
              <a:t> is small enough to be completed in a single </a:t>
            </a:r>
            <a:r>
              <a:rPr lang="en-US" sz="1600" b="1" dirty="0"/>
              <a:t>Sprint</a:t>
            </a:r>
            <a:r>
              <a:rPr lang="en-US" sz="1600" dirty="0"/>
              <a:t>, while the </a:t>
            </a:r>
            <a:r>
              <a:rPr lang="en-US" sz="1600" b="1" dirty="0"/>
              <a:t>Epic</a:t>
            </a:r>
            <a:r>
              <a:rPr lang="en-US" sz="1600" dirty="0"/>
              <a:t> represents the bigger picture.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C144695-D29E-610D-6771-6EF4856D7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46449-9627-49D8-A7BB-62F07B68A900}" type="slidenum">
              <a:rPr lang="en-IN" smtClean="0"/>
              <a:pPr/>
              <a:t>13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092633"/>
      </p:ext>
    </p:extLst>
  </p:cSld>
  <p:clrMapOvr>
    <a:masterClrMapping/>
  </p:clrMapOvr>
  <p:transition spd="slow"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31C06-7FFE-9158-D6CC-80F2AA492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1C0ED8CB-82D1-327A-4DF2-50B51ADB0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IEMCS Internal | Agile Project Management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38096A-9563-F549-3CD7-A83F0C1DBB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1752" y="189329"/>
            <a:ext cx="1054596" cy="60148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1363265-CBD0-4A6D-81B3-B0A487B3C665}"/>
              </a:ext>
            </a:extLst>
          </p:cNvPr>
          <p:cNvSpPr txBox="1"/>
          <p:nvPr/>
        </p:nvSpPr>
        <p:spPr>
          <a:xfrm>
            <a:off x="654423" y="208329"/>
            <a:ext cx="999564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/>
              <a:t>SCRUM EVENTS </a:t>
            </a:r>
          </a:p>
          <a:p>
            <a:r>
              <a:rPr lang="en-US" sz="2400" dirty="0"/>
              <a:t>(The Process of Scrum)</a:t>
            </a:r>
            <a:endParaRPr lang="en-US" sz="2400" b="1" dirty="0"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8B28B35-3C2E-7E99-A5ED-0ED8E35E34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4423" y="1610069"/>
            <a:ext cx="5988424" cy="4355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Sprint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(Time-boxed iteration) 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fixed period (usually 2-4 weeks) where the team works on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Sprint Goal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 the end of the sprint,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working product increment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delivered.</a:t>
            </a:r>
          </a:p>
          <a:p>
            <a:pPr marL="342900" indent="-342900" eaLnBrk="0" fontAlgn="base" hangingPunct="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altLang="en-US" b="1" dirty="0">
                <a:latin typeface="Arial" panose="020B0604020202020204" pitchFamily="34" charset="0"/>
              </a:rPr>
              <a:t>Sprint Planning 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Held at the beginning of each sprint.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Team selects backlog items and defines tasks.</a:t>
            </a:r>
          </a:p>
          <a:p>
            <a:pPr marL="342900" marR="0" lvl="0" indent="-342900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Daily </a:t>
            </a:r>
            <a:r>
              <a:rPr lang="en-US" altLang="en-US" b="1" dirty="0">
                <a:latin typeface="Arial" panose="020B0604020202020204" pitchFamily="34" charset="0"/>
              </a:rPr>
              <a:t>Scrum (Stand-up Meeting) 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15-minute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meeting where the team discusses:</a:t>
            </a:r>
          </a:p>
          <a:p>
            <a:pPr marL="1200150" lvl="2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was done yesterday?</a:t>
            </a:r>
          </a:p>
          <a:p>
            <a:pPr marL="1200150" lvl="2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will be done today?</a:t>
            </a:r>
          </a:p>
          <a:p>
            <a:pPr marL="1200150" lvl="2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Any blockers?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C4EF263-8317-B7FD-4704-6488EFE2D5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2848" y="1494653"/>
            <a:ext cx="5414682" cy="30931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+mj-lt"/>
              <a:buAutoNum type="arabicPeriod" startAt="4"/>
              <a:tabLst/>
            </a:pPr>
            <a:r>
              <a:rPr lang="en-US" altLang="en-US" b="1" dirty="0">
                <a:latin typeface="Arial" panose="020B0604020202020204" pitchFamily="34" charset="0"/>
              </a:rPr>
              <a:t>Sprint Review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Held at the end of the sprint to showcase completed work.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Stakeholders provide feedback.</a:t>
            </a:r>
          </a:p>
          <a:p>
            <a:pPr marL="342900" indent="-342900" eaLnBrk="0" fontAlgn="base" hangingPunct="0">
              <a:spcBef>
                <a:spcPts val="600"/>
              </a:spcBef>
              <a:spcAft>
                <a:spcPts val="600"/>
              </a:spcAft>
              <a:buFont typeface="+mj-lt"/>
              <a:buAutoNum type="arabicPeriod" startAt="4"/>
            </a:pPr>
            <a:r>
              <a:rPr lang="en-US" altLang="en-US" b="1" dirty="0">
                <a:latin typeface="Arial" panose="020B0604020202020204" pitchFamily="34" charset="0"/>
              </a:rPr>
              <a:t>Sprint Retrospective 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session for the team to reflect on the sprint and identify improvements.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Focuses on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went well, what went wrong, and what can be improved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BB3875-2965-4F1B-D60A-D69547252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46449-9627-49D8-A7BB-62F07B68A900}" type="slidenum">
              <a:rPr lang="en-IN" smtClean="0"/>
              <a:pPr/>
              <a:t>14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7183511"/>
      </p:ext>
    </p:extLst>
  </p:cSld>
  <p:clrMapOvr>
    <a:masterClrMapping/>
  </p:clrMapOvr>
  <p:transition spd="slow"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3C85F-3115-E532-2BAE-5CC588200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D10D869B-324D-98C2-8D30-3591C131A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IEMCS Internal | Agile Project Management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9D01C8-A5F1-2584-0886-12CE4B7070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1752" y="189329"/>
            <a:ext cx="1054596" cy="60148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4B76176-0790-8ECF-D366-7B3CFAECF53D}"/>
              </a:ext>
            </a:extLst>
          </p:cNvPr>
          <p:cNvSpPr txBox="1"/>
          <p:nvPr/>
        </p:nvSpPr>
        <p:spPr>
          <a:xfrm>
            <a:off x="546848" y="74573"/>
            <a:ext cx="930536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/>
              <a:t>SCRUM ARTIFACTS </a:t>
            </a:r>
            <a:r>
              <a:rPr lang="en-US" sz="2800" dirty="0"/>
              <a:t>(Key Components of Scrum)</a:t>
            </a:r>
            <a:endParaRPr lang="en-US" sz="3200" b="1" dirty="0"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C55EE59-40E2-413B-BB27-2D56BAC1CD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848" y="1035392"/>
            <a:ext cx="8779407" cy="3247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 Backlog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prioritized list of all features, enhancements, and fixes.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Managed by 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 Owner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342900" indent="-342900" eaLnBrk="0" fontAlgn="base" hangingPunct="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altLang="en-US" b="1" dirty="0">
                <a:latin typeface="Arial" panose="020B0604020202020204" pitchFamily="34" charset="0"/>
              </a:rPr>
              <a:t>Sprint Backlog 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subset of 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 Backlog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selected for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Sprint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(typically 2–4 weeks).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Created during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Sprint Planning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342900" marR="0" lvl="0" indent="-342900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b="1" dirty="0">
                <a:latin typeface="Arial" panose="020B0604020202020204" pitchFamily="34" charset="0"/>
              </a:rPr>
              <a:t>Increment 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sum of all completed work that meets 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Definition of Done</a:t>
            </a:r>
            <a:r>
              <a:rPr lang="en-US" altLang="en-US" dirty="0">
                <a:latin typeface="Arial" panose="020B0604020202020204" pitchFamily="34" charset="0"/>
              </a:rPr>
              <a:t> (DoD)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potentially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shippable product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after each sprint.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06CA32-A2E2-C76B-AAFF-92E871F74453}"/>
              </a:ext>
            </a:extLst>
          </p:cNvPr>
          <p:cNvSpPr txBox="1"/>
          <p:nvPr/>
        </p:nvSpPr>
        <p:spPr>
          <a:xfrm>
            <a:off x="546848" y="4282435"/>
            <a:ext cx="5728446" cy="206210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2000" b="1" dirty="0"/>
              <a:t>Characteristics of an Increment</a:t>
            </a:r>
          </a:p>
          <a:p>
            <a:r>
              <a:rPr lang="en-US" b="1" dirty="0"/>
              <a:t>Must be usable</a:t>
            </a:r>
            <a:r>
              <a:rPr lang="en-US" dirty="0"/>
              <a:t> – Even if not released, it should be functional.</a:t>
            </a:r>
            <a:br>
              <a:rPr lang="en-US" dirty="0"/>
            </a:br>
            <a:r>
              <a:rPr lang="en-US" b="1" dirty="0"/>
              <a:t>Includes previous increments</a:t>
            </a:r>
            <a:r>
              <a:rPr lang="en-US" dirty="0"/>
              <a:t> – Always builds on top of prior work.</a:t>
            </a:r>
            <a:br>
              <a:rPr lang="en-US" dirty="0"/>
            </a:br>
            <a:r>
              <a:rPr lang="en-US" b="1" dirty="0"/>
              <a:t>Meets Definition of Done</a:t>
            </a:r>
            <a:r>
              <a:rPr lang="en-US" dirty="0"/>
              <a:t> – Must satisfy quality standards before being considered complete.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811275-FAD7-B660-946C-8BBF02A96354}"/>
              </a:ext>
            </a:extLst>
          </p:cNvPr>
          <p:cNvSpPr txBox="1"/>
          <p:nvPr/>
        </p:nvSpPr>
        <p:spPr>
          <a:xfrm>
            <a:off x="6544235" y="4215243"/>
            <a:ext cx="5432113" cy="203132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b="1" dirty="0"/>
              <a:t>Typical Checklist for DoD</a:t>
            </a:r>
          </a:p>
          <a:p>
            <a:r>
              <a:rPr lang="en-US" dirty="0"/>
              <a:t>✔ Code is written, reviewed, and merged</a:t>
            </a:r>
            <a:br>
              <a:rPr lang="en-US" dirty="0"/>
            </a:br>
            <a:r>
              <a:rPr lang="en-US" dirty="0"/>
              <a:t>✔ Unit and integration tests passed</a:t>
            </a:r>
            <a:br>
              <a:rPr lang="en-US" dirty="0"/>
            </a:br>
            <a:r>
              <a:rPr lang="en-US" dirty="0"/>
              <a:t>✔ No critical bugs remain</a:t>
            </a:r>
            <a:br>
              <a:rPr lang="en-US" dirty="0"/>
            </a:br>
            <a:r>
              <a:rPr lang="en-US" dirty="0"/>
              <a:t>✔ Code is documented (if required)</a:t>
            </a:r>
            <a:br>
              <a:rPr lang="en-US" dirty="0"/>
            </a:br>
            <a:r>
              <a:rPr lang="en-US" dirty="0"/>
              <a:t>✔ Feature is deployed in a staging/test environment</a:t>
            </a:r>
            <a:br>
              <a:rPr lang="en-US" dirty="0"/>
            </a:br>
            <a:r>
              <a:rPr lang="en-US" dirty="0"/>
              <a:t>✔ User Acceptance Testing (UAT) is completed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77B2616-D92B-5294-2CA1-F0C1F2C9D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46449-9627-49D8-A7BB-62F07B68A900}" type="slidenum">
              <a:rPr lang="en-IN" smtClean="0"/>
              <a:pPr/>
              <a:t>15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03945344"/>
      </p:ext>
    </p:extLst>
  </p:cSld>
  <p:clrMapOvr>
    <a:masterClrMapping/>
  </p:clrMapOvr>
  <p:transition spd="slow">
    <p:cover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F609E-E51B-E775-EF84-EC0D54D3D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1BDA4149-A55A-1B23-F01C-087F72C50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IEMCS Internal | Agile Project Management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B73006-B131-3851-3367-004D3F63D2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1752" y="189329"/>
            <a:ext cx="1054596" cy="60148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89BF541-0FB5-2863-D3D4-9D78A420737B}"/>
              </a:ext>
            </a:extLst>
          </p:cNvPr>
          <p:cNvSpPr txBox="1"/>
          <p:nvPr/>
        </p:nvSpPr>
        <p:spPr>
          <a:xfrm>
            <a:off x="741111" y="1212136"/>
            <a:ext cx="9326255" cy="3154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3200" b="1" dirty="0"/>
              <a:t>Why Definition of Done is Important?</a:t>
            </a:r>
          </a:p>
          <a:p>
            <a:r>
              <a:rPr lang="en-US" dirty="0"/>
              <a:t>💡 Without a strong DoD, teams risk:</a:t>
            </a:r>
            <a:br>
              <a:rPr lang="en-US" dirty="0"/>
            </a:br>
            <a:r>
              <a:rPr lang="en-US" dirty="0"/>
              <a:t>❌ Delivering unfinished features</a:t>
            </a:r>
            <a:br>
              <a:rPr lang="en-US" dirty="0"/>
            </a:br>
            <a:r>
              <a:rPr lang="en-US" dirty="0"/>
              <a:t>❌ Increasing technical debt</a:t>
            </a:r>
            <a:br>
              <a:rPr lang="en-US" dirty="0"/>
            </a:br>
            <a:r>
              <a:rPr lang="en-US" dirty="0"/>
              <a:t>❌ Misalignment on what “done” means</a:t>
            </a:r>
            <a:br>
              <a:rPr lang="en-US" dirty="0"/>
            </a:br>
            <a:r>
              <a:rPr lang="en-US" dirty="0"/>
              <a:t>❌ Releasing buggy, untested software</a:t>
            </a:r>
          </a:p>
          <a:p>
            <a:endParaRPr lang="en-US" dirty="0"/>
          </a:p>
          <a:p>
            <a:pPr marL="285750" indent="-285750">
              <a:buBlip>
                <a:blip r:embed="rId3"/>
              </a:buBlip>
            </a:pPr>
            <a:r>
              <a:rPr lang="en-US" dirty="0"/>
              <a:t>A clear and strict Definition of Done ensures high-quality Increments, leading to a successful Agile delivery.</a:t>
            </a:r>
          </a:p>
          <a:p>
            <a:pPr marL="285750" indent="-285750">
              <a:buBlip>
                <a:blip r:embed="rId3"/>
              </a:buBlip>
            </a:pP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D9B5D2-CBE4-6D81-85E1-E717BA151CA1}"/>
              </a:ext>
            </a:extLst>
          </p:cNvPr>
          <p:cNvSpPr txBox="1"/>
          <p:nvPr/>
        </p:nvSpPr>
        <p:spPr>
          <a:xfrm>
            <a:off x="546848" y="74573"/>
            <a:ext cx="930536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/>
              <a:t>SCRUM ARTIFACTS </a:t>
            </a:r>
            <a:r>
              <a:rPr lang="en-US" sz="2800" dirty="0"/>
              <a:t>(Key Components of Scrum)</a:t>
            </a:r>
            <a:endParaRPr lang="en-US" sz="3200" b="1" dirty="0"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5C7BAE4-4CB3-BA21-659C-CAE3D2F25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46449-9627-49D8-A7BB-62F07B68A900}" type="slidenum">
              <a:rPr lang="en-IN" smtClean="0"/>
              <a:pPr/>
              <a:t>16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8349879"/>
      </p:ext>
    </p:extLst>
  </p:cSld>
  <p:clrMapOvr>
    <a:masterClrMapping/>
  </p:clrMapOvr>
  <p:transition spd="slow">
    <p:cover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B31AF9-A577-FDFD-F433-DA3782972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393563F6-654E-7A7F-0B92-0015F448A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IEMCS Internal | Agile Project Management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07CAA8-C784-8ED4-00F8-542D227368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1752" y="189329"/>
            <a:ext cx="1054596" cy="60148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2834649-018F-B4C1-E2A3-8571B052B502}"/>
              </a:ext>
            </a:extLst>
          </p:cNvPr>
          <p:cNvSpPr txBox="1"/>
          <p:nvPr/>
        </p:nvSpPr>
        <p:spPr>
          <a:xfrm>
            <a:off x="564778" y="189329"/>
            <a:ext cx="930536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800" dirty="0"/>
              <a:t>What is Planning Poker?</a:t>
            </a:r>
            <a:endParaRPr lang="en-US" sz="3200" b="1" dirty="0"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8B86E5-4A4D-404E-1DA8-CA108AFD734E}"/>
              </a:ext>
            </a:extLst>
          </p:cNvPr>
          <p:cNvSpPr txBox="1"/>
          <p:nvPr/>
        </p:nvSpPr>
        <p:spPr>
          <a:xfrm>
            <a:off x="694606" y="1120676"/>
            <a:ext cx="9305363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b="1" dirty="0"/>
              <a:t>Planning Poker</a:t>
            </a:r>
            <a:r>
              <a:rPr lang="en-US" dirty="0"/>
              <a:t> (also known as </a:t>
            </a:r>
            <a:r>
              <a:rPr lang="en-US" b="1" dirty="0"/>
              <a:t>Scrum Poker</a:t>
            </a:r>
            <a:r>
              <a:rPr lang="en-US" dirty="0"/>
              <a:t>) is an </a:t>
            </a:r>
            <a:r>
              <a:rPr lang="en-US" b="1" dirty="0"/>
              <a:t>agile estimation technique</a:t>
            </a:r>
            <a:r>
              <a:rPr lang="en-US" dirty="0"/>
              <a:t> used by Scrum teams to estimate the effort required for </a:t>
            </a:r>
            <a:r>
              <a:rPr lang="en-US" b="1" dirty="0"/>
              <a:t>User Stories</a:t>
            </a:r>
            <a:r>
              <a:rPr lang="en-US" dirty="0"/>
              <a:t> or </a:t>
            </a:r>
            <a:r>
              <a:rPr lang="en-US" b="1" dirty="0"/>
              <a:t>tasks</a:t>
            </a:r>
            <a:r>
              <a:rPr lang="en-US" dirty="0"/>
              <a:t> in terms of Story Points.</a:t>
            </a:r>
          </a:p>
          <a:p>
            <a:r>
              <a:rPr lang="en-US" dirty="0"/>
              <a:t>It is based on </a:t>
            </a:r>
            <a:r>
              <a:rPr lang="en-US" b="1" dirty="0"/>
              <a:t>consensus-driven decision-making</a:t>
            </a:r>
            <a:r>
              <a:rPr lang="en-US" dirty="0"/>
              <a:t> and uses the </a:t>
            </a:r>
            <a:r>
              <a:rPr lang="en-US" b="1" dirty="0"/>
              <a:t>Fibonacci sequence</a:t>
            </a:r>
            <a:r>
              <a:rPr lang="en-US" dirty="0"/>
              <a:t> (1, 2, 3, 5, 8, 13, …) for estimation. The goal is to </a:t>
            </a:r>
            <a:r>
              <a:rPr lang="en-US" b="1" dirty="0"/>
              <a:t>reduce bias, encourage discussion, and improve accuracy</a:t>
            </a:r>
            <a:r>
              <a:rPr lang="en-US" dirty="0"/>
              <a:t> in estimating work complexity.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F898B55-DE5C-6DFD-58E4-980A1C32ED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3855" y="2651971"/>
            <a:ext cx="5746863" cy="3840904"/>
          </a:xfrm>
          <a:prstGeom prst="rect">
            <a:avLst/>
          </a:prstGeom>
        </p:spPr>
      </p:pic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5C7E624-697F-C908-18F3-7791D71B2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46449-9627-49D8-A7BB-62F07B68A900}" type="slidenum">
              <a:rPr lang="en-IN" smtClean="0"/>
              <a:pPr/>
              <a:t>17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4191798"/>
      </p:ext>
    </p:extLst>
  </p:cSld>
  <p:clrMapOvr>
    <a:masterClrMapping/>
  </p:clrMapOvr>
  <p:transition spd="slow">
    <p:cover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16967-C87F-00B5-8F9C-5192ADE6D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F375B01A-64E5-2D2B-6292-34534B776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IEMCS Internal | Agile Project Management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6AD224-27AA-A9D6-BF1E-C76411A572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1752" y="189329"/>
            <a:ext cx="1054596" cy="60148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A09D336-C6A3-118C-1F54-4D0ADF3C68E9}"/>
              </a:ext>
            </a:extLst>
          </p:cNvPr>
          <p:cNvSpPr txBox="1"/>
          <p:nvPr/>
        </p:nvSpPr>
        <p:spPr>
          <a:xfrm>
            <a:off x="1317814" y="897953"/>
            <a:ext cx="8892987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600" dirty="0"/>
              <a:t>Agile Estimation</a:t>
            </a:r>
            <a:endParaRPr lang="en-US" sz="4400" b="1" dirty="0"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4FF5C7-76BD-24A6-A8AD-024095EC0104}"/>
              </a:ext>
            </a:extLst>
          </p:cNvPr>
          <p:cNvSpPr txBox="1"/>
          <p:nvPr/>
        </p:nvSpPr>
        <p:spPr>
          <a:xfrm>
            <a:off x="1437356" y="2451848"/>
            <a:ext cx="9006526" cy="3123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n-US" sz="2400" dirty="0"/>
              <a:t>Using Story Points for estimating complexity, effort, and risk allows Agile teams to focus on </a:t>
            </a:r>
            <a:r>
              <a:rPr lang="en-US" sz="2400" b="1" dirty="0"/>
              <a:t>relative sizing</a:t>
            </a:r>
            <a:r>
              <a:rPr lang="en-US" sz="2400" dirty="0"/>
              <a:t>, adapt to changes, and improve over time—without the constraints of exact time estimates. It's a key aspect of </a:t>
            </a:r>
            <a:r>
              <a:rPr lang="en-US" sz="2400" b="1" dirty="0"/>
              <a:t>Agile flexibility and efficiency</a:t>
            </a:r>
            <a:r>
              <a:rPr lang="en-US" sz="2400" dirty="0"/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/>
              <a:t>Story Points = Complexity + Effort + Risk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/>
              <a:t>Not directly about time, but experience will help connect story points to rough timelines.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/>
              <a:t>Keeps focus on value delivery and quality—not just deadlines.</a:t>
            </a:r>
            <a:endParaRPr lang="en-IN" sz="2400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B80AA0A-83C6-1946-0BAB-66DA9F258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46449-9627-49D8-A7BB-62F07B68A900}" type="slidenum">
              <a:rPr lang="en-IN" smtClean="0"/>
              <a:pPr/>
              <a:t>18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7344087"/>
      </p:ext>
    </p:extLst>
  </p:cSld>
  <p:clrMapOvr>
    <a:masterClrMapping/>
  </p:clrMapOvr>
  <p:transition spd="slow">
    <p:cover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7CE4F-872A-1C62-66A9-AE67431AC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6F2CDEFA-8891-987B-E5AF-5A24D328B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IEMCS Internal | Agile Project Management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EAE0AA-E0FC-AC82-E9B0-1D917D7DD5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1752" y="189329"/>
            <a:ext cx="1054596" cy="60148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B250727-8549-E170-FB8F-43D74668D0EC}"/>
              </a:ext>
            </a:extLst>
          </p:cNvPr>
          <p:cNvSpPr txBox="1"/>
          <p:nvPr/>
        </p:nvSpPr>
        <p:spPr>
          <a:xfrm>
            <a:off x="564778" y="189329"/>
            <a:ext cx="930536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800" dirty="0"/>
              <a:t>What is Planning Poker?</a:t>
            </a:r>
            <a:endParaRPr lang="en-US" sz="3200" b="1" dirty="0"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9D3EC3-9042-54FC-13E7-DC9ACACE744B}"/>
              </a:ext>
            </a:extLst>
          </p:cNvPr>
          <p:cNvSpPr txBox="1"/>
          <p:nvPr/>
        </p:nvSpPr>
        <p:spPr>
          <a:xfrm>
            <a:off x="741111" y="1020326"/>
            <a:ext cx="10674268" cy="53707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/>
              <a:t>How Planning Poker Works?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arenR"/>
            </a:pPr>
            <a:r>
              <a:rPr lang="en-US" b="1" dirty="0"/>
              <a:t>Preparation: Define the User Story 📋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Product Owner (PO)</a:t>
            </a:r>
            <a:r>
              <a:rPr lang="en-US" dirty="0"/>
              <a:t> presents a </a:t>
            </a:r>
            <a:r>
              <a:rPr lang="en-US" b="1" dirty="0"/>
              <a:t>User Story</a:t>
            </a:r>
            <a:r>
              <a:rPr lang="en-US" dirty="0"/>
              <a:t> to the team.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team asks </a:t>
            </a:r>
            <a:r>
              <a:rPr lang="en-US" b="1" dirty="0"/>
              <a:t>clarifying questions</a:t>
            </a:r>
            <a:r>
              <a:rPr lang="en-US" dirty="0"/>
              <a:t> to understand complexity, dependencies, and risks.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arenR"/>
            </a:pPr>
            <a:r>
              <a:rPr lang="en-US" b="1" dirty="0"/>
              <a:t>Each Member Selects a Fibonacci Card 🃏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Each team member privately selects a </a:t>
            </a:r>
            <a:r>
              <a:rPr lang="en-US" b="1" dirty="0"/>
              <a:t>Fibonacci number</a:t>
            </a:r>
            <a:r>
              <a:rPr lang="en-US" dirty="0"/>
              <a:t> representing their estimate.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number reflects the </a:t>
            </a:r>
            <a:r>
              <a:rPr lang="en-US" b="1" dirty="0"/>
              <a:t>complexity &amp; effort</a:t>
            </a:r>
            <a:r>
              <a:rPr lang="en-US" dirty="0"/>
              <a:t> (not exact hours or days).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arenR"/>
            </a:pPr>
            <a:r>
              <a:rPr lang="en-US" b="1" dirty="0"/>
              <a:t>Reveal the Estimates 🎭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Everyone </a:t>
            </a:r>
            <a:r>
              <a:rPr lang="en-US" b="1" dirty="0"/>
              <a:t>simultaneously reveals</a:t>
            </a:r>
            <a:r>
              <a:rPr lang="en-US" dirty="0"/>
              <a:t> their selected card.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If all estimates are the same → ✅ </a:t>
            </a:r>
            <a:r>
              <a:rPr lang="en-US" b="1" dirty="0"/>
              <a:t>Final estimate is accepted.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If estimates differ → 🔄 </a:t>
            </a:r>
            <a:r>
              <a:rPr lang="en-US" b="1" dirty="0"/>
              <a:t>Discussion begins!</a:t>
            </a:r>
            <a:endParaRPr lang="en-US" dirty="0"/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arenR"/>
            </a:pPr>
            <a:r>
              <a:rPr lang="en-US" b="1" dirty="0"/>
              <a:t>Discuss &amp; Align 💬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Team members with </a:t>
            </a:r>
            <a:r>
              <a:rPr lang="en-US" b="1" dirty="0"/>
              <a:t>high and low estimates</a:t>
            </a:r>
            <a:r>
              <a:rPr lang="en-US" dirty="0"/>
              <a:t> explain their reasoning.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After discussion, team votes again until a </a:t>
            </a:r>
            <a:r>
              <a:rPr lang="en-US" b="1" dirty="0"/>
              <a:t>consensus is reached</a:t>
            </a:r>
            <a:r>
              <a:rPr lang="en-US" dirty="0"/>
              <a:t>.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arenR"/>
            </a:pPr>
            <a:r>
              <a:rPr lang="en-US" b="1" dirty="0"/>
              <a:t>Final Story Point Assigned ✅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agreed-upon Story Point is assigned to the User Story.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58F4D9-660A-278B-ED5C-078C94BD4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46449-9627-49D8-A7BB-62F07B68A900}" type="slidenum">
              <a:rPr lang="en-IN" smtClean="0"/>
              <a:pPr/>
              <a:t>19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4347132"/>
      </p:ext>
    </p:extLst>
  </p:cSld>
  <p:clrMapOvr>
    <a:masterClrMapping/>
  </p:clrMapOvr>
  <p:transition spd="slow">
    <p:cover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04584-FF25-11B4-A7D8-67C67DDC5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1167CE60-0891-9961-54D0-9BAF647EE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IEMCS Internal | Agile Project Management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D88024-F314-927B-1CE7-41F016FDD6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1752" y="189329"/>
            <a:ext cx="1054596" cy="60148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F1AE72E-F31E-9EA6-D56D-8953C6915258}"/>
              </a:ext>
            </a:extLst>
          </p:cNvPr>
          <p:cNvSpPr txBox="1"/>
          <p:nvPr/>
        </p:nvSpPr>
        <p:spPr>
          <a:xfrm>
            <a:off x="564778" y="189329"/>
            <a:ext cx="930536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/>
              <a:t>Why is the Fibonacci Sequence Used in Agile Estimation (Planning Poker)?</a:t>
            </a:r>
            <a:endParaRPr lang="en-US" sz="3200" b="1" dirty="0"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A1D6D0-5919-FBFF-B34C-5809418FCEB0}"/>
              </a:ext>
            </a:extLst>
          </p:cNvPr>
          <p:cNvSpPr txBox="1"/>
          <p:nvPr/>
        </p:nvSpPr>
        <p:spPr>
          <a:xfrm>
            <a:off x="645458" y="1864677"/>
            <a:ext cx="99687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 Agile </a:t>
            </a:r>
            <a:r>
              <a:rPr lang="en-US" b="1" dirty="0"/>
              <a:t>Planning Poker</a:t>
            </a:r>
            <a:r>
              <a:rPr lang="en-US" dirty="0"/>
              <a:t>, the </a:t>
            </a:r>
            <a:r>
              <a:rPr lang="en-US" b="1" dirty="0"/>
              <a:t>Fibonacci sequence (1, 2, 3, 5, 8, 13, 21, …)</a:t>
            </a:r>
            <a:r>
              <a:rPr lang="en-US" dirty="0"/>
              <a:t> is used for </a:t>
            </a:r>
            <a:r>
              <a:rPr lang="en-US" b="1" dirty="0"/>
              <a:t>story point estimation</a:t>
            </a:r>
            <a:r>
              <a:rPr lang="en-US" dirty="0"/>
              <a:t> because it reflects the </a:t>
            </a:r>
            <a:r>
              <a:rPr lang="en-US" b="1" dirty="0"/>
              <a:t>increasing uncertainty</a:t>
            </a:r>
            <a:r>
              <a:rPr lang="en-US" dirty="0"/>
              <a:t> of larger tasks.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926992D-AD01-EEC5-ED71-CF8F6F8A171E}"/>
              </a:ext>
            </a:extLst>
          </p:cNvPr>
          <p:cNvSpPr txBox="1"/>
          <p:nvPr/>
        </p:nvSpPr>
        <p:spPr>
          <a:xfrm>
            <a:off x="741111" y="2644170"/>
            <a:ext cx="8124983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arenR"/>
            </a:pPr>
            <a:r>
              <a:rPr lang="en-US" sz="1600" b="1" dirty="0"/>
              <a:t>Exponential Growth Reflects Uncertainty </a:t>
            </a:r>
          </a:p>
          <a:p>
            <a:pPr marL="742950" lvl="1" indent="-285750">
              <a:spcAft>
                <a:spcPts val="600"/>
              </a:spcAft>
              <a:buFont typeface="Calibri" panose="020F0502020204030204" pitchFamily="34" charset="0"/>
              <a:buChar char="›"/>
            </a:pPr>
            <a:r>
              <a:rPr lang="en-US" sz="1600" dirty="0"/>
              <a:t>Small tasks (1, 2, 3) are </a:t>
            </a:r>
            <a:r>
              <a:rPr lang="en-US" sz="1600" b="1" dirty="0"/>
              <a:t>easy to estimate</a:t>
            </a:r>
            <a:r>
              <a:rPr lang="en-US" sz="1600" dirty="0"/>
              <a:t> accurately.</a:t>
            </a:r>
          </a:p>
          <a:p>
            <a:pPr marL="742950" lvl="1" indent="-285750">
              <a:spcAft>
                <a:spcPts val="600"/>
              </a:spcAft>
              <a:buFont typeface="Calibri" panose="020F0502020204030204" pitchFamily="34" charset="0"/>
              <a:buChar char="›"/>
            </a:pPr>
            <a:r>
              <a:rPr lang="en-US" sz="1600" dirty="0"/>
              <a:t>Larger tasks (8, 13, 21) involve </a:t>
            </a:r>
            <a:r>
              <a:rPr lang="en-US" sz="1600" b="1" dirty="0"/>
              <a:t>more uncertainty</a:t>
            </a:r>
            <a:r>
              <a:rPr lang="en-US" sz="1600" dirty="0"/>
              <a:t>, making precise estimation difficult.</a:t>
            </a:r>
          </a:p>
          <a:p>
            <a:pPr marL="742950" lvl="1" indent="-285750">
              <a:spcAft>
                <a:spcPts val="600"/>
              </a:spcAft>
              <a:buFont typeface="Calibri" panose="020F0502020204030204" pitchFamily="34" charset="0"/>
              <a:buChar char="›"/>
            </a:pPr>
            <a:r>
              <a:rPr lang="en-US" sz="1600" dirty="0"/>
              <a:t>The </a:t>
            </a:r>
            <a:r>
              <a:rPr lang="en-US" sz="1600" b="1" dirty="0"/>
              <a:t>gap between numbers increases</a:t>
            </a:r>
            <a:r>
              <a:rPr lang="en-US" sz="1600" dirty="0"/>
              <a:t> to account for the uncertainty.</a:t>
            </a:r>
          </a:p>
          <a:p>
            <a:pPr>
              <a:spcAft>
                <a:spcPts val="600"/>
              </a:spcAft>
            </a:pPr>
            <a:r>
              <a:rPr lang="en-US" sz="1600" b="1" dirty="0"/>
              <a:t>Example:</a:t>
            </a:r>
            <a:r>
              <a:rPr lang="en-US" sz="1600" dirty="0"/>
              <a:t> A task estimated at </a:t>
            </a:r>
            <a:r>
              <a:rPr lang="en-US" sz="1600" b="1" dirty="0"/>
              <a:t>2 points</a:t>
            </a:r>
            <a:r>
              <a:rPr lang="en-US" sz="1600" dirty="0"/>
              <a:t> is easier to compare than one estimated at </a:t>
            </a:r>
            <a:r>
              <a:rPr lang="en-US" sz="1600" b="1" dirty="0"/>
              <a:t>13 points</a:t>
            </a:r>
            <a:r>
              <a:rPr lang="en-US" sz="1600" dirty="0"/>
              <a:t>, which has much more variability.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3296A6-B1F8-88E5-4217-A101BBD9EF94}"/>
              </a:ext>
            </a:extLst>
          </p:cNvPr>
          <p:cNvSpPr txBox="1"/>
          <p:nvPr/>
        </p:nvSpPr>
        <p:spPr>
          <a:xfrm>
            <a:off x="809827" y="4837827"/>
            <a:ext cx="8815265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arenR" startAt="2"/>
            </a:pPr>
            <a:r>
              <a:rPr lang="en-US" sz="1600" b="1" dirty="0"/>
              <a:t>Encourages Meaningful Discussions </a:t>
            </a:r>
          </a:p>
          <a:p>
            <a:pPr marL="742950" lvl="1" indent="-285750">
              <a:spcAft>
                <a:spcPts val="600"/>
              </a:spcAft>
              <a:buFont typeface="Calibri" panose="020F0502020204030204" pitchFamily="34" charset="0"/>
              <a:buChar char="›"/>
            </a:pPr>
            <a:r>
              <a:rPr lang="en-US" sz="1600" dirty="0"/>
              <a:t>The larger the gap, the more important it is to discuss and justify estimates.</a:t>
            </a:r>
          </a:p>
          <a:p>
            <a:pPr marL="742950" lvl="1" indent="-285750">
              <a:spcAft>
                <a:spcPts val="600"/>
              </a:spcAft>
              <a:buFont typeface="Calibri" panose="020F0502020204030204" pitchFamily="34" charset="0"/>
              <a:buChar char="›"/>
            </a:pPr>
            <a:r>
              <a:rPr lang="en-US" sz="1600" dirty="0"/>
              <a:t>If one developer selects 5 and another selects 13, they must discuss why their estimates differ.</a:t>
            </a:r>
          </a:p>
          <a:p>
            <a:r>
              <a:rPr lang="en-US" dirty="0"/>
              <a:t>This leads to </a:t>
            </a:r>
            <a:r>
              <a:rPr lang="en-US" b="1" dirty="0"/>
              <a:t>better understanding and alignment</a:t>
            </a:r>
            <a:r>
              <a:rPr lang="en-US" dirty="0"/>
              <a:t> among the team.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CAEF9A0C-8875-BC07-B0A1-3FF0F099F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46449-9627-49D8-A7BB-62F07B68A900}" type="slidenum">
              <a:rPr lang="en-IN" smtClean="0"/>
              <a:pPr/>
              <a:t>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2808713"/>
      </p:ext>
    </p:extLst>
  </p:cSld>
  <p:clrMapOvr>
    <a:masterClrMapping/>
  </p:clrMapOvr>
  <p:transition spd="slow">
    <p:cover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FADC0-1071-B548-4519-A2CF9DD4E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CB7303CB-F0E7-2392-016C-0D08A7EFB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IEMCS Internal | Agile Project Management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0365EC-2C38-E21B-5AE3-4E3A9F8DDB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1752" y="189329"/>
            <a:ext cx="1054596" cy="60148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0168C1C-A0E1-0E4D-0A25-B6AB76283B43}"/>
              </a:ext>
            </a:extLst>
          </p:cNvPr>
          <p:cNvSpPr txBox="1"/>
          <p:nvPr/>
        </p:nvSpPr>
        <p:spPr>
          <a:xfrm>
            <a:off x="564778" y="189329"/>
            <a:ext cx="930536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/>
              <a:t>Why is the Fibonacci Sequence Used in Agile Estimation (Planning Poker)?</a:t>
            </a:r>
            <a:endParaRPr lang="en-US" sz="3200" b="1" dirty="0"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52C1FB-8D64-308D-AC13-F21EBE792410}"/>
              </a:ext>
            </a:extLst>
          </p:cNvPr>
          <p:cNvSpPr txBox="1"/>
          <p:nvPr/>
        </p:nvSpPr>
        <p:spPr>
          <a:xfrm>
            <a:off x="616664" y="1992490"/>
            <a:ext cx="10305088" cy="1308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arenR" startAt="3"/>
            </a:pPr>
            <a:r>
              <a:rPr lang="en-US" sz="1600" b="1" dirty="0"/>
              <a:t>Prevents False Precision </a:t>
            </a:r>
          </a:p>
          <a:p>
            <a:pPr marL="742950" lvl="1" indent="-285750">
              <a:spcAft>
                <a:spcPts val="600"/>
              </a:spcAft>
              <a:buFont typeface="Calibri" panose="020F0502020204030204" pitchFamily="34" charset="0"/>
              <a:buChar char="›"/>
            </a:pPr>
            <a:r>
              <a:rPr lang="en-US" sz="1600" dirty="0"/>
              <a:t>Traditional estimation methods use linear scales (4, 5, 6, 7...), which give a false sense of accuracy.</a:t>
            </a:r>
          </a:p>
          <a:p>
            <a:pPr marL="742950" lvl="1" indent="-285750">
              <a:spcAft>
                <a:spcPts val="600"/>
              </a:spcAft>
              <a:buFont typeface="Calibri" panose="020F0502020204030204" pitchFamily="34" charset="0"/>
              <a:buChar char="›"/>
            </a:pPr>
            <a:r>
              <a:rPr lang="en-US" sz="1600" dirty="0"/>
              <a:t>Instead, Fibonacci forces teams to round up and think in broad terms.</a:t>
            </a:r>
          </a:p>
          <a:p>
            <a:pPr lvl="1"/>
            <a:r>
              <a:rPr lang="en-US" sz="1600" b="1" dirty="0"/>
              <a:t>Example:</a:t>
            </a:r>
            <a:r>
              <a:rPr lang="en-US" sz="1600" dirty="0"/>
              <a:t> If a task seems </a:t>
            </a:r>
            <a:r>
              <a:rPr lang="en-US" sz="1600" b="1" dirty="0"/>
              <a:t>between 5 and 8</a:t>
            </a:r>
            <a:r>
              <a:rPr lang="en-US" sz="1600" dirty="0"/>
              <a:t>, it’s probably closer to </a:t>
            </a:r>
            <a:r>
              <a:rPr lang="en-US" sz="1600" b="1" dirty="0"/>
              <a:t>8</a:t>
            </a:r>
            <a:r>
              <a:rPr lang="en-US" sz="1600" dirty="0"/>
              <a:t> due to additional complexities.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86D031-383A-F3D7-58F8-370C60B96A79}"/>
              </a:ext>
            </a:extLst>
          </p:cNvPr>
          <p:cNvSpPr txBox="1"/>
          <p:nvPr/>
        </p:nvSpPr>
        <p:spPr>
          <a:xfrm>
            <a:off x="616664" y="3534041"/>
            <a:ext cx="9523477" cy="1585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arenR" startAt="4"/>
            </a:pPr>
            <a:r>
              <a:rPr lang="en-US" sz="1600" b="1" dirty="0"/>
              <a:t>Speeds Up Decision-Making </a:t>
            </a:r>
          </a:p>
          <a:p>
            <a:pPr marL="742950" lvl="1" indent="-285750">
              <a:spcAft>
                <a:spcPts val="600"/>
              </a:spcAft>
              <a:buFont typeface="Calibri" panose="020F0502020204030204" pitchFamily="34" charset="0"/>
              <a:buChar char="›"/>
            </a:pPr>
            <a:r>
              <a:rPr lang="en-US" sz="1600" dirty="0"/>
              <a:t>Since the differences between numbers are bigger, teams avoid unnecessary debates over minor differences.</a:t>
            </a:r>
          </a:p>
          <a:p>
            <a:pPr marL="742950" lvl="1" indent="-285750">
              <a:spcAft>
                <a:spcPts val="600"/>
              </a:spcAft>
              <a:buFont typeface="Calibri" panose="020F0502020204030204" pitchFamily="34" charset="0"/>
              <a:buChar char="›"/>
            </a:pPr>
            <a:r>
              <a:rPr lang="en-US" sz="1600" dirty="0"/>
              <a:t>Instead of debating whether a task is a 6 or 7, teams choose between 5 or 8 and move forward.</a:t>
            </a:r>
          </a:p>
          <a:p>
            <a:pPr lvl="1"/>
            <a:r>
              <a:rPr lang="en-US" dirty="0"/>
              <a:t>This makes Sprint Planning </a:t>
            </a:r>
            <a:r>
              <a:rPr lang="en-US" b="1" dirty="0"/>
              <a:t>faster and more efficient</a:t>
            </a:r>
            <a:r>
              <a:rPr lang="en-US" dirty="0"/>
              <a:t>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160422-D07E-BBE1-9D7D-8F148A5F1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46449-9627-49D8-A7BB-62F07B68A900}" type="slidenum">
              <a:rPr lang="en-IN" smtClean="0"/>
              <a:pPr/>
              <a:t>21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214258"/>
      </p:ext>
    </p:extLst>
  </p:cSld>
  <p:clrMapOvr>
    <a:masterClrMapping/>
  </p:clrMapOvr>
  <p:transition spd="slow">
    <p:cover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FB767-C32B-7A31-EAD6-7BB7F8E2E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B860936-B396-85F3-3395-BDC0D10EB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IEMCS Internal | Agile Project Management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7A5ED7-378D-CABE-352B-0741DD5D1E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1752" y="189329"/>
            <a:ext cx="1054596" cy="60148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FE66B37-F26C-98F7-0094-8A1FCEF964B7}"/>
              </a:ext>
            </a:extLst>
          </p:cNvPr>
          <p:cNvSpPr txBox="1"/>
          <p:nvPr/>
        </p:nvSpPr>
        <p:spPr>
          <a:xfrm>
            <a:off x="564778" y="189329"/>
            <a:ext cx="1014804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/>
              <a:t>Why Story Points Reflect Complexity &amp; Effort (Not Exact Hours or Days) in Agile Estimation</a:t>
            </a:r>
            <a:endParaRPr lang="en-US" sz="2400" b="1" dirty="0"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87A228-97D6-B61A-AE91-37DCB295C11C}"/>
              </a:ext>
            </a:extLst>
          </p:cNvPr>
          <p:cNvSpPr txBox="1"/>
          <p:nvPr/>
        </p:nvSpPr>
        <p:spPr>
          <a:xfrm>
            <a:off x="741111" y="1727555"/>
            <a:ext cx="94982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 Agile, </a:t>
            </a:r>
            <a:r>
              <a:rPr lang="en-US" b="1" dirty="0"/>
              <a:t>Story Points</a:t>
            </a:r>
            <a:r>
              <a:rPr lang="en-US" dirty="0"/>
              <a:t> are used to estimate </a:t>
            </a:r>
            <a:r>
              <a:rPr lang="en-US" b="1" dirty="0"/>
              <a:t>relative effort, complexity, and risk</a:t>
            </a:r>
            <a:r>
              <a:rPr lang="en-US" dirty="0"/>
              <a:t> associated with a User Story. They </a:t>
            </a:r>
            <a:r>
              <a:rPr lang="en-US" b="1" dirty="0"/>
              <a:t>do not directly represent exact hours or days</a:t>
            </a:r>
            <a:r>
              <a:rPr lang="en-US" dirty="0"/>
              <a:t>. This approach is intentional and offers several advantages for planning and executing work effectively.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B8B6E4-C598-C7CE-7F90-08969E04D465}"/>
              </a:ext>
            </a:extLst>
          </p:cNvPr>
          <p:cNvSpPr txBox="1"/>
          <p:nvPr/>
        </p:nvSpPr>
        <p:spPr>
          <a:xfrm>
            <a:off x="741111" y="286567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Traditional Time Estimation vs. Story Points</a:t>
            </a:r>
            <a:endParaRPr lang="en-IN" b="1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A777EDC-F127-3B00-6358-AA59AC9C8A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992618"/>
              </p:ext>
            </p:extLst>
          </p:nvPr>
        </p:nvGraphicFramePr>
        <p:xfrm>
          <a:off x="882649" y="3312132"/>
          <a:ext cx="10018433" cy="2703186"/>
        </p:xfrm>
        <a:graphic>
          <a:graphicData uri="http://schemas.openxmlformats.org/drawingml/2006/table">
            <a:tbl>
              <a:tblPr/>
              <a:tblGrid>
                <a:gridCol w="3414996">
                  <a:extLst>
                    <a:ext uri="{9D8B030D-6E8A-4147-A177-3AD203B41FA5}">
                      <a16:colId xmlns:a16="http://schemas.microsoft.com/office/drawing/2014/main" val="566297993"/>
                    </a:ext>
                  </a:extLst>
                </a:gridCol>
                <a:gridCol w="3376143">
                  <a:extLst>
                    <a:ext uri="{9D8B030D-6E8A-4147-A177-3AD203B41FA5}">
                      <a16:colId xmlns:a16="http://schemas.microsoft.com/office/drawing/2014/main" val="3840330705"/>
                    </a:ext>
                  </a:extLst>
                </a:gridCol>
                <a:gridCol w="3227294">
                  <a:extLst>
                    <a:ext uri="{9D8B030D-6E8A-4147-A177-3AD203B41FA5}">
                      <a16:colId xmlns:a16="http://schemas.microsoft.com/office/drawing/2014/main" val="346249221"/>
                    </a:ext>
                  </a:extLst>
                </a:gridCol>
              </a:tblGrid>
              <a:tr h="42615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Aspect</a:t>
                      </a:r>
                    </a:p>
                  </a:txBody>
                  <a:tcPr marL="36000" marR="3600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Time-Based Estimation </a:t>
                      </a:r>
                    </a:p>
                  </a:txBody>
                  <a:tcPr marL="36000" marR="3600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Story Points </a:t>
                      </a:r>
                    </a:p>
                  </a:txBody>
                  <a:tcPr marL="36000" marR="3600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4617872"/>
                  </a:ext>
                </a:extLst>
              </a:tr>
              <a:tr h="403412"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Unit of Measure</a:t>
                      </a:r>
                    </a:p>
                  </a:txBody>
                  <a:tcPr marL="36000" marR="3600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Hours or Days</a:t>
                      </a:r>
                    </a:p>
                  </a:txBody>
                  <a:tcPr marL="36000" marR="3600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Complexity, Effort, Risk</a:t>
                      </a:r>
                    </a:p>
                  </a:txBody>
                  <a:tcPr marL="36000" marR="3600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3428397"/>
                  </a:ext>
                </a:extLst>
              </a:tr>
              <a:tr h="412377"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Focus</a:t>
                      </a:r>
                    </a:p>
                  </a:txBody>
                  <a:tcPr marL="36000" marR="3600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How long it takes</a:t>
                      </a:r>
                    </a:p>
                  </a:txBody>
                  <a:tcPr marL="36000" marR="3600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How hard it is to do</a:t>
                      </a:r>
                    </a:p>
                  </a:txBody>
                  <a:tcPr marL="36000" marR="3600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290354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Precision</a:t>
                      </a:r>
                    </a:p>
                  </a:txBody>
                  <a:tcPr marL="36000" marR="3600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 (but often unrealistic)</a:t>
                      </a:r>
                    </a:p>
                  </a:txBody>
                  <a:tcPr marL="36000" marR="3600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Flexible &amp; relative</a:t>
                      </a:r>
                    </a:p>
                  </a:txBody>
                  <a:tcPr marL="36000" marR="3600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6034735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Effect of Uncertainty</a:t>
                      </a:r>
                    </a:p>
                  </a:txBody>
                  <a:tcPr marL="36000" marR="3600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Often underestimated</a:t>
                      </a:r>
                    </a:p>
                  </a:txBody>
                  <a:tcPr marL="36000" marR="3600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Captures unknowns with bigger points</a:t>
                      </a:r>
                    </a:p>
                  </a:txBody>
                  <a:tcPr marL="36000" marR="3600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060054"/>
                  </a:ext>
                </a:extLst>
              </a:tr>
              <a:tr h="394447"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Example</a:t>
                      </a:r>
                    </a:p>
                  </a:txBody>
                  <a:tcPr marL="36000" marR="3600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"3 hours to fix this bug"</a:t>
                      </a:r>
                    </a:p>
                  </a:txBody>
                  <a:tcPr marL="36000" marR="3600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"This bug is a 5-point effort"</a:t>
                      </a:r>
                    </a:p>
                  </a:txBody>
                  <a:tcPr marL="36000" marR="3600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3651385"/>
                  </a:ext>
                </a:extLst>
              </a:tr>
            </a:tbl>
          </a:graphicData>
        </a:graphic>
      </p:graphicFrame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098FBF5-5490-186C-98F8-A13A751E0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46449-9627-49D8-A7BB-62F07B68A900}" type="slidenum">
              <a:rPr lang="en-IN" smtClean="0"/>
              <a:pPr/>
              <a:t>22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3576070"/>
      </p:ext>
    </p:extLst>
  </p:cSld>
  <p:clrMapOvr>
    <a:masterClrMapping/>
  </p:clrMapOvr>
  <p:transition spd="slow">
    <p:cover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60BD3-5C7E-5300-BDC1-13C5CB038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41A0F36E-A9E6-91FA-9511-C2205147E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IEMCS Internal | Agile Project Management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A8D7CC-4C15-22D9-513D-8EA2D8E8E5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1752" y="189329"/>
            <a:ext cx="1054596" cy="60148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FF0B8CF-2814-B18F-AC0A-E2D9968C3578}"/>
              </a:ext>
            </a:extLst>
          </p:cNvPr>
          <p:cNvSpPr txBox="1"/>
          <p:nvPr/>
        </p:nvSpPr>
        <p:spPr>
          <a:xfrm>
            <a:off x="564778" y="189329"/>
            <a:ext cx="1014804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/>
              <a:t>What Do Story Points Measure?</a:t>
            </a:r>
            <a:endParaRPr lang="en-US" sz="2400" b="1" dirty="0"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565293-3683-5391-3048-A4EEB0F5C7E2}"/>
              </a:ext>
            </a:extLst>
          </p:cNvPr>
          <p:cNvSpPr txBox="1"/>
          <p:nvPr/>
        </p:nvSpPr>
        <p:spPr>
          <a:xfrm>
            <a:off x="564777" y="1086160"/>
            <a:ext cx="1014804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Complexity: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How complicated is the work?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Does it involve unknown technologies?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Example: "Building a login feature with security measures" might be more complex than "changing the color of a button."</a:t>
            </a:r>
          </a:p>
          <a:p>
            <a:r>
              <a:rPr lang="en-US" b="1" dirty="0"/>
              <a:t>Effort: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How much work is needed?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Is it a straightforward task or a deep dive?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Example: Adding a simple banner might be </a:t>
            </a:r>
            <a:r>
              <a:rPr lang="en-US" b="1" dirty="0"/>
              <a:t>1 point</a:t>
            </a:r>
            <a:r>
              <a:rPr lang="en-US" dirty="0"/>
              <a:t>, while creating a recommendation engine might be </a:t>
            </a:r>
            <a:r>
              <a:rPr lang="en-US" b="1" dirty="0"/>
              <a:t>13 points</a:t>
            </a:r>
            <a:r>
              <a:rPr lang="en-US" dirty="0"/>
              <a:t>.</a:t>
            </a:r>
          </a:p>
          <a:p>
            <a:r>
              <a:rPr lang="en-US" b="1" dirty="0"/>
              <a:t>Risk &amp; Uncertainty: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Are there unknowns that might make the task harder?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Is there any potential for surprises (e.g., legacy code, third-party API limits)?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Example: Implementing a third-party payment system might have hidden complexities → </a:t>
            </a:r>
            <a:r>
              <a:rPr lang="en-US" b="1" dirty="0"/>
              <a:t>8 points</a:t>
            </a:r>
            <a:r>
              <a:rPr lang="en-US" dirty="0"/>
              <a:t>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A055E5-D43E-5C02-2464-915EB987B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46449-9627-49D8-A7BB-62F07B68A900}" type="slidenum">
              <a:rPr lang="en-IN" smtClean="0"/>
              <a:pPr/>
              <a:t>23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2849333"/>
      </p:ext>
    </p:extLst>
  </p:cSld>
  <p:clrMapOvr>
    <a:masterClrMapping/>
  </p:clrMapOvr>
  <p:transition spd="slow">
    <p:cover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9DA56-F24E-4F33-7B86-172372857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36BCC3F9-8314-05CA-CB1B-A31FCED28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IEMCS Internal | Agile Project Management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D6F81B-D02C-C703-5EDF-8101A682BB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1752" y="189329"/>
            <a:ext cx="1054596" cy="60148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FE51A08-6617-EA5B-B3AD-C5BA22C59800}"/>
              </a:ext>
            </a:extLst>
          </p:cNvPr>
          <p:cNvSpPr txBox="1"/>
          <p:nvPr/>
        </p:nvSpPr>
        <p:spPr>
          <a:xfrm>
            <a:off x="564778" y="189329"/>
            <a:ext cx="1014804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/>
              <a:t>Why Not Use Exact Hours or Days?</a:t>
            </a:r>
            <a:endParaRPr lang="en-US" sz="2400" b="1" dirty="0"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3338E8-6D0C-AA08-4EAD-D82EFA0B60E8}"/>
              </a:ext>
            </a:extLst>
          </p:cNvPr>
          <p:cNvSpPr txBox="1"/>
          <p:nvPr/>
        </p:nvSpPr>
        <p:spPr>
          <a:xfrm>
            <a:off x="564778" y="1209852"/>
            <a:ext cx="5647763" cy="4201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arenR"/>
            </a:pPr>
            <a:r>
              <a:rPr lang="en-US" b="1" dirty="0"/>
              <a:t>Avoids False Precision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Estimating exact hours can give a </a:t>
            </a:r>
            <a:r>
              <a:rPr lang="en-US" b="1" dirty="0"/>
              <a:t>false sense of accuracy</a:t>
            </a:r>
            <a:r>
              <a:rPr lang="en-US" dirty="0"/>
              <a:t>, as software development is inherently unpredictable.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Agile recognizes that unforeseen complexities can arise, making precise time estimates unreliable.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arenR" startAt="2"/>
            </a:pPr>
            <a:r>
              <a:rPr lang="en-US" b="1" dirty="0"/>
              <a:t>Focuses on Relative Effort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Story Points focus on how one task </a:t>
            </a:r>
            <a:r>
              <a:rPr lang="en-US" b="1" dirty="0"/>
              <a:t>compares</a:t>
            </a:r>
            <a:r>
              <a:rPr lang="en-US" dirty="0"/>
              <a:t> to another.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Example: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 task estimated at </a:t>
            </a:r>
            <a:r>
              <a:rPr lang="en-US" b="1" dirty="0"/>
              <a:t>5 Story Points</a:t>
            </a:r>
            <a:r>
              <a:rPr lang="en-US" dirty="0"/>
              <a:t> is roughly twice as complex as a </a:t>
            </a:r>
            <a:r>
              <a:rPr lang="en-US" b="1" dirty="0"/>
              <a:t>2-Point task</a:t>
            </a:r>
            <a:r>
              <a:rPr lang="en-US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This helps in planning and prioritization, rather than debating exact hours.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387781-2D90-9BD0-E352-716031DF6ED9}"/>
              </a:ext>
            </a:extLst>
          </p:cNvPr>
          <p:cNvSpPr txBox="1"/>
          <p:nvPr/>
        </p:nvSpPr>
        <p:spPr>
          <a:xfrm>
            <a:off x="6431003" y="1289627"/>
            <a:ext cx="4984376" cy="3924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arenR" startAt="3"/>
            </a:pPr>
            <a:r>
              <a:rPr lang="en-US" b="1" dirty="0"/>
              <a:t>Simplifies Planning Across Teams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Different team members may work at different speeds. Story Points standardize effort estimation, allowing the team to focus on delivering value rather than time tracking.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arenR" startAt="4"/>
            </a:pPr>
            <a:r>
              <a:rPr lang="en-US" b="1" dirty="0"/>
              <a:t>Improves Estimation Accuracy Over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Teams track </a:t>
            </a:r>
            <a:r>
              <a:rPr lang="en-US" b="1" dirty="0"/>
              <a:t>velocity</a:t>
            </a:r>
            <a:r>
              <a:rPr lang="en-US" dirty="0"/>
              <a:t> (average Story Points completed per Sprint), helping them predict how much work they can take on in future Sprints.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With experience, Story Point estimates become more accurate as the team learns from past Sprints.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B71047C-543A-51B8-A370-7F5B15755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46449-9627-49D8-A7BB-62F07B68A900}" type="slidenum">
              <a:rPr lang="en-IN" smtClean="0"/>
              <a:pPr/>
              <a:t>24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5413617"/>
      </p:ext>
    </p:extLst>
  </p:cSld>
  <p:clrMapOvr>
    <a:masterClrMapping/>
  </p:clrMapOvr>
  <p:transition spd="slow">
    <p:cover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1651B-0473-1A4E-47BA-DB6A6C199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AEAAE32F-7D24-302F-62E7-F5D29DAF5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IEMCS Internal | Agile Project Management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128E55-B3E6-E01D-8A0C-496145CB87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1752" y="189329"/>
            <a:ext cx="1054596" cy="60148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05BEB24-5315-7323-A663-6F207CA6B893}"/>
              </a:ext>
            </a:extLst>
          </p:cNvPr>
          <p:cNvSpPr txBox="1"/>
          <p:nvPr/>
        </p:nvSpPr>
        <p:spPr>
          <a:xfrm>
            <a:off x="564778" y="189329"/>
            <a:ext cx="1014804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/>
              <a:t>Example of Complexity vs. Time in Story Points</a:t>
            </a:r>
            <a:endParaRPr lang="en-US" sz="2400" b="1" dirty="0"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A280C7F-963C-AEEE-E86B-ADCEC387D6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3818363"/>
              </p:ext>
            </p:extLst>
          </p:nvPr>
        </p:nvGraphicFramePr>
        <p:xfrm>
          <a:off x="741111" y="1061143"/>
          <a:ext cx="9078819" cy="1958340"/>
        </p:xfrm>
        <a:graphic>
          <a:graphicData uri="http://schemas.openxmlformats.org/drawingml/2006/table">
            <a:tbl>
              <a:tblPr/>
              <a:tblGrid>
                <a:gridCol w="4295287">
                  <a:extLst>
                    <a:ext uri="{9D8B030D-6E8A-4147-A177-3AD203B41FA5}">
                      <a16:colId xmlns:a16="http://schemas.microsoft.com/office/drawing/2014/main" val="633391805"/>
                    </a:ext>
                  </a:extLst>
                </a:gridCol>
                <a:gridCol w="1904844">
                  <a:extLst>
                    <a:ext uri="{9D8B030D-6E8A-4147-A177-3AD203B41FA5}">
                      <a16:colId xmlns:a16="http://schemas.microsoft.com/office/drawing/2014/main" val="3755192932"/>
                    </a:ext>
                  </a:extLst>
                </a:gridCol>
                <a:gridCol w="1764892">
                  <a:extLst>
                    <a:ext uri="{9D8B030D-6E8A-4147-A177-3AD203B41FA5}">
                      <a16:colId xmlns:a16="http://schemas.microsoft.com/office/drawing/2014/main" val="1446865548"/>
                    </a:ext>
                  </a:extLst>
                </a:gridCol>
                <a:gridCol w="1113796">
                  <a:extLst>
                    <a:ext uri="{9D8B030D-6E8A-4147-A177-3AD203B41FA5}">
                      <a16:colId xmlns:a16="http://schemas.microsoft.com/office/drawing/2014/main" val="23712661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User Story</a:t>
                      </a:r>
                    </a:p>
                  </a:txBody>
                  <a:tcPr marL="72000" marR="7200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Complexity</a:t>
                      </a:r>
                    </a:p>
                  </a:txBody>
                  <a:tcPr marL="72000" marR="7200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Effort</a:t>
                      </a:r>
                    </a:p>
                  </a:txBody>
                  <a:tcPr marL="72000" marR="7200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Story Points</a:t>
                      </a:r>
                    </a:p>
                  </a:txBody>
                  <a:tcPr marL="72000" marR="7200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525178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"As a user, I want to log in with email."</a:t>
                      </a:r>
                    </a:p>
                  </a:txBody>
                  <a:tcPr marL="72000" marR="7200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Low</a:t>
                      </a:r>
                    </a:p>
                  </a:txBody>
                  <a:tcPr marL="72000" marR="7200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Moderate</a:t>
                      </a:r>
                    </a:p>
                  </a:txBody>
                  <a:tcPr marL="72000" marR="7200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2000" marR="7200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429567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"As a user, I want to reset my password."</a:t>
                      </a:r>
                    </a:p>
                  </a:txBody>
                  <a:tcPr marL="72000" marR="7200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Moderate</a:t>
                      </a:r>
                    </a:p>
                  </a:txBody>
                  <a:tcPr marL="72000" marR="7200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Moderate</a:t>
                      </a:r>
                    </a:p>
                  </a:txBody>
                  <a:tcPr marL="72000" marR="7200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72000" marR="7200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902988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"As an admin, I want to monitor login attempts."</a:t>
                      </a:r>
                    </a:p>
                  </a:txBody>
                  <a:tcPr marL="72000" marR="7200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</a:t>
                      </a:r>
                    </a:p>
                  </a:txBody>
                  <a:tcPr marL="72000" marR="7200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</a:t>
                      </a:r>
                    </a:p>
                  </a:txBody>
                  <a:tcPr marL="72000" marR="7200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72000" marR="7200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698179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"As a user, I want 2FA for login."</a:t>
                      </a:r>
                    </a:p>
                  </a:txBody>
                  <a:tcPr marL="72000" marR="7200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</a:t>
                      </a:r>
                    </a:p>
                  </a:txBody>
                  <a:tcPr marL="72000" marR="7200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</a:t>
                      </a:r>
                    </a:p>
                  </a:txBody>
                  <a:tcPr marL="72000" marR="7200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72000" marR="7200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449199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7305038-70B4-387A-2623-EA622B0142D9}"/>
              </a:ext>
            </a:extLst>
          </p:cNvPr>
          <p:cNvSpPr txBox="1"/>
          <p:nvPr/>
        </p:nvSpPr>
        <p:spPr>
          <a:xfrm>
            <a:off x="564778" y="3192187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Even if tasks take different actual times (e.g., 1 day or 3 days), Story Points capture the </a:t>
            </a:r>
            <a:r>
              <a:rPr lang="en-US" b="1" dirty="0"/>
              <a:t>relative effort and complexity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966A36-BE26-3346-0247-676710216506}"/>
              </a:ext>
            </a:extLst>
          </p:cNvPr>
          <p:cNvSpPr txBox="1"/>
          <p:nvPr/>
        </p:nvSpPr>
        <p:spPr>
          <a:xfrm>
            <a:off x="564778" y="4011222"/>
            <a:ext cx="9687270" cy="2154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b="1" dirty="0"/>
              <a:t>How Does Story Points Translate to Time?</a:t>
            </a:r>
          </a:p>
          <a:p>
            <a:pPr>
              <a:spcAft>
                <a:spcPts val="600"/>
              </a:spcAft>
            </a:pPr>
            <a:r>
              <a:rPr lang="en-US" dirty="0"/>
              <a:t>While Story Points don't directly map to hours, the team's </a:t>
            </a:r>
            <a:r>
              <a:rPr lang="en-US" b="1" dirty="0"/>
              <a:t>velocity</a:t>
            </a:r>
            <a:r>
              <a:rPr lang="en-US" dirty="0"/>
              <a:t> (average Story Points completed in a Sprint) helps approximate time: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If a team completes </a:t>
            </a:r>
            <a:r>
              <a:rPr lang="en-US" b="1" dirty="0"/>
              <a:t>20 Story Points</a:t>
            </a:r>
            <a:r>
              <a:rPr lang="en-US" dirty="0"/>
              <a:t> in a 2-week Sprint: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1 Story Point ≈ 0.5 days</a:t>
            </a:r>
            <a:r>
              <a:rPr lang="en-US" dirty="0"/>
              <a:t> (on average).</a:t>
            </a:r>
          </a:p>
          <a:p>
            <a:pPr>
              <a:spcAft>
                <a:spcPts val="600"/>
              </a:spcAft>
            </a:pPr>
            <a:r>
              <a:rPr lang="en-US" dirty="0"/>
              <a:t>This approach balances the need for planning without getting bogged down in exact estimates.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0F3491B-F6CC-E6D0-7BDD-277C3D2EA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46449-9627-49D8-A7BB-62F07B68A900}" type="slidenum">
              <a:rPr lang="en-IN" smtClean="0"/>
              <a:pPr/>
              <a:t>25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0771724"/>
      </p:ext>
    </p:extLst>
  </p:cSld>
  <p:clrMapOvr>
    <a:masterClrMapping/>
  </p:clrMapOvr>
  <p:transition spd="slow">
    <p:cover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10082-4CFC-4BEE-7F33-DE6701819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360D27D7-1106-FB14-93BB-1010EF1D9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IEMCS Internal | Agile Project Management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27F504-85F9-11D5-ACF5-B545FEF6C4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1752" y="189329"/>
            <a:ext cx="1054596" cy="60148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7B8A8BD-8E1B-68C7-AEFB-55341FD1C998}"/>
              </a:ext>
            </a:extLst>
          </p:cNvPr>
          <p:cNvSpPr txBox="1"/>
          <p:nvPr/>
        </p:nvSpPr>
        <p:spPr>
          <a:xfrm>
            <a:off x="1084731" y="2448847"/>
            <a:ext cx="8892987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6600" dirty="0"/>
              <a:t>Track </a:t>
            </a:r>
            <a:r>
              <a:rPr lang="en-IN" sz="6600" b="1" dirty="0"/>
              <a:t>work progress</a:t>
            </a:r>
            <a:endParaRPr lang="en-US" sz="4400" b="1" dirty="0"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9AEAAE-9A44-FBAD-DE3D-DC2FD1D99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46449-9627-49D8-A7BB-62F07B68A900}" type="slidenum">
              <a:rPr lang="en-IN" smtClean="0"/>
              <a:pPr/>
              <a:t>26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1816270"/>
      </p:ext>
    </p:extLst>
  </p:cSld>
  <p:clrMapOvr>
    <a:masterClrMapping/>
  </p:clrMapOvr>
  <p:transition spd="slow">
    <p:cover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E5D29-8EC1-9376-37DF-4150CC674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6BD6E6EA-BFEB-1306-14BE-5FD48ECE8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IEMCS Internal | Agile Project Management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BC2407-55BB-7950-B036-FAA5EDA1FF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1752" y="189329"/>
            <a:ext cx="1054596" cy="60148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06BDBE9-522D-20B1-1266-5D10836F24BE}"/>
              </a:ext>
            </a:extLst>
          </p:cNvPr>
          <p:cNvSpPr txBox="1"/>
          <p:nvPr/>
        </p:nvSpPr>
        <p:spPr>
          <a:xfrm>
            <a:off x="564778" y="189329"/>
            <a:ext cx="1014804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/>
              <a:t>Burndown &amp; Burnup Charts in Agile</a:t>
            </a:r>
            <a:endParaRPr lang="en-US" sz="2400" b="1" dirty="0"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3F0EB6-48FA-4A8D-8C44-59CBB3AD4BC4}"/>
              </a:ext>
            </a:extLst>
          </p:cNvPr>
          <p:cNvSpPr txBox="1"/>
          <p:nvPr/>
        </p:nvSpPr>
        <p:spPr>
          <a:xfrm>
            <a:off x="645458" y="1120605"/>
            <a:ext cx="640080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Burndown and Burnup charts are </a:t>
            </a:r>
            <a:r>
              <a:rPr lang="en-US" b="1" dirty="0"/>
              <a:t>visual tools</a:t>
            </a:r>
            <a:r>
              <a:rPr lang="en-US" dirty="0"/>
              <a:t> used in Agile to track </a:t>
            </a:r>
            <a:r>
              <a:rPr lang="en-US" b="1" dirty="0"/>
              <a:t>work progress</a:t>
            </a:r>
            <a:r>
              <a:rPr lang="en-US" dirty="0"/>
              <a:t> and help teams understand if they are on track to complete their tasks within a Sprint or project timeline.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21EFDC-0365-8082-A531-6F20BC85C9A6}"/>
              </a:ext>
            </a:extLst>
          </p:cNvPr>
          <p:cNvSpPr txBox="1"/>
          <p:nvPr/>
        </p:nvSpPr>
        <p:spPr>
          <a:xfrm>
            <a:off x="685799" y="2439289"/>
            <a:ext cx="6320118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Use a </a:t>
            </a:r>
            <a:r>
              <a:rPr lang="en-US" sz="2000" b="1" dirty="0"/>
              <a:t>Burndown Chart</a:t>
            </a:r>
            <a:r>
              <a:rPr lang="en-US" sz="2000" dirty="0"/>
              <a:t> for </a:t>
            </a:r>
            <a:r>
              <a:rPr lang="en-US" sz="2000" b="1" dirty="0"/>
              <a:t>Sprint-level tracking</a:t>
            </a:r>
            <a:r>
              <a:rPr lang="en-US" sz="2000" dirty="0"/>
              <a:t> to monitor daily progress.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Use a </a:t>
            </a:r>
            <a:r>
              <a:rPr lang="en-US" sz="2000" b="1" dirty="0"/>
              <a:t>Burnup Chart</a:t>
            </a:r>
            <a:r>
              <a:rPr lang="en-US" sz="2000" dirty="0"/>
              <a:t> for </a:t>
            </a:r>
            <a:r>
              <a:rPr lang="en-US" sz="2000" b="1" dirty="0"/>
              <a:t>project-level tracking</a:t>
            </a:r>
            <a:r>
              <a:rPr lang="en-US" sz="2000" dirty="0"/>
              <a:t>, especially when scope changes frequently.</a:t>
            </a:r>
            <a:endParaRPr lang="en-IN" sz="2000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8B21A2C-7BB6-C73A-C6FD-426C31DA87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8249077"/>
              </p:ext>
            </p:extLst>
          </p:nvPr>
        </p:nvGraphicFramePr>
        <p:xfrm>
          <a:off x="833717" y="4600665"/>
          <a:ext cx="9077139" cy="1536918"/>
        </p:xfrm>
        <a:graphic>
          <a:graphicData uri="http://schemas.openxmlformats.org/drawingml/2006/table">
            <a:tbl>
              <a:tblPr/>
              <a:tblGrid>
                <a:gridCol w="2462633">
                  <a:extLst>
                    <a:ext uri="{9D8B030D-6E8A-4147-A177-3AD203B41FA5}">
                      <a16:colId xmlns:a16="http://schemas.microsoft.com/office/drawing/2014/main" val="1973538364"/>
                    </a:ext>
                  </a:extLst>
                </a:gridCol>
                <a:gridCol w="3234406">
                  <a:extLst>
                    <a:ext uri="{9D8B030D-6E8A-4147-A177-3AD203B41FA5}">
                      <a16:colId xmlns:a16="http://schemas.microsoft.com/office/drawing/2014/main" val="2199065962"/>
                    </a:ext>
                  </a:extLst>
                </a:gridCol>
                <a:gridCol w="3380100">
                  <a:extLst>
                    <a:ext uri="{9D8B030D-6E8A-4147-A177-3AD203B41FA5}">
                      <a16:colId xmlns:a16="http://schemas.microsoft.com/office/drawing/2014/main" val="2780550674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Feature</a:t>
                      </a:r>
                    </a:p>
                  </a:txBody>
                  <a:tcPr marL="72000" marR="7200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Burndown Chart </a:t>
                      </a:r>
                    </a:p>
                  </a:txBody>
                  <a:tcPr marL="72000" marR="7200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Burnup Chart </a:t>
                      </a:r>
                    </a:p>
                  </a:txBody>
                  <a:tcPr marL="72000" marR="7200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5276659"/>
                  </a:ext>
                </a:extLst>
              </a:tr>
              <a:tr h="315313"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Tracks</a:t>
                      </a:r>
                    </a:p>
                  </a:txBody>
                  <a:tcPr marL="72000" marR="7200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Work </a:t>
                      </a:r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remaining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7200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Work </a:t>
                      </a:r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completed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7200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0418127"/>
                  </a:ext>
                </a:extLst>
              </a:tr>
              <a:tr h="320244"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Trend Direction</a:t>
                      </a:r>
                    </a:p>
                  </a:txBody>
                  <a:tcPr marL="72000" marR="7200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Decreasing</a:t>
                      </a:r>
                    </a:p>
                  </a:txBody>
                  <a:tcPr marL="72000" marR="7200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Increasing</a:t>
                      </a:r>
                    </a:p>
                  </a:txBody>
                  <a:tcPr marL="72000" marR="7200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3259176"/>
                  </a:ext>
                </a:extLst>
              </a:tr>
              <a:tr h="316210"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Scope Changes Visibility</a:t>
                      </a:r>
                    </a:p>
                  </a:txBody>
                  <a:tcPr marL="72000" marR="7200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❌ Not visible</a:t>
                      </a:r>
                    </a:p>
                  </a:txBody>
                  <a:tcPr marL="72000" marR="7200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✅ Clearly visible</a:t>
                      </a:r>
                    </a:p>
                  </a:txBody>
                  <a:tcPr marL="72000" marR="7200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5294054"/>
                  </a:ext>
                </a:extLst>
              </a:tr>
              <a:tr h="303211"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Best For</a:t>
                      </a:r>
                    </a:p>
                  </a:txBody>
                  <a:tcPr marL="72000" marR="7200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Monitoring daily Sprint progress</a:t>
                      </a:r>
                    </a:p>
                  </a:txBody>
                  <a:tcPr marL="72000" marR="7200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Tracking overall project delivery</a:t>
                      </a:r>
                    </a:p>
                  </a:txBody>
                  <a:tcPr marL="72000" marR="7200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3090774"/>
                  </a:ext>
                </a:extLst>
              </a:tr>
            </a:tbl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7D9A72B1-861C-48BF-8633-0B61986EF1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5917" y="1165989"/>
            <a:ext cx="5014740" cy="3165902"/>
          </a:xfrm>
          <a:prstGeom prst="rect">
            <a:avLst/>
          </a:prstGeom>
        </p:spPr>
      </p:pic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300154E2-93E8-2BFC-3B87-3735A9295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46449-9627-49D8-A7BB-62F07B68A900}" type="slidenum">
              <a:rPr lang="en-IN" smtClean="0"/>
              <a:pPr/>
              <a:t>27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5371006"/>
      </p:ext>
    </p:extLst>
  </p:cSld>
  <p:clrMapOvr>
    <a:masterClrMapping/>
  </p:clrMapOvr>
  <p:transition spd="slow">
    <p:cover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49F89-9BA3-7A5E-666D-5C39A9DA1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C25BC6B-19E0-ADFB-8F6F-498AB77F5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IEMCS Internal | Agile Project Management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1A6C8A-5449-94DE-66A4-35A41C8093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1752" y="189329"/>
            <a:ext cx="1054596" cy="60148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90970ED-D3B8-314E-8BB8-21352D997DB2}"/>
              </a:ext>
            </a:extLst>
          </p:cNvPr>
          <p:cNvSpPr txBox="1"/>
          <p:nvPr/>
        </p:nvSpPr>
        <p:spPr>
          <a:xfrm>
            <a:off x="564778" y="189329"/>
            <a:ext cx="1014804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/>
              <a:t>What is a Burndown Chart?</a:t>
            </a:r>
            <a:endParaRPr lang="en-US" sz="2400" b="1" dirty="0"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E4346-EFF3-E5FA-59B2-539B6070DF0B}"/>
              </a:ext>
            </a:extLst>
          </p:cNvPr>
          <p:cNvSpPr txBox="1"/>
          <p:nvPr/>
        </p:nvSpPr>
        <p:spPr>
          <a:xfrm>
            <a:off x="636494" y="1015350"/>
            <a:ext cx="6795248" cy="4878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A </a:t>
            </a:r>
            <a:r>
              <a:rPr lang="en-US" b="1" dirty="0"/>
              <a:t>Burndown Chart</a:t>
            </a:r>
            <a:r>
              <a:rPr lang="en-US" dirty="0"/>
              <a:t> shows the remaining work </a:t>
            </a:r>
            <a:r>
              <a:rPr lang="en-US" b="1" dirty="0"/>
              <a:t>decreasing over time</a:t>
            </a:r>
            <a:r>
              <a:rPr lang="en-US" dirty="0"/>
              <a:t> until it reaches zero by the end of the Sprint or project.</a:t>
            </a:r>
          </a:p>
          <a:p>
            <a:r>
              <a:rPr lang="en-US" b="1" dirty="0"/>
              <a:t>Key Components of a Burndown Chart:</a:t>
            </a:r>
          </a:p>
          <a:p>
            <a:r>
              <a:rPr lang="en-US" b="1" dirty="0"/>
              <a:t>X-Axis (Time):</a:t>
            </a:r>
            <a:r>
              <a:rPr lang="en-US" dirty="0"/>
              <a:t> Represents Sprint days or project timeline.</a:t>
            </a:r>
            <a:br>
              <a:rPr lang="en-US" dirty="0"/>
            </a:br>
            <a:r>
              <a:rPr lang="en-US" b="1" dirty="0"/>
              <a:t>Y-Axis (Remaining Work):</a:t>
            </a:r>
            <a:r>
              <a:rPr lang="en-US" dirty="0"/>
              <a:t> Measures Story Points, tasks, or hours.</a:t>
            </a:r>
            <a:br>
              <a:rPr lang="en-US" dirty="0"/>
            </a:br>
            <a:r>
              <a:rPr lang="en-US" b="1" dirty="0"/>
              <a:t>Ideal Trend Line:</a:t>
            </a:r>
            <a:r>
              <a:rPr lang="en-US" dirty="0"/>
              <a:t> A straight line showing expected work completion.</a:t>
            </a:r>
            <a:br>
              <a:rPr lang="en-US" dirty="0"/>
            </a:br>
            <a:r>
              <a:rPr lang="en-US" b="1" dirty="0"/>
              <a:t>Actual Work Line:</a:t>
            </a:r>
            <a:r>
              <a:rPr lang="en-US" dirty="0"/>
              <a:t> Shows real progress; can be above or below the ideal line.</a:t>
            </a:r>
          </a:p>
          <a:p>
            <a:endParaRPr lang="en-US" b="1" dirty="0"/>
          </a:p>
          <a:p>
            <a:r>
              <a:rPr lang="en-US" b="1" dirty="0"/>
              <a:t>Example of Burndown Chart Use Case:</a:t>
            </a:r>
          </a:p>
          <a:p>
            <a:r>
              <a:rPr lang="en-US" b="1" dirty="0"/>
              <a:t>Scenario:</a:t>
            </a:r>
            <a:r>
              <a:rPr lang="en-US" dirty="0"/>
              <a:t> A Sprint starts with </a:t>
            </a:r>
            <a:r>
              <a:rPr lang="en-US" b="1" dirty="0"/>
              <a:t>50 Story Points</a:t>
            </a:r>
            <a:r>
              <a:rPr lang="en-US" dirty="0"/>
              <a:t>. Each day, the team completes some work.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If on track:</a:t>
            </a:r>
            <a:r>
              <a:rPr lang="en-US" dirty="0"/>
              <a:t> The actual work line closely follows the ideal line.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If behind schedule:</a:t>
            </a:r>
            <a:r>
              <a:rPr lang="en-US" dirty="0"/>
              <a:t> The actual line remains above the ideal trend.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If ahead of schedule:</a:t>
            </a:r>
            <a:r>
              <a:rPr lang="en-US" dirty="0"/>
              <a:t> The actual line dips below the ideal trend.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B125D01-098A-6343-202D-38EBC25473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9983" y="1473427"/>
            <a:ext cx="4906365" cy="2802738"/>
          </a:xfrm>
          <a:prstGeom prst="rect">
            <a:avLst/>
          </a:prstGeom>
        </p:spPr>
      </p:pic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26D471C-35B8-3BA4-B527-18ADD9703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46449-9627-49D8-A7BB-62F07B68A900}" type="slidenum">
              <a:rPr lang="en-IN" smtClean="0"/>
              <a:pPr/>
              <a:t>28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0984079"/>
      </p:ext>
    </p:extLst>
  </p:cSld>
  <p:clrMapOvr>
    <a:masterClrMapping/>
  </p:clrMapOvr>
  <p:transition spd="slow">
    <p:cover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7273E-1FE7-3286-17A9-86845BA44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FC0096B5-19C1-C10A-3FE0-C910630FE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IEMCS Internal | Agile Project Management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2C834F-7495-87C2-65C6-F0457B4084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1752" y="189329"/>
            <a:ext cx="1054596" cy="60148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B7C5F65-496D-2630-7157-0A0A2191EAC7}"/>
              </a:ext>
            </a:extLst>
          </p:cNvPr>
          <p:cNvSpPr txBox="1"/>
          <p:nvPr/>
        </p:nvSpPr>
        <p:spPr>
          <a:xfrm>
            <a:off x="564778" y="189329"/>
            <a:ext cx="1014804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/>
              <a:t>What is a Burndown Chart?</a:t>
            </a:r>
            <a:endParaRPr lang="en-US" sz="2400" b="1" dirty="0"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ED2031C-553F-4B74-9117-C0CD7D4A81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778" y="1223428"/>
            <a:ext cx="9157392" cy="457869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C34F5FF-4009-0D97-CA22-6174BAEBDE40}"/>
              </a:ext>
            </a:extLst>
          </p:cNvPr>
          <p:cNvSpPr txBox="1"/>
          <p:nvPr/>
        </p:nvSpPr>
        <p:spPr>
          <a:xfrm>
            <a:off x="8452317" y="1117029"/>
            <a:ext cx="368023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A sample burndown chart for a completed iteration. It shows the remaining effort and tasks for each of the 21 work days of the 1-month iteration.</a:t>
            </a:r>
            <a:endParaRPr lang="en-I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8CA875D-4AB7-D180-AEF6-6D2B00FF9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46449-9627-49D8-A7BB-62F07B68A900}" type="slidenum">
              <a:rPr lang="en-IN" smtClean="0"/>
              <a:pPr/>
              <a:t>29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14173206"/>
      </p:ext>
    </p:extLst>
  </p:cSld>
  <p:clrMapOvr>
    <a:masterClrMapping/>
  </p:clrMapOvr>
  <p:transition spd="slow">
    <p:cover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43602-D0FA-0A28-208F-772EAE197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EC2DFD44-7ABE-9402-5F89-599DC9B66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IEMCS Internal | Agile Project Management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094869-8B1E-105F-3555-D6710F75BC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1752" y="189329"/>
            <a:ext cx="1054596" cy="60148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C7EA562-4262-4694-961C-6D518E6C5E61}"/>
              </a:ext>
            </a:extLst>
          </p:cNvPr>
          <p:cNvSpPr txBox="1"/>
          <p:nvPr/>
        </p:nvSpPr>
        <p:spPr>
          <a:xfrm>
            <a:off x="564778" y="189329"/>
            <a:ext cx="1014804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/>
              <a:t>What is a Burnup Chart?</a:t>
            </a:r>
            <a:endParaRPr lang="en-US" sz="2400" b="1" dirty="0"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42F920-A70D-F8AD-E188-0997E9D3A4C2}"/>
              </a:ext>
            </a:extLst>
          </p:cNvPr>
          <p:cNvSpPr txBox="1"/>
          <p:nvPr/>
        </p:nvSpPr>
        <p:spPr>
          <a:xfrm>
            <a:off x="672353" y="1305341"/>
            <a:ext cx="700143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</a:t>
            </a:r>
            <a:r>
              <a:rPr lang="en-US" b="1" dirty="0"/>
              <a:t>Burnup Chart</a:t>
            </a:r>
            <a:r>
              <a:rPr lang="en-US" dirty="0"/>
              <a:t> shows </a:t>
            </a:r>
            <a:r>
              <a:rPr lang="en-US" b="1" dirty="0"/>
              <a:t>work completed over time</a:t>
            </a:r>
            <a:r>
              <a:rPr lang="en-US" dirty="0"/>
              <a:t>, moving upwards until all tasks are done.</a:t>
            </a:r>
          </a:p>
          <a:p>
            <a:endParaRPr lang="en-US" dirty="0"/>
          </a:p>
          <a:p>
            <a:r>
              <a:rPr lang="en-US" b="1" dirty="0"/>
              <a:t>Key Components of a Burnup Chart:</a:t>
            </a:r>
          </a:p>
          <a:p>
            <a:r>
              <a:rPr lang="en-US" b="1" dirty="0"/>
              <a:t>X-Axis (Time):</a:t>
            </a:r>
            <a:r>
              <a:rPr lang="en-US" dirty="0"/>
              <a:t> Represents Sprint days or project timeline.</a:t>
            </a:r>
            <a:br>
              <a:rPr lang="en-US" dirty="0"/>
            </a:br>
            <a:r>
              <a:rPr lang="en-US" b="1" dirty="0"/>
              <a:t>Y-Axis (Work Done):</a:t>
            </a:r>
            <a:r>
              <a:rPr lang="en-US" dirty="0"/>
              <a:t> Measures completed Story Points, tasks, or hours.</a:t>
            </a:r>
            <a:br>
              <a:rPr lang="en-US" dirty="0"/>
            </a:br>
            <a:r>
              <a:rPr lang="en-US" b="1" dirty="0"/>
              <a:t>Total Scope Line:</a:t>
            </a:r>
            <a:r>
              <a:rPr lang="en-US" dirty="0"/>
              <a:t> Represents the total work planned.</a:t>
            </a:r>
            <a:br>
              <a:rPr lang="en-US" dirty="0"/>
            </a:br>
            <a:r>
              <a:rPr lang="en-US" b="1" dirty="0"/>
              <a:t>Completed Work Line:</a:t>
            </a:r>
            <a:r>
              <a:rPr lang="en-US" dirty="0"/>
              <a:t> Shows progress as the team finishes work.</a:t>
            </a:r>
          </a:p>
          <a:p>
            <a:endParaRPr lang="en-US" dirty="0"/>
          </a:p>
          <a:p>
            <a:r>
              <a:rPr lang="en-US" b="1" dirty="0"/>
              <a:t>Example of Burnup Chart Use Case:</a:t>
            </a:r>
          </a:p>
          <a:p>
            <a:endParaRPr lang="en-US" b="1" dirty="0"/>
          </a:p>
          <a:p>
            <a:r>
              <a:rPr lang="en-US" b="1" dirty="0"/>
              <a:t>Scenario:</a:t>
            </a:r>
            <a:r>
              <a:rPr lang="en-US" dirty="0"/>
              <a:t> A project has </a:t>
            </a:r>
            <a:r>
              <a:rPr lang="en-US" b="1" dirty="0"/>
              <a:t>100 Story Points</a:t>
            </a:r>
            <a:r>
              <a:rPr lang="en-US" dirty="0"/>
              <a:t> to complete.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If work progresses smoothly:</a:t>
            </a:r>
            <a:r>
              <a:rPr lang="en-US" dirty="0"/>
              <a:t> The completed work line steadily moves upwards.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If scope changes:</a:t>
            </a:r>
            <a:r>
              <a:rPr lang="en-US" dirty="0"/>
              <a:t> The total scope line may move up (new tasks added) or down (scope reduced).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7F48FDD-3D57-070A-1DF3-02C27B7FC9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7650" y="1198942"/>
            <a:ext cx="4408698" cy="4451088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34A81D-A3A0-B261-E9D3-5848A559F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46449-9627-49D8-A7BB-62F07B68A900}" type="slidenum">
              <a:rPr lang="en-IN" smtClean="0"/>
              <a:pPr/>
              <a:t>30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01837614"/>
      </p:ext>
    </p:extLst>
  </p:cSld>
  <p:clrMapOvr>
    <a:masterClrMapping/>
  </p:clrMapOvr>
  <p:transition spd="slow">
    <p:cover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212EB-D9E3-5A75-7610-E57B2284F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1FC231A-A2E3-0D37-FD8D-33FE5FF84AD1}"/>
              </a:ext>
            </a:extLst>
          </p:cNvPr>
          <p:cNvSpPr txBox="1"/>
          <p:nvPr/>
        </p:nvSpPr>
        <p:spPr>
          <a:xfrm>
            <a:off x="2557133" y="2743581"/>
            <a:ext cx="671872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5400" b="1" i="0">
                <a:solidFill>
                  <a:srgbClr val="155FCF"/>
                </a:solidFill>
                <a:effectLst/>
                <a:latin typeface="inherit"/>
                <a:cs typeface="Varela Round" panose="020F0502020204030204" pitchFamily="2" charset="-79"/>
              </a:defRPr>
            </a:lvl1pPr>
          </a:lstStyle>
          <a:p>
            <a:pPr algn="ctr"/>
            <a:r>
              <a:rPr lang="en-IN" sz="7200" dirty="0">
                <a:solidFill>
                  <a:schemeClr val="tx1"/>
                </a:solidFill>
                <a:latin typeface="Poppins" panose="00000800000000000000" pitchFamily="2" charset="0"/>
                <a:cs typeface="Poppins" panose="00000800000000000000" pitchFamily="2" charset="0"/>
              </a:rPr>
              <a:t>Thank you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A2BD93-35F2-3120-FA9B-2A4E05887529}"/>
              </a:ext>
            </a:extLst>
          </p:cNvPr>
          <p:cNvSpPr txBox="1"/>
          <p:nvPr/>
        </p:nvSpPr>
        <p:spPr>
          <a:xfrm>
            <a:off x="3007151" y="124433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F3808BB-776C-71D3-9AC1-0C95A4F49E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1752" y="189329"/>
            <a:ext cx="1054596" cy="601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14886"/>
      </p:ext>
    </p:extLst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41041</TotalTime>
  <Words>3521</Words>
  <Application>Microsoft Office PowerPoint</Application>
  <PresentationFormat>Widescreen</PresentationFormat>
  <Paragraphs>386</Paragraphs>
  <Slides>31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0" baseType="lpstr">
      <vt:lpstr>Arial</vt:lpstr>
      <vt:lpstr>Calibri</vt:lpstr>
      <vt:lpstr>Calibri Light</vt:lpstr>
      <vt:lpstr>Modern No. 20</vt:lpstr>
      <vt:lpstr>Poppins</vt:lpstr>
      <vt:lpstr>Poppins ExtraLight</vt:lpstr>
      <vt:lpstr>Poppins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Biswajit Chaki</dc:creator>
  <cp:lastModifiedBy>Biswajit Chaki</cp:lastModifiedBy>
  <cp:revision>115</cp:revision>
  <dcterms:created xsi:type="dcterms:W3CDTF">2024-11-05T05:43:01Z</dcterms:created>
  <dcterms:modified xsi:type="dcterms:W3CDTF">2025-03-04T06:04:11Z</dcterms:modified>
</cp:coreProperties>
</file>