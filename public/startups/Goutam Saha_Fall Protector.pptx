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8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FECE75-F643-4207-AB50-BA59A5D08D90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EC77FF-50DE-42D3-9BB7-AC518EAAA7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986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EC77FF-50DE-42D3-9BB7-AC518EAAA72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0412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EFF0F-7E8B-00D6-6C32-0C893E826A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26AC95-5EAA-14B4-2487-3370759CF2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5A4F8F-A1C3-3CB8-FA1D-E11C9987F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E2AED-4995-4DC5-8221-2CBAF17C007B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C9CF6-6CFE-EB18-25C4-6C915ECE6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D5CE5-905F-02D5-6D1D-3BB9B57BB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A20C-8D9E-4C0A-A9BC-A7B50B76A4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757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8E1B0-509E-BD4A-1F89-E25F9AF12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9E57B-FBA0-F76E-ED6E-F793B2E61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CE10E-CD11-8ED6-C5B5-66C24AF5A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E2AED-4995-4DC5-8221-2CBAF17C007B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D37D4-EDA7-35F5-4D01-625EC6126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B117A-E472-A79C-E5A9-E004A2A04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A20C-8D9E-4C0A-A9BC-A7B50B76A4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0665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56300-328B-6ED7-3295-C40245C0A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A09BA6-BDC2-483B-CE0E-270063ECF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B458A-7DDB-64AB-0D5C-6C64D44C3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E2AED-4995-4DC5-8221-2CBAF17C007B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9FAF0D-78D2-86DC-0197-42506A43E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56812-8259-B946-C8A4-5E8D192BD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A20C-8D9E-4C0A-A9BC-A7B50B76A4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8253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2E0F0-2C2F-5C22-7110-CA03755B5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81378-7E5D-D157-1ABB-F5D90BCE73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4791C6-99F4-1A0B-D7FD-EA6A4C0280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8AB493-469C-F287-B06C-BA11A6104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E2AED-4995-4DC5-8221-2CBAF17C007B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FAD88E-F11C-A44A-BC53-A3363CF13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9829A7-E3F9-A50B-6901-406383FF6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A20C-8D9E-4C0A-A9BC-A7B50B76A4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1830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71E1F-334E-36C1-2A8A-60C6F5C83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932A22-1B2B-3E7C-B702-067D753B68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684CFF-0E53-A81E-58B7-2A44D6C3E2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093D03-65C2-FDD0-235C-7023923A24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129FF5-7F5E-4061-8F25-AF695CA3C3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A6A804-56BE-CB4E-02A1-3591649EF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E2AED-4995-4DC5-8221-2CBAF17C007B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D16E90-40AE-9316-D14B-AC4B48F80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37C77A-892F-2601-3DDE-E5A8DDE40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A20C-8D9E-4C0A-A9BC-A7B50B76A4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1691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E1983-23E2-8D80-F0E1-87C78A57F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0F8A79-0126-B84C-0E80-A7D31F7AD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E2AED-4995-4DC5-8221-2CBAF17C007B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7F2C12-D0E3-C539-8BEC-2CE5B13A1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D5C006-2FAE-AB35-E149-D668735B0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A20C-8D9E-4C0A-A9BC-A7B50B76A4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2305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DE0392-1206-6A39-4DB2-A6FA6F20B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E2AED-4995-4DC5-8221-2CBAF17C007B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9B8D46-9C75-B98E-D6F5-7DB5741EE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06AD68-AEE3-44A7-B57B-5DC24268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A20C-8D9E-4C0A-A9BC-A7B50B76A4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9425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3FF56-AB84-BC22-5761-2CAB8718C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B70FF-C1D4-6BFC-C646-1A9A125C6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882CB4-DDA5-3931-A685-D8C8B1B56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950FFE-BC15-67B5-CF03-883E15988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E2AED-4995-4DC5-8221-2CBAF17C007B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2DBDDD-D36B-F2F8-F442-4452F937A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0B1D1D-9B1E-F762-FC25-EAC479887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A20C-8D9E-4C0A-A9BC-A7B50B76A4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08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CA1B3-E06D-AB68-C0FC-60A3E0078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6A72E8-E0AD-E4E6-A7BC-1EA55AC47F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7C358C-9F01-9E78-0C28-838D1CC84C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4ABBF4-7DF9-99A6-27F5-E69AE16A6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E2AED-4995-4DC5-8221-2CBAF17C007B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EA4C49-1C35-C891-A60E-4AD8FA093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B4D88-2068-0F29-D2E5-585E025F3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A20C-8D9E-4C0A-A9BC-A7B50B76A4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1636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B096F-DA34-9C61-6205-D977202FD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656F65-E8FE-0AB8-1ADF-D3E8C9F83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6DC849-6E2A-561A-318A-C59BB1DAB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E2AED-4995-4DC5-8221-2CBAF17C007B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07851-3A94-3DE9-CA25-DA3AE1E88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C2C74-6777-7731-F631-29092B836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A20C-8D9E-4C0A-A9BC-A7B50B76A4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5156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A27582-D6E2-00C6-E8E1-A5624B78FE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5FD723-98E1-D8A5-62C0-74F091E087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2098DA-95DE-651A-9F5B-7D7E6C2F9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E2AED-4995-4DC5-8221-2CBAF17C007B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A2826-A447-BDF2-4389-ADA87B60E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9FE1A-57BB-3811-9561-87B72BC7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A20C-8D9E-4C0A-A9BC-A7B50B76A4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4961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88FCC6-1CE7-241C-D39D-99D4AE783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BDF67F-4E7C-B000-B280-CCA8D7830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330E8-D7FB-E65F-885B-87EA2D01A7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2E2AED-4995-4DC5-8221-2CBAF17C007B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54789B-8D3C-1212-B357-F2D8B3EF1A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F7C55-C0F5-1AC5-F0BC-1F48FCE4F3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4CA20C-8D9E-4C0A-A9BC-A7B50B76A4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1903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svg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17" Type="http://schemas.openxmlformats.org/officeDocument/2006/relationships/image" Target="../media/image15.svg"/><Relationship Id="rId25" Type="http://schemas.openxmlformats.org/officeDocument/2006/relationships/image" Target="../media/image23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24" Type="http://schemas.openxmlformats.org/officeDocument/2006/relationships/image" Target="../media/image22.pn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23" Type="http://schemas.openxmlformats.org/officeDocument/2006/relationships/image" Target="../media/image21.svg"/><Relationship Id="rId10" Type="http://schemas.openxmlformats.org/officeDocument/2006/relationships/image" Target="../media/image8.png"/><Relationship Id="rId19" Type="http://schemas.openxmlformats.org/officeDocument/2006/relationships/image" Target="../media/image17.sv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2D28542E-573C-FF06-D2B6-94FE2421C30A}"/>
              </a:ext>
            </a:extLst>
          </p:cNvPr>
          <p:cNvSpPr/>
          <p:nvPr/>
        </p:nvSpPr>
        <p:spPr>
          <a:xfrm>
            <a:off x="41175" y="173077"/>
            <a:ext cx="12026348" cy="616226"/>
          </a:xfrm>
          <a:prstGeom prst="round2Same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4694D0-8BD3-FD19-69D3-E86A43CE0F6F}"/>
              </a:ext>
            </a:extLst>
          </p:cNvPr>
          <p:cNvSpPr txBox="1"/>
          <p:nvPr/>
        </p:nvSpPr>
        <p:spPr>
          <a:xfrm>
            <a:off x="440049" y="293372"/>
            <a:ext cx="36615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Idea Title</a:t>
            </a:r>
            <a:r>
              <a:rPr lang="en-IN" sz="1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r>
              <a:rPr lang="en-IN" sz="1400" dirty="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[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Short, catchy name of the idea.</a:t>
            </a:r>
            <a:r>
              <a:rPr lang="en-IN" sz="1400" dirty="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FF8C33-F66F-8E4A-C9C7-6439F6FCF2BC}"/>
              </a:ext>
            </a:extLst>
          </p:cNvPr>
          <p:cNvSpPr txBox="1"/>
          <p:nvPr/>
        </p:nvSpPr>
        <p:spPr>
          <a:xfrm>
            <a:off x="7347727" y="302181"/>
            <a:ext cx="16007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Overall Status: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100AA4C-EB66-D7D9-5529-455F21DF38A9}"/>
              </a:ext>
            </a:extLst>
          </p:cNvPr>
          <p:cNvSpPr/>
          <p:nvPr/>
        </p:nvSpPr>
        <p:spPr>
          <a:xfrm>
            <a:off x="8626255" y="356627"/>
            <a:ext cx="144000" cy="1440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4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29AD148-5BD3-9B6B-040A-CA74414B4D9D}"/>
              </a:ext>
            </a:extLst>
          </p:cNvPr>
          <p:cNvSpPr/>
          <p:nvPr/>
        </p:nvSpPr>
        <p:spPr>
          <a:xfrm>
            <a:off x="-636534" y="6027033"/>
            <a:ext cx="144000" cy="1440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4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74F6BFB-6520-39C9-A967-3B74702B6C9C}"/>
              </a:ext>
            </a:extLst>
          </p:cNvPr>
          <p:cNvSpPr/>
          <p:nvPr/>
        </p:nvSpPr>
        <p:spPr>
          <a:xfrm>
            <a:off x="-636534" y="6283907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4"/>
              </a:solidFill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4557CD2C-42FB-FE8A-46CC-8272111F4DCB}"/>
              </a:ext>
            </a:extLst>
          </p:cNvPr>
          <p:cNvSpPr/>
          <p:nvPr/>
        </p:nvSpPr>
        <p:spPr>
          <a:xfrm>
            <a:off x="-636534" y="5754395"/>
            <a:ext cx="144000" cy="144000"/>
          </a:xfrm>
          <a:prstGeom prst="ellipse">
            <a:avLst/>
          </a:prstGeom>
          <a:solidFill>
            <a:srgbClr val="00B05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b="1"/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B2A43337-93C7-B613-F0A6-E5AD84FFED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1036" y="256558"/>
            <a:ext cx="831572" cy="449265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E0188D09-E78A-2F93-889D-00CB82839EE0}"/>
              </a:ext>
            </a:extLst>
          </p:cNvPr>
          <p:cNvGrpSpPr/>
          <p:nvPr/>
        </p:nvGrpSpPr>
        <p:grpSpPr>
          <a:xfrm>
            <a:off x="119122" y="2697480"/>
            <a:ext cx="6058729" cy="1404261"/>
            <a:chOff x="89452" y="2495945"/>
            <a:chExt cx="5844624" cy="1316805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B5F8AD8-74D3-2141-38F4-A6F3DC44B800}"/>
                </a:ext>
              </a:extLst>
            </p:cNvPr>
            <p:cNvGrpSpPr/>
            <p:nvPr/>
          </p:nvGrpSpPr>
          <p:grpSpPr>
            <a:xfrm>
              <a:off x="89452" y="2495945"/>
              <a:ext cx="5844624" cy="1316805"/>
              <a:chOff x="182874" y="4475117"/>
              <a:chExt cx="6236304" cy="1316805"/>
            </a:xfrm>
          </p:grpSpPr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3B7066D5-BBEF-24CD-630C-B65B984620A9}"/>
                  </a:ext>
                </a:extLst>
              </p:cNvPr>
              <p:cNvSpPr/>
              <p:nvPr/>
            </p:nvSpPr>
            <p:spPr>
              <a:xfrm>
                <a:off x="188796" y="4802235"/>
                <a:ext cx="6230382" cy="989687"/>
              </a:xfrm>
              <a:prstGeom prst="roundRect">
                <a:avLst>
                  <a:gd name="adj" fmla="val 9588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sz="1200" i="1" dirty="0">
                    <a:solidFill>
                      <a:schemeClr val="tx1"/>
                    </a:solidFill>
                  </a:rPr>
                  <a:t>Your unique approach, product, or service idea</a:t>
                </a:r>
                <a:endParaRPr lang="en-IN" sz="1200" dirty="0">
                  <a:solidFill>
                    <a:schemeClr val="tx1"/>
                  </a:solidFill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tx1"/>
                    </a:solidFill>
                  </a:rPr>
                  <a:t>The low cost device consists of an fall detection circuit, IoT and an airbag system packed in a wearable belt that can respond in milliseconds , in case of fall.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tx1"/>
                    </a:solidFill>
                  </a:rPr>
                  <a:t>It is designed for repetitive use by refueling it easily using low cost chemicals. </a:t>
                </a:r>
                <a:endParaRPr lang="en-IN" sz="1200" dirty="0">
                  <a:solidFill>
                    <a:schemeClr val="tx1"/>
                  </a:solidFill>
                </a:endParaRPr>
              </a:p>
              <a:p>
                <a:endParaRPr lang="en-IN" sz="1200" dirty="0"/>
              </a:p>
            </p:txBody>
          </p:sp>
          <p:sp>
            <p:nvSpPr>
              <p:cNvPr id="9" name="Rectangle: Top Corners Rounded 8">
                <a:extLst>
                  <a:ext uri="{FF2B5EF4-FFF2-40B4-BE49-F238E27FC236}">
                    <a16:creationId xmlns:a16="http://schemas.microsoft.com/office/drawing/2014/main" id="{766FEC03-1962-8A47-841F-79A3D8E892F2}"/>
                  </a:ext>
                </a:extLst>
              </p:cNvPr>
              <p:cNvSpPr/>
              <p:nvPr/>
            </p:nvSpPr>
            <p:spPr>
              <a:xfrm>
                <a:off x="182874" y="4475117"/>
                <a:ext cx="6227866" cy="358532"/>
              </a:xfrm>
              <a:prstGeom prst="round2Same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      </a:t>
                </a:r>
                <a:r>
                  <a:rPr lang="en-IN" sz="1600" b="1" dirty="0">
                    <a:solidFill>
                      <a:schemeClr val="accent1">
                        <a:lumMod val="50000"/>
                      </a:schemeClr>
                    </a:solidFill>
                  </a:rPr>
                  <a:t>Proposed solution</a:t>
                </a:r>
              </a:p>
            </p:txBody>
          </p:sp>
        </p:grpSp>
        <p:pic>
          <p:nvPicPr>
            <p:cNvPr id="19" name="Graphic 18" descr="Gears">
              <a:extLst>
                <a:ext uri="{FF2B5EF4-FFF2-40B4-BE49-F238E27FC236}">
                  <a16:creationId xmlns:a16="http://schemas.microsoft.com/office/drawing/2014/main" id="{7B64B2F4-D318-6882-5AE4-2F3395D6BA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64497" y="2527358"/>
              <a:ext cx="295706" cy="295706"/>
            </a:xfrm>
            <a:prstGeom prst="rect">
              <a:avLst/>
            </a:prstGeom>
          </p:spPr>
        </p:pic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EC17DC96-8983-226C-6F89-6D0697F989A8}"/>
              </a:ext>
            </a:extLst>
          </p:cNvPr>
          <p:cNvGrpSpPr/>
          <p:nvPr/>
        </p:nvGrpSpPr>
        <p:grpSpPr>
          <a:xfrm>
            <a:off x="107589" y="919080"/>
            <a:ext cx="6068667" cy="443343"/>
            <a:chOff x="89453" y="4222126"/>
            <a:chExt cx="6068667" cy="443343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6C99D14D-F3E0-E6C5-A2A3-95A802CB6907}"/>
                </a:ext>
              </a:extLst>
            </p:cNvPr>
            <p:cNvSpPr/>
            <p:nvPr/>
          </p:nvSpPr>
          <p:spPr>
            <a:xfrm>
              <a:off x="89453" y="4222126"/>
              <a:ext cx="1796498" cy="443343"/>
            </a:xfrm>
            <a:prstGeom prst="roundRect">
              <a:avLst>
                <a:gd name="adj" fmla="val 10196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b="1" dirty="0">
                  <a:solidFill>
                    <a:schemeClr val="accent1">
                      <a:lumMod val="75000"/>
                    </a:schemeClr>
                  </a:solidFill>
                </a:rPr>
                <a:t>Idea Source</a:t>
              </a:r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A81D0535-6818-3ED2-6F73-2AD9A7435826}"/>
                </a:ext>
              </a:extLst>
            </p:cNvPr>
            <p:cNvSpPr/>
            <p:nvPr/>
          </p:nvSpPr>
          <p:spPr>
            <a:xfrm>
              <a:off x="1775378" y="4222126"/>
              <a:ext cx="4382742" cy="443343"/>
            </a:xfrm>
            <a:prstGeom prst="roundRect">
              <a:avLst>
                <a:gd name="adj" fmla="val 10196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sz="1200" dirty="0">
                  <a:solidFill>
                    <a:schemeClr val="tx1"/>
                  </a:solidFill>
                </a:rPr>
                <a:t>Hackathon, </a:t>
              </a:r>
              <a:r>
                <a:rPr lang="en-IN" sz="1200" dirty="0" err="1">
                  <a:solidFill>
                    <a:schemeClr val="tx1"/>
                  </a:solidFill>
                </a:rPr>
                <a:t>ideathon</a:t>
              </a:r>
              <a:r>
                <a:rPr lang="en-IN" sz="1200" dirty="0">
                  <a:solidFill>
                    <a:schemeClr val="tx1"/>
                  </a:solidFill>
                </a:rPr>
                <a:t>, E-Bengal Summit etc</a:t>
              </a:r>
              <a:r>
                <a:rPr lang="en-IN" sz="1400" b="1" dirty="0">
                  <a:solidFill>
                    <a:schemeClr val="tx1"/>
                  </a:solidFill>
                </a:rPr>
                <a:t>.</a:t>
              </a:r>
              <a:endParaRPr lang="en-IN" sz="1200" dirty="0">
                <a:solidFill>
                  <a:schemeClr val="tx1"/>
                </a:solidFill>
              </a:endParaRPr>
            </a:p>
          </p:txBody>
        </p:sp>
        <p:pic>
          <p:nvPicPr>
            <p:cNvPr id="58" name="Graphic 57" descr="Connections">
              <a:extLst>
                <a:ext uri="{FF2B5EF4-FFF2-40B4-BE49-F238E27FC236}">
                  <a16:creationId xmlns:a16="http://schemas.microsoft.com/office/drawing/2014/main" id="{3DCC90F8-6132-988E-5EC3-225919D105D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48611" y="4324448"/>
              <a:ext cx="306539" cy="306539"/>
            </a:xfrm>
            <a:prstGeom prst="rect">
              <a:avLst/>
            </a:prstGeom>
          </p:spPr>
        </p:pic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A8E026B2-A25D-C9DD-2761-5F6BD30A099C}"/>
              </a:ext>
            </a:extLst>
          </p:cNvPr>
          <p:cNvGrpSpPr/>
          <p:nvPr/>
        </p:nvGrpSpPr>
        <p:grpSpPr>
          <a:xfrm>
            <a:off x="119580" y="919080"/>
            <a:ext cx="6039454" cy="443343"/>
            <a:chOff x="89453" y="4222126"/>
            <a:chExt cx="6068667" cy="443343"/>
          </a:xfrm>
        </p:grpSpPr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495A8CB3-C852-0165-E81A-2F701E3DC220}"/>
                </a:ext>
              </a:extLst>
            </p:cNvPr>
            <p:cNvSpPr/>
            <p:nvPr/>
          </p:nvSpPr>
          <p:spPr>
            <a:xfrm>
              <a:off x="89453" y="4222126"/>
              <a:ext cx="1796498" cy="443343"/>
            </a:xfrm>
            <a:prstGeom prst="roundRect">
              <a:avLst>
                <a:gd name="adj" fmla="val 10196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b="1" dirty="0">
                  <a:solidFill>
                    <a:schemeClr val="accent1">
                      <a:lumMod val="50000"/>
                    </a:schemeClr>
                  </a:solidFill>
                </a:rPr>
                <a:t>Idea Source</a:t>
              </a:r>
            </a:p>
          </p:txBody>
        </p:sp>
        <p:sp>
          <p:nvSpPr>
            <p:cNvPr id="76" name="Rectangle: Rounded Corners 75">
              <a:extLst>
                <a:ext uri="{FF2B5EF4-FFF2-40B4-BE49-F238E27FC236}">
                  <a16:creationId xmlns:a16="http://schemas.microsoft.com/office/drawing/2014/main" id="{3EF140EA-64AC-76CB-9EEE-967EE1613425}"/>
                </a:ext>
              </a:extLst>
            </p:cNvPr>
            <p:cNvSpPr/>
            <p:nvPr/>
          </p:nvSpPr>
          <p:spPr>
            <a:xfrm>
              <a:off x="1775378" y="4222126"/>
              <a:ext cx="4382742" cy="443343"/>
            </a:xfrm>
            <a:prstGeom prst="roundRect">
              <a:avLst>
                <a:gd name="adj" fmla="val 10196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sz="1200" dirty="0">
                  <a:solidFill>
                    <a:schemeClr val="tx1"/>
                  </a:solidFill>
                </a:rPr>
                <a:t>Hackathon, </a:t>
              </a:r>
              <a:r>
                <a:rPr lang="en-IN" sz="1200" dirty="0" err="1">
                  <a:solidFill>
                    <a:schemeClr val="tx1"/>
                  </a:solidFill>
                </a:rPr>
                <a:t>ideathon</a:t>
              </a:r>
              <a:r>
                <a:rPr lang="en-IN" sz="1200" dirty="0">
                  <a:solidFill>
                    <a:schemeClr val="tx1"/>
                  </a:solidFill>
                </a:rPr>
                <a:t>, E-Bengal Summit etc</a:t>
              </a:r>
              <a:r>
                <a:rPr lang="en-IN" sz="1400" b="1" dirty="0">
                  <a:solidFill>
                    <a:schemeClr val="tx1"/>
                  </a:solidFill>
                </a:rPr>
                <a:t>.</a:t>
              </a:r>
              <a:endParaRPr lang="en-IN" sz="1200" dirty="0">
                <a:solidFill>
                  <a:schemeClr val="tx1"/>
                </a:solidFill>
              </a:endParaRPr>
            </a:p>
          </p:txBody>
        </p:sp>
        <p:pic>
          <p:nvPicPr>
            <p:cNvPr id="77" name="Graphic 76" descr="Connections">
              <a:extLst>
                <a:ext uri="{FF2B5EF4-FFF2-40B4-BE49-F238E27FC236}">
                  <a16:creationId xmlns:a16="http://schemas.microsoft.com/office/drawing/2014/main" id="{1A5570D2-726C-6938-524F-36F6ADA70DB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48611" y="4324448"/>
              <a:ext cx="306539" cy="306539"/>
            </a:xfrm>
            <a:prstGeom prst="rect">
              <a:avLst/>
            </a:prstGeom>
          </p:spPr>
        </p:pic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2C8A9048-4D72-2647-2889-62C44B474C88}"/>
              </a:ext>
            </a:extLst>
          </p:cNvPr>
          <p:cNvGrpSpPr/>
          <p:nvPr/>
        </p:nvGrpSpPr>
        <p:grpSpPr>
          <a:xfrm>
            <a:off x="99393" y="1434748"/>
            <a:ext cx="6067838" cy="1387510"/>
            <a:chOff x="110470" y="1464745"/>
            <a:chExt cx="6067838" cy="1387510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0F3F6EC5-2850-75B7-F2C5-7FC8F9FB772C}"/>
                </a:ext>
              </a:extLst>
            </p:cNvPr>
            <p:cNvGrpSpPr/>
            <p:nvPr/>
          </p:nvGrpSpPr>
          <p:grpSpPr>
            <a:xfrm>
              <a:off x="110470" y="1464745"/>
              <a:ext cx="6067838" cy="1387510"/>
              <a:chOff x="173498" y="4475117"/>
              <a:chExt cx="6245680" cy="1387510"/>
            </a:xfrm>
          </p:grpSpPr>
          <p:sp>
            <p:nvSpPr>
              <p:cNvPr id="81" name="Rectangle: Rounded Corners 80">
                <a:extLst>
                  <a:ext uri="{FF2B5EF4-FFF2-40B4-BE49-F238E27FC236}">
                    <a16:creationId xmlns:a16="http://schemas.microsoft.com/office/drawing/2014/main" id="{D6538042-2C9B-81CB-86A0-04B3A187BA2D}"/>
                  </a:ext>
                </a:extLst>
              </p:cNvPr>
              <p:cNvSpPr/>
              <p:nvPr/>
            </p:nvSpPr>
            <p:spPr>
              <a:xfrm>
                <a:off x="173498" y="4793049"/>
                <a:ext cx="6245680" cy="1069578"/>
              </a:xfrm>
              <a:prstGeom prst="roundRect">
                <a:avLst>
                  <a:gd name="adj" fmla="val 9588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sz="1200" i="1" dirty="0">
                    <a:solidFill>
                      <a:schemeClr val="tx1"/>
                    </a:solidFill>
                  </a:rPr>
                  <a:t>What problem are you solving? Why does it matter?</a:t>
                </a:r>
                <a:endParaRPr lang="en-IN" sz="1200" dirty="0">
                  <a:solidFill>
                    <a:schemeClr val="tx1"/>
                  </a:solidFill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i="1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Falling down due to neurological and physical instability are the leading causes of serious injury and mortality in elderly persons, toddlers and patients with neuromuscular disorders.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i="1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This low cost devices includes a IoT system that will help inform destinations in case of fall.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i="1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It is also clinically safe for human &amp; use can be used repeatedly. .</a:t>
                </a:r>
                <a:endParaRPr lang="en-US" sz="1200" dirty="0"/>
              </a:p>
              <a:p>
                <a:br>
                  <a:rPr lang="en-US" sz="1200" dirty="0"/>
                </a:br>
                <a:endParaRPr lang="en-IN" sz="1200" dirty="0"/>
              </a:p>
            </p:txBody>
          </p:sp>
          <p:sp>
            <p:nvSpPr>
              <p:cNvPr id="82" name="Rectangle: Top Corners Rounded 81">
                <a:extLst>
                  <a:ext uri="{FF2B5EF4-FFF2-40B4-BE49-F238E27FC236}">
                    <a16:creationId xmlns:a16="http://schemas.microsoft.com/office/drawing/2014/main" id="{D5D362C6-E147-D67B-55D2-92B4603ECAEE}"/>
                  </a:ext>
                </a:extLst>
              </p:cNvPr>
              <p:cNvSpPr/>
              <p:nvPr/>
            </p:nvSpPr>
            <p:spPr>
              <a:xfrm>
                <a:off x="182874" y="4475117"/>
                <a:ext cx="6227866" cy="358532"/>
              </a:xfrm>
              <a:prstGeom prst="round2Same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      </a:t>
                </a:r>
                <a:r>
                  <a:rPr lang="en-IN" sz="1600" b="1" dirty="0">
                    <a:solidFill>
                      <a:schemeClr val="accent1">
                        <a:lumMod val="50000"/>
                      </a:schemeClr>
                    </a:solidFill>
                  </a:rPr>
                  <a:t>Problem Statement</a:t>
                </a:r>
              </a:p>
            </p:txBody>
          </p:sp>
        </p:grpSp>
        <p:pic>
          <p:nvPicPr>
            <p:cNvPr id="84" name="Graphic 83" descr="Question mark">
              <a:extLst>
                <a:ext uri="{FF2B5EF4-FFF2-40B4-BE49-F238E27FC236}">
                  <a16:creationId xmlns:a16="http://schemas.microsoft.com/office/drawing/2014/main" id="{D7537294-9D33-91AC-D251-EE64B919159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90490" y="1519926"/>
              <a:ext cx="238542" cy="238542"/>
            </a:xfrm>
            <a:prstGeom prst="rect">
              <a:avLst/>
            </a:prstGeom>
          </p:spPr>
        </p:pic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5B0A0A7D-2ACA-FBC7-7A14-DFE13138239B}"/>
              </a:ext>
            </a:extLst>
          </p:cNvPr>
          <p:cNvGrpSpPr/>
          <p:nvPr/>
        </p:nvGrpSpPr>
        <p:grpSpPr>
          <a:xfrm>
            <a:off x="6249464" y="3662051"/>
            <a:ext cx="5855781" cy="1300738"/>
            <a:chOff x="182874" y="4475117"/>
            <a:chExt cx="6236303" cy="1300738"/>
          </a:xfrm>
        </p:grpSpPr>
        <p:sp>
          <p:nvSpPr>
            <p:cNvPr id="107" name="Rectangle: Rounded Corners 106">
              <a:extLst>
                <a:ext uri="{FF2B5EF4-FFF2-40B4-BE49-F238E27FC236}">
                  <a16:creationId xmlns:a16="http://schemas.microsoft.com/office/drawing/2014/main" id="{CC07B2BD-C153-63D8-9AF1-96ACCF0984F9}"/>
                </a:ext>
              </a:extLst>
            </p:cNvPr>
            <p:cNvSpPr/>
            <p:nvPr/>
          </p:nvSpPr>
          <p:spPr>
            <a:xfrm>
              <a:off x="191311" y="4793048"/>
              <a:ext cx="6227866" cy="982807"/>
            </a:xfrm>
            <a:prstGeom prst="roundRect">
              <a:avLst>
                <a:gd name="adj" fmla="val 9588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200" i="1" dirty="0">
                  <a:solidFill>
                    <a:schemeClr val="tx1"/>
                  </a:solidFill>
                </a:rPr>
                <a:t>How easy/difficult is it to build an MVP? (High/Medium/Low).</a:t>
              </a:r>
              <a:endParaRPr lang="en-IN" sz="1200" dirty="0"/>
            </a:p>
          </p:txBody>
        </p:sp>
        <p:sp>
          <p:nvSpPr>
            <p:cNvPr id="108" name="Rectangle: Top Corners Rounded 107">
              <a:extLst>
                <a:ext uri="{FF2B5EF4-FFF2-40B4-BE49-F238E27FC236}">
                  <a16:creationId xmlns:a16="http://schemas.microsoft.com/office/drawing/2014/main" id="{6FA884BC-A872-C403-F60B-7B0233CE9EBF}"/>
                </a:ext>
              </a:extLst>
            </p:cNvPr>
            <p:cNvSpPr/>
            <p:nvPr/>
          </p:nvSpPr>
          <p:spPr>
            <a:xfrm>
              <a:off x="182874" y="4475117"/>
              <a:ext cx="6227866" cy="358532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sz="1600" b="1" dirty="0">
                  <a:solidFill>
                    <a:schemeClr val="accent1">
                      <a:lumMod val="75000"/>
                    </a:schemeClr>
                  </a:solidFill>
                </a:rPr>
                <a:t>      Implementation Feasibility</a:t>
              </a:r>
              <a:endParaRPr lang="en-IN" sz="1600" b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2AEEEFB9-A046-D699-22EA-65AEAD0A272E}"/>
              </a:ext>
            </a:extLst>
          </p:cNvPr>
          <p:cNvGrpSpPr/>
          <p:nvPr/>
        </p:nvGrpSpPr>
        <p:grpSpPr>
          <a:xfrm>
            <a:off x="116087" y="4035743"/>
            <a:ext cx="6051972" cy="1398149"/>
            <a:chOff x="116087" y="4133154"/>
            <a:chExt cx="6051972" cy="1300738"/>
          </a:xfrm>
        </p:grpSpPr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532402E8-E75C-DCB5-48F3-7A475B354862}"/>
                </a:ext>
              </a:extLst>
            </p:cNvPr>
            <p:cNvGrpSpPr/>
            <p:nvPr/>
          </p:nvGrpSpPr>
          <p:grpSpPr>
            <a:xfrm>
              <a:off x="116087" y="4133154"/>
              <a:ext cx="6051972" cy="1300738"/>
              <a:chOff x="181391" y="4475117"/>
              <a:chExt cx="6229349" cy="1300738"/>
            </a:xfrm>
          </p:grpSpPr>
          <p:sp>
            <p:nvSpPr>
              <p:cNvPr id="92" name="Rectangle: Rounded Corners 91">
                <a:extLst>
                  <a:ext uri="{FF2B5EF4-FFF2-40B4-BE49-F238E27FC236}">
                    <a16:creationId xmlns:a16="http://schemas.microsoft.com/office/drawing/2014/main" id="{7F3E16C5-9FAC-0BBD-C306-395015C04E90}"/>
                  </a:ext>
                </a:extLst>
              </p:cNvPr>
              <p:cNvSpPr/>
              <p:nvPr/>
            </p:nvSpPr>
            <p:spPr>
              <a:xfrm>
                <a:off x="181391" y="4821886"/>
                <a:ext cx="6155178" cy="953969"/>
              </a:xfrm>
              <a:prstGeom prst="roundRect">
                <a:avLst>
                  <a:gd name="adj" fmla="val 9588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sz="1200" i="1" dirty="0">
                    <a:solidFill>
                      <a:schemeClr val="tx1"/>
                    </a:solidFill>
                  </a:rPr>
                  <a:t>How can this idea make money? (subscription, ads, B2B, etc.)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i="1" dirty="0">
                    <a:solidFill>
                      <a:schemeClr val="tx1"/>
                    </a:solidFill>
                  </a:rPr>
                  <a:t>This product needs advertisement which will be done using social media sites and Entertainment channels like TVs.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i="1" dirty="0">
                    <a:solidFill>
                      <a:schemeClr val="tx1"/>
                    </a:solidFill>
                  </a:rPr>
                  <a:t>Best option for selling this product will be using B2B mode channels.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i="1" dirty="0">
                    <a:solidFill>
                      <a:schemeClr val="tx1"/>
                    </a:solidFill>
                  </a:rPr>
                  <a:t>For business sustainability, provision of AMC can be another business revenue.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sz="1200" i="1" dirty="0">
                  <a:solidFill>
                    <a:schemeClr val="tx1"/>
                  </a:solidFill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IN" sz="1200" dirty="0"/>
              </a:p>
            </p:txBody>
          </p:sp>
          <p:sp>
            <p:nvSpPr>
              <p:cNvPr id="93" name="Rectangle: Top Corners Rounded 92">
                <a:extLst>
                  <a:ext uri="{FF2B5EF4-FFF2-40B4-BE49-F238E27FC236}">
                    <a16:creationId xmlns:a16="http://schemas.microsoft.com/office/drawing/2014/main" id="{D50FC506-8799-E443-ED07-8665931A02E7}"/>
                  </a:ext>
                </a:extLst>
              </p:cNvPr>
              <p:cNvSpPr/>
              <p:nvPr/>
            </p:nvSpPr>
            <p:spPr>
              <a:xfrm>
                <a:off x="182874" y="4475117"/>
                <a:ext cx="6227866" cy="358532"/>
              </a:xfrm>
              <a:prstGeom prst="round2Same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       </a:t>
                </a:r>
                <a:r>
                  <a:rPr lang="en-IN" sz="1600" b="1" dirty="0">
                    <a:solidFill>
                      <a:schemeClr val="accent1">
                        <a:lumMod val="50000"/>
                      </a:schemeClr>
                    </a:solidFill>
                  </a:rPr>
                  <a:t>Business model</a:t>
                </a:r>
              </a:p>
            </p:txBody>
          </p:sp>
        </p:grpSp>
        <p:pic>
          <p:nvPicPr>
            <p:cNvPr id="120" name="Graphic 119" descr="Business Growth">
              <a:extLst>
                <a:ext uri="{FF2B5EF4-FFF2-40B4-BE49-F238E27FC236}">
                  <a16:creationId xmlns:a16="http://schemas.microsoft.com/office/drawing/2014/main" id="{0E4C1897-7AF7-6456-DCEA-6D5DDC43E49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92454" y="4163550"/>
              <a:ext cx="316373" cy="316373"/>
            </a:xfrm>
            <a:prstGeom prst="rect">
              <a:avLst/>
            </a:prstGeom>
          </p:spPr>
        </p:pic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3F318302-AB24-D73C-2364-4AE8F53E208C}"/>
              </a:ext>
            </a:extLst>
          </p:cNvPr>
          <p:cNvGrpSpPr/>
          <p:nvPr/>
        </p:nvGrpSpPr>
        <p:grpSpPr>
          <a:xfrm>
            <a:off x="6236827" y="2455855"/>
            <a:ext cx="6050531" cy="1141913"/>
            <a:chOff x="6236827" y="2297031"/>
            <a:chExt cx="5955173" cy="1300738"/>
          </a:xfrm>
        </p:grpSpPr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D947AD09-196E-2887-F244-27D9AD506EC4}"/>
                </a:ext>
              </a:extLst>
            </p:cNvPr>
            <p:cNvGrpSpPr/>
            <p:nvPr/>
          </p:nvGrpSpPr>
          <p:grpSpPr>
            <a:xfrm>
              <a:off x="6236827" y="2297031"/>
              <a:ext cx="5955173" cy="1300738"/>
              <a:chOff x="182874" y="4475117"/>
              <a:chExt cx="6342153" cy="1300738"/>
            </a:xfrm>
          </p:grpSpPr>
          <p:sp>
            <p:nvSpPr>
              <p:cNvPr id="97" name="Rectangle: Rounded Corners 96">
                <a:extLst>
                  <a:ext uri="{FF2B5EF4-FFF2-40B4-BE49-F238E27FC236}">
                    <a16:creationId xmlns:a16="http://schemas.microsoft.com/office/drawing/2014/main" id="{E470C04E-856C-7723-2536-63273DBDA4A4}"/>
                  </a:ext>
                </a:extLst>
              </p:cNvPr>
              <p:cNvSpPr/>
              <p:nvPr/>
            </p:nvSpPr>
            <p:spPr>
              <a:xfrm>
                <a:off x="191310" y="4793048"/>
                <a:ext cx="6333717" cy="982807"/>
              </a:xfrm>
              <a:prstGeom prst="roundRect">
                <a:avLst>
                  <a:gd name="adj" fmla="val 9588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sz="1200" i="1" dirty="0">
                    <a:solidFill>
                      <a:schemeClr val="tx1"/>
                    </a:solidFill>
                  </a:rPr>
                  <a:t>What tech, tool, or innovation is used? (AI, IoT, blockchain, etc.)</a:t>
                </a:r>
              </a:p>
              <a:p>
                <a:r>
                  <a:rPr lang="en-US" sz="1200" i="1" dirty="0">
                    <a:solidFill>
                      <a:schemeClr val="tx1"/>
                    </a:solidFill>
                  </a:rPr>
                  <a:t>TECHNOLOGY USED HERE ARE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i="1" dirty="0">
                    <a:solidFill>
                      <a:schemeClr val="tx1"/>
                    </a:solidFill>
                  </a:rPr>
                  <a:t>IoT and some Chemicals that will produce Nitrogen Gas almost instantaneously on demand.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i="1" dirty="0">
                    <a:solidFill>
                      <a:schemeClr val="tx1"/>
                    </a:solidFill>
                  </a:rPr>
                  <a:t>Accelerometer with Networking Hardware &amp; Software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IN" sz="1200" dirty="0"/>
              </a:p>
            </p:txBody>
          </p:sp>
          <p:sp>
            <p:nvSpPr>
              <p:cNvPr id="98" name="Rectangle: Top Corners Rounded 97">
                <a:extLst>
                  <a:ext uri="{FF2B5EF4-FFF2-40B4-BE49-F238E27FC236}">
                    <a16:creationId xmlns:a16="http://schemas.microsoft.com/office/drawing/2014/main" id="{54349C2D-9C1C-15ED-441D-CFF60707B574}"/>
                  </a:ext>
                </a:extLst>
              </p:cNvPr>
              <p:cNvSpPr/>
              <p:nvPr/>
            </p:nvSpPr>
            <p:spPr>
              <a:xfrm>
                <a:off x="182874" y="4475117"/>
                <a:ext cx="6227866" cy="358532"/>
              </a:xfrm>
              <a:prstGeom prst="round2Same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      </a:t>
                </a:r>
                <a:r>
                  <a:rPr lang="en-IN" sz="1600" b="1" dirty="0">
                    <a:solidFill>
                      <a:schemeClr val="accent1">
                        <a:lumMod val="50000"/>
                      </a:schemeClr>
                    </a:solidFill>
                  </a:rPr>
                  <a:t>Technology / Innovation</a:t>
                </a:r>
              </a:p>
            </p:txBody>
          </p:sp>
        </p:grpSp>
        <p:pic>
          <p:nvPicPr>
            <p:cNvPr id="122" name="Graphic 121" descr="Robot">
              <a:extLst>
                <a:ext uri="{FF2B5EF4-FFF2-40B4-BE49-F238E27FC236}">
                  <a16:creationId xmlns:a16="http://schemas.microsoft.com/office/drawing/2014/main" id="{395B7177-3192-4A61-26C7-8F7CA139C94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320138" y="2314221"/>
              <a:ext cx="321335" cy="321335"/>
            </a:xfrm>
            <a:prstGeom prst="rect">
              <a:avLst/>
            </a:prstGeom>
          </p:spPr>
        </p:pic>
      </p:grpSp>
      <p:pic>
        <p:nvPicPr>
          <p:cNvPr id="124" name="Graphic 123" descr="Arrow circle">
            <a:extLst>
              <a:ext uri="{FF2B5EF4-FFF2-40B4-BE49-F238E27FC236}">
                <a16:creationId xmlns:a16="http://schemas.microsoft.com/office/drawing/2014/main" id="{2CE995F4-208F-B647-DDC0-3F1D8B2B971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325100" y="3691892"/>
            <a:ext cx="316373" cy="316373"/>
          </a:xfrm>
          <a:prstGeom prst="rect">
            <a:avLst/>
          </a:prstGeom>
        </p:spPr>
      </p:pic>
      <p:pic>
        <p:nvPicPr>
          <p:cNvPr id="126" name="Graphic 125" descr="Lightbulb and gear">
            <a:extLst>
              <a:ext uri="{FF2B5EF4-FFF2-40B4-BE49-F238E27FC236}">
                <a16:creationId xmlns:a16="http://schemas.microsoft.com/office/drawing/2014/main" id="{3B6CEADB-831B-437A-289D-CE16B4F5CDD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6088" y="240523"/>
            <a:ext cx="367428" cy="367428"/>
          </a:xfrm>
          <a:prstGeom prst="rect">
            <a:avLst/>
          </a:prstGeom>
        </p:spPr>
      </p:pic>
      <p:grpSp>
        <p:nvGrpSpPr>
          <p:cNvPr id="139" name="Group 138">
            <a:extLst>
              <a:ext uri="{FF2B5EF4-FFF2-40B4-BE49-F238E27FC236}">
                <a16:creationId xmlns:a16="http://schemas.microsoft.com/office/drawing/2014/main" id="{FC41C1FA-6415-2E06-3D59-D9271ED3B8CC}"/>
              </a:ext>
            </a:extLst>
          </p:cNvPr>
          <p:cNvGrpSpPr/>
          <p:nvPr/>
        </p:nvGrpSpPr>
        <p:grpSpPr>
          <a:xfrm>
            <a:off x="6240543" y="5025606"/>
            <a:ext cx="5855781" cy="1622843"/>
            <a:chOff x="6240543" y="5025606"/>
            <a:chExt cx="5855781" cy="1622843"/>
          </a:xfrm>
        </p:grpSpPr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56686D6C-5CB1-0E5E-4C56-C0189E305133}"/>
                </a:ext>
              </a:extLst>
            </p:cNvPr>
            <p:cNvGrpSpPr/>
            <p:nvPr/>
          </p:nvGrpSpPr>
          <p:grpSpPr>
            <a:xfrm>
              <a:off x="6240543" y="5025606"/>
              <a:ext cx="5855781" cy="1622843"/>
              <a:chOff x="182874" y="4475117"/>
              <a:chExt cx="6236303" cy="1300738"/>
            </a:xfrm>
          </p:grpSpPr>
          <p:sp>
            <p:nvSpPr>
              <p:cNvPr id="112" name="Rectangle: Rounded Corners 111">
                <a:extLst>
                  <a:ext uri="{FF2B5EF4-FFF2-40B4-BE49-F238E27FC236}">
                    <a16:creationId xmlns:a16="http://schemas.microsoft.com/office/drawing/2014/main" id="{B3B81F36-9628-749A-4C5A-6125E8772AD0}"/>
                  </a:ext>
                </a:extLst>
              </p:cNvPr>
              <p:cNvSpPr/>
              <p:nvPr/>
            </p:nvSpPr>
            <p:spPr>
              <a:xfrm>
                <a:off x="191311" y="4793048"/>
                <a:ext cx="6227866" cy="982807"/>
              </a:xfrm>
              <a:prstGeom prst="roundRect">
                <a:avLst>
                  <a:gd name="adj" fmla="val 9588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sz="1200" i="1" dirty="0">
                    <a:solidFill>
                      <a:schemeClr val="tx1"/>
                    </a:solidFill>
                  </a:rPr>
                  <a:t>Impact on users, society, environment, economy, etc.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tx1"/>
                    </a:solidFill>
                  </a:rPr>
                  <a:t>Users will acquire a life saving device which will be of help to them in case of accidental fall.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tx1"/>
                    </a:solidFill>
                  </a:rPr>
                  <a:t>It will be of low cost device whose cost of reuse is minimum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tx1"/>
                    </a:solidFill>
                  </a:rPr>
                  <a:t>It includes an IoT device for communication to vital sources like house keeper, </a:t>
                </a:r>
                <a:r>
                  <a:rPr lang="en-US" sz="1200">
                    <a:solidFill>
                      <a:schemeClr val="tx1"/>
                    </a:solidFill>
                  </a:rPr>
                  <a:t>hospitals etc.</a:t>
                </a:r>
                <a:endParaRPr lang="en-IN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3" name="Rectangle: Top Corners Rounded 112">
                <a:extLst>
                  <a:ext uri="{FF2B5EF4-FFF2-40B4-BE49-F238E27FC236}">
                    <a16:creationId xmlns:a16="http://schemas.microsoft.com/office/drawing/2014/main" id="{CBD656BE-4DDF-935A-AA5A-E4F31C74B24B}"/>
                  </a:ext>
                </a:extLst>
              </p:cNvPr>
              <p:cNvSpPr/>
              <p:nvPr/>
            </p:nvSpPr>
            <p:spPr>
              <a:xfrm>
                <a:off x="182874" y="4475117"/>
                <a:ext cx="6227866" cy="358532"/>
              </a:xfrm>
              <a:prstGeom prst="round2Same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      </a:t>
                </a:r>
                <a:r>
                  <a:rPr lang="en-IN" sz="1600" b="1" dirty="0">
                    <a:solidFill>
                      <a:schemeClr val="accent1">
                        <a:lumMod val="50000"/>
                      </a:schemeClr>
                    </a:solidFill>
                  </a:rPr>
                  <a:t>Potential impact</a:t>
                </a:r>
              </a:p>
            </p:txBody>
          </p:sp>
        </p:grpSp>
        <p:pic>
          <p:nvPicPr>
            <p:cNvPr id="128" name="Graphic 127" descr="Bullseye">
              <a:extLst>
                <a:ext uri="{FF2B5EF4-FFF2-40B4-BE49-F238E27FC236}">
                  <a16:creationId xmlns:a16="http://schemas.microsoft.com/office/drawing/2014/main" id="{51DCBEBF-EA10-1DBE-E3BF-F9AC21E26F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6320138" y="5103723"/>
              <a:ext cx="287136" cy="287136"/>
            </a:xfrm>
            <a:prstGeom prst="rect">
              <a:avLst/>
            </a:prstGeom>
          </p:spPr>
        </p:pic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2D32762B-5E05-442F-0774-5F25B896ABB7}"/>
              </a:ext>
            </a:extLst>
          </p:cNvPr>
          <p:cNvGrpSpPr/>
          <p:nvPr/>
        </p:nvGrpSpPr>
        <p:grpSpPr>
          <a:xfrm>
            <a:off x="9109710" y="930937"/>
            <a:ext cx="2962711" cy="1300738"/>
            <a:chOff x="9109710" y="930937"/>
            <a:chExt cx="2962711" cy="1300738"/>
          </a:xfrm>
        </p:grpSpPr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45D5B921-3D90-3FAE-E5AD-AB28BEDF0E2D}"/>
                </a:ext>
              </a:extLst>
            </p:cNvPr>
            <p:cNvGrpSpPr/>
            <p:nvPr/>
          </p:nvGrpSpPr>
          <p:grpSpPr>
            <a:xfrm>
              <a:off x="9109710" y="930937"/>
              <a:ext cx="2962711" cy="1300738"/>
              <a:chOff x="44944" y="4475117"/>
              <a:chExt cx="6374233" cy="1300738"/>
            </a:xfrm>
          </p:grpSpPr>
          <p:sp>
            <p:nvSpPr>
              <p:cNvPr id="102" name="Rectangle: Rounded Corners 101">
                <a:extLst>
                  <a:ext uri="{FF2B5EF4-FFF2-40B4-BE49-F238E27FC236}">
                    <a16:creationId xmlns:a16="http://schemas.microsoft.com/office/drawing/2014/main" id="{971A2BD7-072E-1099-2DE4-0EAD8E6B6AC0}"/>
                  </a:ext>
                </a:extLst>
              </p:cNvPr>
              <p:cNvSpPr/>
              <p:nvPr/>
            </p:nvSpPr>
            <p:spPr>
              <a:xfrm>
                <a:off x="44944" y="4755760"/>
                <a:ext cx="6374233" cy="1020095"/>
              </a:xfrm>
              <a:prstGeom prst="roundRect">
                <a:avLst>
                  <a:gd name="adj" fmla="val 9588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sz="1200" i="1" dirty="0">
                    <a:solidFill>
                      <a:schemeClr val="tx1"/>
                    </a:solidFill>
                  </a:rPr>
                  <a:t>List of people who worked on this idea.</a:t>
                </a:r>
                <a:endParaRPr lang="en-IN" sz="1200" i="1" dirty="0">
                  <a:solidFill>
                    <a:schemeClr val="tx1"/>
                  </a:solidFill>
                </a:endParaRPr>
              </a:p>
              <a:p>
                <a:pPr marL="228600" indent="-228600">
                  <a:buFont typeface="+mj-lt"/>
                  <a:buAutoNum type="arabicPeriod"/>
                </a:pPr>
                <a:r>
                  <a:rPr lang="en-US" sz="1200" i="1" dirty="0">
                    <a:solidFill>
                      <a:schemeClr val="tx1"/>
                    </a:solidFill>
                  </a:rPr>
                  <a:t>D</a:t>
                </a:r>
                <a:r>
                  <a:rPr lang="en-IN" sz="1200" i="1" dirty="0">
                    <a:solidFill>
                      <a:schemeClr val="tx1"/>
                    </a:solidFill>
                  </a:rPr>
                  <a:t>r. Goutam </a:t>
                </a:r>
                <a:r>
                  <a:rPr lang="en-IN" sz="1200" i="1" dirty="0" err="1">
                    <a:solidFill>
                      <a:schemeClr val="tx1"/>
                    </a:solidFill>
                  </a:rPr>
                  <a:t>Saha</a:t>
                </a:r>
                <a:endParaRPr lang="en-IN" sz="1200" i="1" dirty="0">
                  <a:solidFill>
                    <a:schemeClr val="tx1"/>
                  </a:solidFill>
                </a:endParaRPr>
              </a:p>
              <a:p>
                <a:pPr marL="228600" indent="-228600">
                  <a:buFont typeface="+mj-lt"/>
                  <a:buAutoNum type="arabicPeriod"/>
                </a:pPr>
                <a:r>
                  <a:rPr lang="en-US" sz="1200" i="1" dirty="0">
                    <a:solidFill>
                      <a:schemeClr val="tx1"/>
                    </a:solidFill>
                  </a:rPr>
                  <a:t>S</a:t>
                </a:r>
                <a:r>
                  <a:rPr lang="en-IN" sz="1200" i="1" dirty="0" err="1">
                    <a:solidFill>
                      <a:schemeClr val="tx1"/>
                    </a:solidFill>
                  </a:rPr>
                  <a:t>ahitya</a:t>
                </a:r>
                <a:r>
                  <a:rPr lang="en-IN" sz="1200" i="1" dirty="0">
                    <a:solidFill>
                      <a:schemeClr val="tx1"/>
                    </a:solidFill>
                  </a:rPr>
                  <a:t> Jana</a:t>
                </a:r>
                <a:endParaRPr lang="en-US" sz="12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3" name="Rectangle: Top Corners Rounded 102">
                <a:extLst>
                  <a:ext uri="{FF2B5EF4-FFF2-40B4-BE49-F238E27FC236}">
                    <a16:creationId xmlns:a16="http://schemas.microsoft.com/office/drawing/2014/main" id="{7F9EE7EC-2478-49FA-ED2C-4A06A5F1A440}"/>
                  </a:ext>
                </a:extLst>
              </p:cNvPr>
              <p:cNvSpPr/>
              <p:nvPr/>
            </p:nvSpPr>
            <p:spPr>
              <a:xfrm>
                <a:off x="182874" y="4475117"/>
                <a:ext cx="6227866" cy="358532"/>
              </a:xfrm>
              <a:prstGeom prst="round2Same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1400" b="1" dirty="0">
                    <a:solidFill>
                      <a:schemeClr val="accent1">
                        <a:lumMod val="75000"/>
                      </a:schemeClr>
                    </a:solidFill>
                  </a:rPr>
                  <a:t>        </a:t>
                </a:r>
                <a:r>
                  <a:rPr lang="en-IN" sz="1400" b="1" dirty="0">
                    <a:solidFill>
                      <a:schemeClr val="accent1">
                        <a:lumMod val="50000"/>
                      </a:schemeClr>
                    </a:solidFill>
                  </a:rPr>
                  <a:t>Team members/ Contributor</a:t>
                </a:r>
              </a:p>
            </p:txBody>
          </p:sp>
        </p:grpSp>
        <p:pic>
          <p:nvPicPr>
            <p:cNvPr id="87" name="Graphic 86" descr="Users">
              <a:extLst>
                <a:ext uri="{FF2B5EF4-FFF2-40B4-BE49-F238E27FC236}">
                  <a16:creationId xmlns:a16="http://schemas.microsoft.com/office/drawing/2014/main" id="{4FB2BB92-9C5C-4E1A-9AA2-DA2D5E6F00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9239735" y="937997"/>
              <a:ext cx="346169" cy="358532"/>
            </a:xfrm>
            <a:prstGeom prst="rect">
              <a:avLst/>
            </a:prstGeom>
          </p:spPr>
        </p:pic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5DCD6849-8C7C-DDDF-FFCE-88037C7F6008}"/>
              </a:ext>
            </a:extLst>
          </p:cNvPr>
          <p:cNvGrpSpPr/>
          <p:nvPr/>
        </p:nvGrpSpPr>
        <p:grpSpPr>
          <a:xfrm>
            <a:off x="6239846" y="931431"/>
            <a:ext cx="2856529" cy="1300738"/>
            <a:chOff x="6239846" y="931431"/>
            <a:chExt cx="2856529" cy="1300738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6E5F8B02-36A6-2DC4-7CB6-C5E2BBE59C7F}"/>
                </a:ext>
              </a:extLst>
            </p:cNvPr>
            <p:cNvGrpSpPr/>
            <p:nvPr/>
          </p:nvGrpSpPr>
          <p:grpSpPr>
            <a:xfrm>
              <a:off x="6239846" y="931431"/>
              <a:ext cx="2856529" cy="1300738"/>
              <a:chOff x="182874" y="4475117"/>
              <a:chExt cx="6236303" cy="1300738"/>
            </a:xfrm>
          </p:grpSpPr>
          <p:sp>
            <p:nvSpPr>
              <p:cNvPr id="72" name="Rectangle: Rounded Corners 71">
                <a:extLst>
                  <a:ext uri="{FF2B5EF4-FFF2-40B4-BE49-F238E27FC236}">
                    <a16:creationId xmlns:a16="http://schemas.microsoft.com/office/drawing/2014/main" id="{C4A10710-5244-45E3-4F1B-2F26099BE83F}"/>
                  </a:ext>
                </a:extLst>
              </p:cNvPr>
              <p:cNvSpPr/>
              <p:nvPr/>
            </p:nvSpPr>
            <p:spPr>
              <a:xfrm>
                <a:off x="191311" y="4793048"/>
                <a:ext cx="6227866" cy="982807"/>
              </a:xfrm>
              <a:prstGeom prst="roundRect">
                <a:avLst>
                  <a:gd name="adj" fmla="val 9588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sz="1200" i="1" dirty="0">
                    <a:solidFill>
                      <a:schemeClr val="tx1"/>
                    </a:solidFill>
                  </a:rPr>
                  <a:t>Your unique approach, product, or service idea</a:t>
                </a:r>
                <a:endParaRPr lang="en-IN" sz="1200" dirty="0">
                  <a:solidFill>
                    <a:schemeClr val="tx1"/>
                  </a:solidFill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tx1"/>
                    </a:solidFill>
                  </a:rPr>
                  <a:t>Target Market will be Hospitals </a:t>
                </a:r>
                <a:r>
                  <a:rPr lang="en-US" sz="1200" dirty="0" err="1">
                    <a:solidFill>
                      <a:schemeClr val="tx1"/>
                    </a:solidFill>
                  </a:rPr>
                  <a:t>etc</a:t>
                </a:r>
                <a:r>
                  <a:rPr lang="en-US" sz="1200" dirty="0">
                    <a:solidFill>
                      <a:schemeClr val="tx1"/>
                    </a:solidFill>
                  </a:rPr>
                  <a:t> through Doctors.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tx1"/>
                    </a:solidFill>
                  </a:rPr>
                  <a:t>B2B organizations as selling platform.</a:t>
                </a:r>
                <a:endParaRPr lang="en-IN" sz="1200" dirty="0">
                  <a:solidFill>
                    <a:schemeClr val="tx1"/>
                  </a:solidFill>
                </a:endParaRPr>
              </a:p>
              <a:p>
                <a:endParaRPr lang="en-IN" sz="1200" dirty="0"/>
              </a:p>
            </p:txBody>
          </p:sp>
          <p:sp>
            <p:nvSpPr>
              <p:cNvPr id="73" name="Rectangle: Top Corners Rounded 72">
                <a:extLst>
                  <a:ext uri="{FF2B5EF4-FFF2-40B4-BE49-F238E27FC236}">
                    <a16:creationId xmlns:a16="http://schemas.microsoft.com/office/drawing/2014/main" id="{40709939-2A50-ABB8-2745-AF5B0AF7D389}"/>
                  </a:ext>
                </a:extLst>
              </p:cNvPr>
              <p:cNvSpPr/>
              <p:nvPr/>
            </p:nvSpPr>
            <p:spPr>
              <a:xfrm>
                <a:off x="182874" y="4475117"/>
                <a:ext cx="6227866" cy="358532"/>
              </a:xfrm>
              <a:prstGeom prst="round2Same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       </a:t>
                </a:r>
                <a:r>
                  <a:rPr lang="en-IN" sz="1600" b="1" dirty="0">
                    <a:solidFill>
                      <a:schemeClr val="accent1">
                        <a:lumMod val="50000"/>
                      </a:schemeClr>
                    </a:solidFill>
                  </a:rPr>
                  <a:t>Target Audience / Market</a:t>
                </a:r>
              </a:p>
            </p:txBody>
          </p:sp>
        </p:grpSp>
        <p:pic>
          <p:nvPicPr>
            <p:cNvPr id="130" name="Graphic 129" descr="Shopping cart">
              <a:extLst>
                <a:ext uri="{FF2B5EF4-FFF2-40B4-BE49-F238E27FC236}">
                  <a16:creationId xmlns:a16="http://schemas.microsoft.com/office/drawing/2014/main" id="{E30960A9-ED5A-B85F-CB7F-8E117A547E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6341219" y="976419"/>
              <a:ext cx="300254" cy="300254"/>
            </a:xfrm>
            <a:prstGeom prst="rect">
              <a:avLst/>
            </a:prstGeom>
          </p:spPr>
        </p:pic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63CD985B-CCC6-76CB-E7AE-C2D6DE2C47BA}"/>
              </a:ext>
            </a:extLst>
          </p:cNvPr>
          <p:cNvGrpSpPr/>
          <p:nvPr/>
        </p:nvGrpSpPr>
        <p:grpSpPr>
          <a:xfrm>
            <a:off x="6236581" y="3620448"/>
            <a:ext cx="5855781" cy="1300738"/>
            <a:chOff x="6249849" y="3631383"/>
            <a:chExt cx="5855781" cy="1300738"/>
          </a:xfrm>
        </p:grpSpPr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47FC1167-BA83-85F7-32E4-6BEC40E97A19}"/>
                </a:ext>
              </a:extLst>
            </p:cNvPr>
            <p:cNvGrpSpPr/>
            <p:nvPr/>
          </p:nvGrpSpPr>
          <p:grpSpPr>
            <a:xfrm>
              <a:off x="6249849" y="3631383"/>
              <a:ext cx="5855781" cy="1300738"/>
              <a:chOff x="182874" y="4475117"/>
              <a:chExt cx="6236303" cy="1300738"/>
            </a:xfrm>
          </p:grpSpPr>
          <p:sp>
            <p:nvSpPr>
              <p:cNvPr id="135" name="Rectangle: Rounded Corners 134">
                <a:extLst>
                  <a:ext uri="{FF2B5EF4-FFF2-40B4-BE49-F238E27FC236}">
                    <a16:creationId xmlns:a16="http://schemas.microsoft.com/office/drawing/2014/main" id="{85D6EBD9-B414-6867-0888-2AF25EF1D8DD}"/>
                  </a:ext>
                </a:extLst>
              </p:cNvPr>
              <p:cNvSpPr/>
              <p:nvPr/>
            </p:nvSpPr>
            <p:spPr>
              <a:xfrm>
                <a:off x="191311" y="4793048"/>
                <a:ext cx="6227866" cy="982807"/>
              </a:xfrm>
              <a:prstGeom prst="roundRect">
                <a:avLst>
                  <a:gd name="adj" fmla="val 9588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sz="1200" i="1" dirty="0">
                    <a:solidFill>
                      <a:schemeClr val="tx1"/>
                    </a:solidFill>
                  </a:rPr>
                  <a:t>How easy/difficult is it to build an MVP? (High/Medium/Low).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tx1"/>
                    </a:solidFill>
                  </a:rPr>
                  <a:t>The output of this project will be a life saving apparatus for senior citizens and Toddlers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tx1"/>
                    </a:solidFill>
                  </a:rPr>
                  <a:t>Manufacturing of this item will be of medium level complexity.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tx1"/>
                    </a:solidFill>
                  </a:rPr>
                  <a:t>Manufacturing cost of single item of this unit will range from Rs. 8000/- to Rs. 15000/- </a:t>
                </a:r>
                <a:endParaRPr lang="en-IN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6" name="Rectangle: Top Corners Rounded 135">
                <a:extLst>
                  <a:ext uri="{FF2B5EF4-FFF2-40B4-BE49-F238E27FC236}">
                    <a16:creationId xmlns:a16="http://schemas.microsoft.com/office/drawing/2014/main" id="{A72E9822-7C81-89D2-AAF6-67E314E3FD77}"/>
                  </a:ext>
                </a:extLst>
              </p:cNvPr>
              <p:cNvSpPr/>
              <p:nvPr/>
            </p:nvSpPr>
            <p:spPr>
              <a:xfrm>
                <a:off x="182874" y="4475117"/>
                <a:ext cx="6227866" cy="358532"/>
              </a:xfrm>
              <a:prstGeom prst="round2Same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      </a:t>
                </a:r>
                <a:r>
                  <a:rPr lang="en-IN" sz="1600" b="1" dirty="0">
                    <a:solidFill>
                      <a:schemeClr val="accent1">
                        <a:lumMod val="50000"/>
                      </a:schemeClr>
                    </a:solidFill>
                  </a:rPr>
                  <a:t>Implementation Feasibility</a:t>
                </a:r>
              </a:p>
            </p:txBody>
          </p:sp>
        </p:grpSp>
        <p:pic>
          <p:nvPicPr>
            <p:cNvPr id="137" name="Graphic 136" descr="Arrow circle">
              <a:extLst>
                <a:ext uri="{FF2B5EF4-FFF2-40B4-BE49-F238E27FC236}">
                  <a16:creationId xmlns:a16="http://schemas.microsoft.com/office/drawing/2014/main" id="{0327BA3C-72CD-594C-D272-E1D4C763677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6325485" y="3661224"/>
              <a:ext cx="316373" cy="316373"/>
            </a:xfrm>
            <a:prstGeom prst="rect">
              <a:avLst/>
            </a:prstGeom>
          </p:spPr>
        </p:pic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1D386C77-75DA-5B73-9A86-80299ED2CED6}"/>
              </a:ext>
            </a:extLst>
          </p:cNvPr>
          <p:cNvGrpSpPr/>
          <p:nvPr/>
        </p:nvGrpSpPr>
        <p:grpSpPr>
          <a:xfrm>
            <a:off x="116699" y="5459548"/>
            <a:ext cx="6042334" cy="1188902"/>
            <a:chOff x="116699" y="5459548"/>
            <a:chExt cx="6042334" cy="1188902"/>
          </a:xfrm>
        </p:grpSpPr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EC953DC8-43FF-62DE-EE0E-A33D7D315185}"/>
                </a:ext>
              </a:extLst>
            </p:cNvPr>
            <p:cNvGrpSpPr/>
            <p:nvPr/>
          </p:nvGrpSpPr>
          <p:grpSpPr>
            <a:xfrm>
              <a:off x="116699" y="5520664"/>
              <a:ext cx="6042334" cy="1127786"/>
              <a:chOff x="182874" y="4475117"/>
              <a:chExt cx="6236303" cy="1300738"/>
            </a:xfrm>
          </p:grpSpPr>
          <p:sp>
            <p:nvSpPr>
              <p:cNvPr id="117" name="Rectangle: Rounded Corners 116">
                <a:extLst>
                  <a:ext uri="{FF2B5EF4-FFF2-40B4-BE49-F238E27FC236}">
                    <a16:creationId xmlns:a16="http://schemas.microsoft.com/office/drawing/2014/main" id="{367794C1-BB02-FCDA-F56F-496A63089DA4}"/>
                  </a:ext>
                </a:extLst>
              </p:cNvPr>
              <p:cNvSpPr/>
              <p:nvPr/>
            </p:nvSpPr>
            <p:spPr>
              <a:xfrm>
                <a:off x="191311" y="4793048"/>
                <a:ext cx="6227866" cy="982807"/>
              </a:xfrm>
              <a:prstGeom prst="roundRect">
                <a:avLst>
                  <a:gd name="adj" fmla="val 9588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sz="1200" i="1" dirty="0">
                    <a:solidFill>
                      <a:schemeClr val="tx1"/>
                    </a:solidFill>
                  </a:rPr>
                  <a:t>Is the solution prototype ready for demo?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i="1" dirty="0">
                    <a:solidFill>
                      <a:schemeClr val="tx1"/>
                    </a:solidFill>
                  </a:rPr>
                  <a:t>At present Fall detection is ready.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i="1" dirty="0">
                    <a:solidFill>
                      <a:schemeClr val="tx1"/>
                    </a:solidFill>
                  </a:rPr>
                  <a:t>IoT and finalization of Airbag model is yet to be done which I shall do during this winter provided sufficient fund is available to me (App. Rs. 20,000/-).</a:t>
                </a:r>
                <a:endParaRPr lang="en-IN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8" name="Rectangle: Top Corners Rounded 117">
                <a:extLst>
                  <a:ext uri="{FF2B5EF4-FFF2-40B4-BE49-F238E27FC236}">
                    <a16:creationId xmlns:a16="http://schemas.microsoft.com/office/drawing/2014/main" id="{573750F0-0BAE-91EA-72C9-B7E9C92445A1}"/>
                  </a:ext>
                </a:extLst>
              </p:cNvPr>
              <p:cNvSpPr/>
              <p:nvPr/>
            </p:nvSpPr>
            <p:spPr>
              <a:xfrm>
                <a:off x="182874" y="4475117"/>
                <a:ext cx="6227866" cy="358532"/>
              </a:xfrm>
              <a:prstGeom prst="round2Same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      </a:t>
                </a:r>
                <a:r>
                  <a:rPr lang="en-IN" sz="1600" b="1" dirty="0">
                    <a:solidFill>
                      <a:schemeClr val="accent1">
                        <a:lumMod val="50000"/>
                      </a:schemeClr>
                    </a:solidFill>
                  </a:rPr>
                  <a:t>Current readiness</a:t>
                </a:r>
              </a:p>
            </p:txBody>
          </p:sp>
        </p:grpSp>
        <p:pic>
          <p:nvPicPr>
            <p:cNvPr id="141" name="Graphic 140" descr="Puzzle pieces">
              <a:extLst>
                <a:ext uri="{FF2B5EF4-FFF2-40B4-BE49-F238E27FC236}">
                  <a16:creationId xmlns:a16="http://schemas.microsoft.com/office/drawing/2014/main" id="{E27C31AF-1B10-DD77-BC12-18C5393793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92454" y="5459548"/>
              <a:ext cx="367428" cy="3674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47714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</TotalTime>
  <Words>537</Words>
  <Application>Microsoft Office PowerPoint</Application>
  <PresentationFormat>Widescreen</PresentationFormat>
  <Paragraphs>51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Poppins</vt:lpstr>
      <vt:lpstr>Office Theme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Biswajit Chaki</dc:creator>
  <cp:lastModifiedBy>Deborsi Basu</cp:lastModifiedBy>
  <cp:revision>25</cp:revision>
  <dcterms:created xsi:type="dcterms:W3CDTF">2025-08-28T04:32:12Z</dcterms:created>
  <dcterms:modified xsi:type="dcterms:W3CDTF">2025-09-24T10:38:04Z</dcterms:modified>
</cp:coreProperties>
</file>