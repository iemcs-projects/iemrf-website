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Oswald Bold" panose="020B0604020202020204" charset="0"/>
      <p:regular r:id="rId3"/>
    </p:embeddedFont>
    <p:embeddedFont>
      <p:font typeface="Somber" panose="020B0604020202020204" charset="0"/>
      <p:regular r:id="rId4"/>
    </p:embeddedFon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Questrial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96" d="100"/>
          <a:sy n="96" d="100"/>
        </p:scale>
        <p:origin x="1704" y="-11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viewProps" Target="viewProps.xml"/><Relationship Id="rId5" Type="http://schemas.openxmlformats.org/officeDocument/2006/relationships/font" Target="fonts/font3.fntdata"/><Relationship Id="rId10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560000" cy="1887452"/>
            <a:chOff x="0" y="0"/>
            <a:chExt cx="2709333" cy="7936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793641"/>
            </a:xfrm>
            <a:custGeom>
              <a:avLst/>
              <a:gdLst/>
              <a:ahLst/>
              <a:cxnLst/>
              <a:rect l="l" t="t" r="r" b="b"/>
              <a:pathLst>
                <a:path w="2709333" h="793641">
                  <a:moveTo>
                    <a:pt x="0" y="0"/>
                  </a:moveTo>
                  <a:lnTo>
                    <a:pt x="2709333" y="0"/>
                  </a:lnTo>
                  <a:lnTo>
                    <a:pt x="2709333" y="793641"/>
                  </a:lnTo>
                  <a:lnTo>
                    <a:pt x="0" y="793641"/>
                  </a:lnTo>
                  <a:close/>
                </a:path>
              </a:pathLst>
            </a:custGeom>
            <a:solidFill>
              <a:srgbClr val="FFD67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709333" cy="822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685843" y="3012417"/>
            <a:ext cx="4763" cy="1420577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473897" y="2451100"/>
            <a:ext cx="423893" cy="423893"/>
          </a:xfrm>
          <a:custGeom>
            <a:avLst/>
            <a:gdLst/>
            <a:ahLst/>
            <a:cxnLst/>
            <a:rect l="l" t="t" r="r" b="b"/>
            <a:pathLst>
              <a:path w="423893" h="423893">
                <a:moveTo>
                  <a:pt x="0" y="0"/>
                </a:moveTo>
                <a:lnTo>
                  <a:pt x="423893" y="0"/>
                </a:lnTo>
                <a:lnTo>
                  <a:pt x="423893" y="423893"/>
                </a:lnTo>
                <a:lnTo>
                  <a:pt x="0" y="423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14164" y="3023146"/>
            <a:ext cx="2865836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15"/>
              </a:lnSpc>
            </a:pPr>
            <a:r>
              <a:rPr lang="en-US" sz="1200" dirty="0"/>
              <a:t>Content creators generate valuable engagement data across platforms, but there is no privacy-safe, transparent system that aggregates this data fairly or rewards creators for their contributions.</a:t>
            </a:r>
            <a:endParaRPr lang="en-US" sz="1199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1415"/>
              </a:lnSpc>
            </a:pPr>
            <a:endParaRPr lang="en-US" sz="1199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72310" y="2509671"/>
            <a:ext cx="2807690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 dirty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PROBLEM STATEMENT</a:t>
            </a:r>
          </a:p>
        </p:txBody>
      </p:sp>
      <p:sp>
        <p:nvSpPr>
          <p:cNvPr id="9" name="AutoShape 9"/>
          <p:cNvSpPr/>
          <p:nvPr/>
        </p:nvSpPr>
        <p:spPr>
          <a:xfrm>
            <a:off x="695368" y="2016040"/>
            <a:ext cx="568174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3267654" y="2776515"/>
            <a:ext cx="15375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1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85843" y="4428232"/>
            <a:ext cx="3761353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4444070" y="2626679"/>
            <a:ext cx="0" cy="1807446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4439307" y="2631442"/>
            <a:ext cx="87802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6283585" y="2640967"/>
            <a:ext cx="87802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7166372" y="2645729"/>
            <a:ext cx="0" cy="3050123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V="1">
            <a:off x="4434545" y="5695852"/>
            <a:ext cx="1240035" cy="9525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4434545" y="4661138"/>
            <a:ext cx="0" cy="1052819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645779" y="4661138"/>
            <a:ext cx="3784003" cy="4762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5674580" y="5485998"/>
            <a:ext cx="329471" cy="419708"/>
          </a:xfrm>
          <a:custGeom>
            <a:avLst/>
            <a:gdLst/>
            <a:ahLst/>
            <a:cxnLst/>
            <a:rect l="l" t="t" r="r" b="b"/>
            <a:pathLst>
              <a:path w="329471" h="419708">
                <a:moveTo>
                  <a:pt x="0" y="0"/>
                </a:moveTo>
                <a:lnTo>
                  <a:pt x="329471" y="0"/>
                </a:lnTo>
                <a:lnTo>
                  <a:pt x="329471" y="419708"/>
                </a:lnTo>
                <a:lnTo>
                  <a:pt x="0" y="419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AutoShape 20"/>
          <p:cNvSpPr/>
          <p:nvPr/>
        </p:nvSpPr>
        <p:spPr>
          <a:xfrm flipV="1">
            <a:off x="6004051" y="5686328"/>
            <a:ext cx="1174852" cy="9525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flipH="1">
            <a:off x="685843" y="2022522"/>
            <a:ext cx="14287" cy="566002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650541" y="4658543"/>
            <a:ext cx="0" cy="191291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650541" y="6556835"/>
            <a:ext cx="421613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6654592" y="6570609"/>
            <a:ext cx="503983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flipH="1">
            <a:off x="7145450" y="6575392"/>
            <a:ext cx="0" cy="160981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>
            <a:off x="2130392" y="8394700"/>
            <a:ext cx="4430646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 flipH="1">
            <a:off x="2125627" y="7149408"/>
            <a:ext cx="0" cy="1034248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8"/>
          <p:cNvSpPr txBox="1"/>
          <p:nvPr/>
        </p:nvSpPr>
        <p:spPr>
          <a:xfrm>
            <a:off x="1103375" y="7133098"/>
            <a:ext cx="5524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5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38371" y="7144646"/>
            <a:ext cx="1482487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655304" y="7139883"/>
            <a:ext cx="35302" cy="2787992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682625" y="9933289"/>
            <a:ext cx="6628145" cy="23511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0" y="10141752"/>
            <a:ext cx="7560000" cy="676005"/>
            <a:chOff x="0" y="0"/>
            <a:chExt cx="2709333" cy="78224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709333" cy="782249"/>
            </a:xfrm>
            <a:custGeom>
              <a:avLst/>
              <a:gdLst/>
              <a:ahLst/>
              <a:cxnLst/>
              <a:rect l="l" t="t" r="r" b="b"/>
              <a:pathLst>
                <a:path w="2709333" h="782249">
                  <a:moveTo>
                    <a:pt x="0" y="0"/>
                  </a:moveTo>
                  <a:lnTo>
                    <a:pt x="2709333" y="0"/>
                  </a:lnTo>
                  <a:lnTo>
                    <a:pt x="2709333" y="782249"/>
                  </a:lnTo>
                  <a:lnTo>
                    <a:pt x="0" y="782249"/>
                  </a:lnTo>
                  <a:close/>
                </a:path>
              </a:pathLst>
            </a:custGeom>
            <a:solidFill>
              <a:srgbClr val="FFD67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2709333" cy="810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6709140" y="8106304"/>
            <a:ext cx="384112" cy="384112"/>
          </a:xfrm>
          <a:custGeom>
            <a:avLst/>
            <a:gdLst/>
            <a:ahLst/>
            <a:cxnLst/>
            <a:rect l="l" t="t" r="r" b="b"/>
            <a:pathLst>
              <a:path w="384112" h="384112">
                <a:moveTo>
                  <a:pt x="0" y="0"/>
                </a:moveTo>
                <a:lnTo>
                  <a:pt x="384111" y="0"/>
                </a:lnTo>
                <a:lnTo>
                  <a:pt x="384111" y="384112"/>
                </a:lnTo>
                <a:lnTo>
                  <a:pt x="0" y="3841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2034905" y="8000343"/>
            <a:ext cx="190974" cy="394779"/>
          </a:xfrm>
          <a:custGeom>
            <a:avLst/>
            <a:gdLst/>
            <a:ahLst/>
            <a:cxnLst/>
            <a:rect l="l" t="t" r="r" b="b"/>
            <a:pathLst>
              <a:path w="190974" h="394779">
                <a:moveTo>
                  <a:pt x="0" y="0"/>
                </a:moveTo>
                <a:lnTo>
                  <a:pt x="190975" y="0"/>
                </a:lnTo>
                <a:lnTo>
                  <a:pt x="190975" y="394779"/>
                </a:lnTo>
                <a:lnTo>
                  <a:pt x="0" y="3947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604377" y="6325742"/>
            <a:ext cx="355965" cy="365262"/>
          </a:xfrm>
          <a:custGeom>
            <a:avLst/>
            <a:gdLst/>
            <a:ahLst/>
            <a:cxnLst/>
            <a:rect l="l" t="t" r="r" b="b"/>
            <a:pathLst>
              <a:path w="355965" h="365262">
                <a:moveTo>
                  <a:pt x="0" y="0"/>
                </a:moveTo>
                <a:lnTo>
                  <a:pt x="355965" y="0"/>
                </a:lnTo>
                <a:lnTo>
                  <a:pt x="355965" y="365263"/>
                </a:lnTo>
                <a:lnTo>
                  <a:pt x="0" y="3652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5028792" y="278856"/>
            <a:ext cx="1949909" cy="1257844"/>
          </a:xfrm>
          <a:custGeom>
            <a:avLst/>
            <a:gdLst/>
            <a:ahLst/>
            <a:cxnLst/>
            <a:rect l="l" t="t" r="r" b="b"/>
            <a:pathLst>
              <a:path w="1615844" h="872976">
                <a:moveTo>
                  <a:pt x="0" y="0"/>
                </a:moveTo>
                <a:lnTo>
                  <a:pt x="1615844" y="0"/>
                </a:lnTo>
                <a:lnTo>
                  <a:pt x="1615844" y="872976"/>
                </a:lnTo>
                <a:lnTo>
                  <a:pt x="0" y="8729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577799" y="623790"/>
            <a:ext cx="4450993" cy="53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3554" spc="-17" dirty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SUPER 40 WINTER INTERNSHIP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77799" y="317500"/>
            <a:ext cx="5379711" cy="203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3"/>
              </a:lnSpc>
            </a:pPr>
            <a:r>
              <a:rPr lang="en-US" sz="1299" spc="201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IEM RESEARCH FOUNDATION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028792" y="2077953"/>
            <a:ext cx="15375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22536" y="4218869"/>
            <a:ext cx="2470716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15"/>
              </a:lnSpc>
            </a:pPr>
            <a:r>
              <a:rPr lang="en-US" sz="1200" dirty="0"/>
              <a:t>Explored federated learning for privacy-preserving analytics, </a:t>
            </a:r>
            <a:r>
              <a:rPr lang="en-US" sz="1200" dirty="0" err="1"/>
              <a:t>blockchain</a:t>
            </a:r>
            <a:r>
              <a:rPr lang="en-US" sz="1200" dirty="0"/>
              <a:t> for transparent reward distribution, and cross-platform engagement analysis to design a fair, decentralized ad preference ecosystem.</a:t>
            </a:r>
            <a:endParaRPr lang="en-US" sz="1199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622536" y="3480110"/>
            <a:ext cx="2433559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RESEARCH AND IDEATION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41117" y="4734671"/>
            <a:ext cx="2807690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VALUE PROPOSITION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0903" y="4788088"/>
            <a:ext cx="5524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659445" y="6384345"/>
            <a:ext cx="2204594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PROPOSED SOLUTION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225880" y="6699220"/>
            <a:ext cx="5524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82359" y="8517310"/>
            <a:ext cx="2485295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POTENTIAL IMPACT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77799" y="1155700"/>
            <a:ext cx="5096781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8"/>
              </a:lnSpc>
            </a:pPr>
            <a:r>
              <a:rPr lang="en-US" sz="2454" spc="-12" dirty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Project </a:t>
            </a:r>
            <a:r>
              <a:rPr lang="en-US" sz="2454" spc="-12" dirty="0" smtClean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– </a:t>
            </a:r>
            <a:r>
              <a:rPr lang="en-US" sz="2454" spc="-12" dirty="0" smtClean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CREABOOST</a:t>
            </a:r>
            <a:r>
              <a:rPr lang="en-US" sz="2454" spc="-12" dirty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: XDC </a:t>
            </a:r>
            <a:r>
              <a:rPr lang="en-US" sz="2454" spc="-12" dirty="0" err="1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Blockchain</a:t>
            </a:r>
            <a:r>
              <a:rPr lang="en-US" sz="2454" spc="-12" dirty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-Based Incentivized Federated Learning </a:t>
            </a:r>
            <a:r>
              <a:rPr lang="en-US" sz="2454" spc="-12" dirty="0" err="1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dApp</a:t>
            </a:r>
            <a:r>
              <a:rPr lang="en-US" sz="2454" spc="-12" dirty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 for Ad Preference</a:t>
            </a:r>
            <a:endParaRPr lang="en-US" sz="2454" spc="-12" dirty="0">
              <a:solidFill>
                <a:srgbClr val="000000"/>
              </a:solidFill>
              <a:latin typeface="Somber"/>
              <a:ea typeface="Somber"/>
              <a:cs typeface="Somber"/>
              <a:sym typeface="Sombe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275F88-3984-8FF1-73AC-60ED5A42E73F}"/>
              </a:ext>
            </a:extLst>
          </p:cNvPr>
          <p:cNvSpPr txBox="1"/>
          <p:nvPr/>
        </p:nvSpPr>
        <p:spPr>
          <a:xfrm>
            <a:off x="524215" y="10265811"/>
            <a:ext cx="63127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spc="56" dirty="0">
                <a:solidFill>
                  <a:srgbClr val="000000"/>
                </a:solidFill>
                <a:latin typeface="Questrial"/>
              </a:rPr>
              <a:t>Godrej Genesis Building, 15th Floor, Unit No. 1502, Sector V, Block EP &amp; GP, Salt Lake City, Kolkata – 700091, West Bengal, India.</a:t>
            </a:r>
            <a:endParaRPr lang="en-IN" sz="1100" b="1" spc="56" dirty="0">
              <a:solidFill>
                <a:srgbClr val="000000"/>
              </a:solidFill>
              <a:latin typeface="Questrial"/>
            </a:endParaRPr>
          </a:p>
        </p:txBody>
      </p:sp>
      <p:sp>
        <p:nvSpPr>
          <p:cNvPr id="44" name="Rectangle 1"/>
          <p:cNvSpPr>
            <a:spLocks noChangeArrowheads="1"/>
          </p:cNvSpPr>
          <p:nvPr/>
        </p:nvSpPr>
        <p:spPr bwMode="auto">
          <a:xfrm>
            <a:off x="1291638" y="5060771"/>
            <a:ext cx="35303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Privacy-focused federated learning with no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dirty="0"/>
              <a:t> </a:t>
            </a:r>
            <a:r>
              <a:rPr lang="en-US" altLang="en-US" sz="1200" dirty="0" smtClean="0"/>
              <a:t> 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personal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Accurate, engagement-driven ad preference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dirty="0"/>
              <a:t>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Rewards for creators based on verified contributions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Transparent, low-cost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blockchain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-based transactions</a:t>
            </a:r>
          </a:p>
        </p:txBody>
      </p:sp>
      <p:sp>
        <p:nvSpPr>
          <p:cNvPr id="49" name="Rectangle 2"/>
          <p:cNvSpPr>
            <a:spLocks noChangeArrowheads="1"/>
          </p:cNvSpPr>
          <p:nvPr/>
        </p:nvSpPr>
        <p:spPr bwMode="auto">
          <a:xfrm>
            <a:off x="2891974" y="6781105"/>
            <a:ext cx="423981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dApp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where users submit engagement metrics from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dirty="0"/>
              <a:t>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YouTube/Facebook/LinkedIn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Federated learning model aggregates insights after five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dirty="0"/>
              <a:t> </a:t>
            </a:r>
            <a:r>
              <a:rPr lang="en-US" altLang="en-US" sz="1200" dirty="0" smtClean="0"/>
              <a:t> 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unique submissions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Advertisers receive real ad preference signals for targeted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dirty="0"/>
              <a:t> </a:t>
            </a:r>
            <a:r>
              <a:rPr lang="en-US" altLang="en-US" sz="1200" dirty="0" smtClean="0"/>
              <a:t> 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campaigns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Creators earn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blockchain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-backed rewards for valid contributions</a:t>
            </a:r>
          </a:p>
        </p:txBody>
      </p:sp>
      <p:sp>
        <p:nvSpPr>
          <p:cNvPr id="50" name="Rectangle 3"/>
          <p:cNvSpPr>
            <a:spLocks noChangeArrowheads="1"/>
          </p:cNvSpPr>
          <p:nvPr/>
        </p:nvSpPr>
        <p:spPr bwMode="auto">
          <a:xfrm>
            <a:off x="850029" y="9020433"/>
            <a:ext cx="490942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Fairer digital advertising ecosystem benefiting creators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Global empowerment of creators through transparent rewards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Encourages adoption of federated learning and XDC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blockchain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technology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211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Oswald Bold</vt:lpstr>
      <vt:lpstr>Somber</vt:lpstr>
      <vt:lpstr>Calibri</vt:lpstr>
      <vt:lpstr>Questrial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Corporate Business Design Roadmap A4 Document</dc:title>
  <dc:creator>Biswajit</dc:creator>
  <cp:lastModifiedBy>USER</cp:lastModifiedBy>
  <cp:revision>9</cp:revision>
  <dcterms:created xsi:type="dcterms:W3CDTF">2006-08-16T00:00:00Z</dcterms:created>
  <dcterms:modified xsi:type="dcterms:W3CDTF">2025-12-02T05:32:08Z</dcterms:modified>
  <dc:identifier>DAG5rlQpufs</dc:identifier>
</cp:coreProperties>
</file>