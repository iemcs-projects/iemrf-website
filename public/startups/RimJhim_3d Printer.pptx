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Lst>
  <p:sldSz cx="7556500" cy="10693400"/>
  <p:notesSz cx="6858000" cy="9144000"/>
  <p:embeddedFontLst>
    <p:embeddedFont>
      <p:font typeface="Calibri" panose="020F0502020204030204" pitchFamily="34" charset="0"/>
      <p:regular r:id="rId3"/>
      <p:bold r:id="rId4"/>
      <p:italic r:id="rId5"/>
      <p:boldItalic r:id="rId6"/>
    </p:embeddedFont>
    <p:embeddedFont>
      <p:font typeface="Oswald Bold" pitchFamily="2" charset="0"/>
      <p:regular r:id="rId7"/>
    </p:embeddedFont>
    <p:embeddedFont>
      <p:font typeface="Questrial" pitchFamily="2" charset="0"/>
      <p:regular r:id="rId8"/>
    </p:embeddedFont>
    <p:embeddedFont>
      <p:font typeface="Somber" pitchFamily="2" charset="0"/>
      <p:regular r:id="rId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100" d="100"/>
          <a:sy n="100" d="100"/>
        </p:scale>
        <p:origin x="1524" y="-4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6.fntdata" /><Relationship Id="rId13" Type="http://schemas.openxmlformats.org/officeDocument/2006/relationships/tableStyles" Target="tableStyles.xml" /><Relationship Id="rId3" Type="http://schemas.openxmlformats.org/officeDocument/2006/relationships/font" Target="fonts/font1.fntdata" /><Relationship Id="rId7" Type="http://schemas.openxmlformats.org/officeDocument/2006/relationships/font" Target="fonts/font5.fntdata" /><Relationship Id="rId12" Type="http://schemas.openxmlformats.org/officeDocument/2006/relationships/theme" Target="theme/theme1.xml" /><Relationship Id="rId2" Type="http://schemas.openxmlformats.org/officeDocument/2006/relationships/slide" Target="slides/slide1.xml" /><Relationship Id="rId1" Type="http://schemas.openxmlformats.org/officeDocument/2006/relationships/slideMaster" Target="slideMasters/slideMaster1.xml" /><Relationship Id="rId6" Type="http://schemas.openxmlformats.org/officeDocument/2006/relationships/font" Target="fonts/font4.fntdata" /><Relationship Id="rId11" Type="http://schemas.openxmlformats.org/officeDocument/2006/relationships/viewProps" Target="viewProps.xml" /><Relationship Id="rId5" Type="http://schemas.openxmlformats.org/officeDocument/2006/relationships/font" Target="fonts/font3.fntdata" /><Relationship Id="rId10" Type="http://schemas.openxmlformats.org/officeDocument/2006/relationships/presProps" Target="presProps.xml" /><Relationship Id="rId4" Type="http://schemas.openxmlformats.org/officeDocument/2006/relationships/font" Target="fonts/font2.fntdata" /><Relationship Id="rId9" Type="http://schemas.openxmlformats.org/officeDocument/2006/relationships/font" Target="fonts/font7.fntdata"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 /><Relationship Id="rId3" Type="http://schemas.openxmlformats.org/officeDocument/2006/relationships/image" Target="../media/image2.svg" /><Relationship Id="rId7" Type="http://schemas.openxmlformats.org/officeDocument/2006/relationships/image" Target="../media/image6.svg" /><Relationship Id="rId12" Type="http://schemas.openxmlformats.org/officeDocument/2006/relationships/image" Target="../media/image11.png" /><Relationship Id="rId2" Type="http://schemas.openxmlformats.org/officeDocument/2006/relationships/image" Target="../media/image1.png" /><Relationship Id="rId1" Type="http://schemas.openxmlformats.org/officeDocument/2006/relationships/slideLayout" Target="../slideLayouts/slideLayout7.xml" /><Relationship Id="rId6" Type="http://schemas.openxmlformats.org/officeDocument/2006/relationships/image" Target="../media/image5.png" /><Relationship Id="rId11" Type="http://schemas.openxmlformats.org/officeDocument/2006/relationships/image" Target="../media/image10.svg" /><Relationship Id="rId5" Type="http://schemas.openxmlformats.org/officeDocument/2006/relationships/image" Target="../media/image4.svg" /><Relationship Id="rId10" Type="http://schemas.openxmlformats.org/officeDocument/2006/relationships/image" Target="../media/image9.png" /><Relationship Id="rId4" Type="http://schemas.openxmlformats.org/officeDocument/2006/relationships/image" Target="../media/image3.png" /><Relationship Id="rId9" Type="http://schemas.openxmlformats.org/officeDocument/2006/relationships/image" Target="../media/image8.svg"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4EA"/>
        </a:solidFill>
        <a:effectLst/>
      </p:bgPr>
    </p:bg>
    <p:spTree>
      <p:nvGrpSpPr>
        <p:cNvPr id="1" name=""/>
        <p:cNvGrpSpPr/>
        <p:nvPr/>
      </p:nvGrpSpPr>
      <p:grpSpPr>
        <a:xfrm>
          <a:off x="0" y="0"/>
          <a:ext cx="0" cy="0"/>
          <a:chOff x="0" y="0"/>
          <a:chExt cx="0" cy="0"/>
        </a:xfrm>
      </p:grpSpPr>
      <p:grpSp>
        <p:nvGrpSpPr>
          <p:cNvPr id="53" name="Group 52"/>
          <p:cNvGrpSpPr/>
          <p:nvPr/>
        </p:nvGrpSpPr>
        <p:grpSpPr>
          <a:xfrm>
            <a:off x="0" y="0"/>
            <a:ext cx="7560000" cy="10817757"/>
            <a:chOff x="0" y="0"/>
            <a:chExt cx="7560000" cy="10817757"/>
          </a:xfrm>
        </p:grpSpPr>
        <p:grpSp>
          <p:nvGrpSpPr>
            <p:cNvPr id="2" name="Group 2"/>
            <p:cNvGrpSpPr/>
            <p:nvPr/>
          </p:nvGrpSpPr>
          <p:grpSpPr>
            <a:xfrm>
              <a:off x="0" y="0"/>
              <a:ext cx="7560000" cy="1887452"/>
              <a:chOff x="0" y="0"/>
              <a:chExt cx="2709333" cy="793641"/>
            </a:xfrm>
          </p:grpSpPr>
          <p:sp>
            <p:nvSpPr>
              <p:cNvPr id="3" name="Freeform 3"/>
              <p:cNvSpPr/>
              <p:nvPr/>
            </p:nvSpPr>
            <p:spPr>
              <a:xfrm>
                <a:off x="0" y="0"/>
                <a:ext cx="2709333" cy="793641"/>
              </a:xfrm>
              <a:custGeom>
                <a:avLst/>
                <a:gdLst/>
                <a:ahLst/>
                <a:cxnLst/>
                <a:rect l="l" t="t" r="r" b="b"/>
                <a:pathLst>
                  <a:path w="2709333" h="793641">
                    <a:moveTo>
                      <a:pt x="0" y="0"/>
                    </a:moveTo>
                    <a:lnTo>
                      <a:pt x="2709333" y="0"/>
                    </a:lnTo>
                    <a:lnTo>
                      <a:pt x="2709333" y="793641"/>
                    </a:lnTo>
                    <a:lnTo>
                      <a:pt x="0" y="793641"/>
                    </a:lnTo>
                    <a:close/>
                  </a:path>
                </a:pathLst>
              </a:custGeom>
              <a:solidFill>
                <a:srgbClr val="FFD67F"/>
              </a:solidFill>
            </p:spPr>
          </p:sp>
          <p:sp>
            <p:nvSpPr>
              <p:cNvPr id="4" name="TextBox 4"/>
              <p:cNvSpPr txBox="1"/>
              <p:nvPr/>
            </p:nvSpPr>
            <p:spPr>
              <a:xfrm>
                <a:off x="0" y="-28575"/>
                <a:ext cx="2709333" cy="822216"/>
              </a:xfrm>
              <a:prstGeom prst="rect">
                <a:avLst/>
              </a:prstGeom>
            </p:spPr>
            <p:txBody>
              <a:bodyPr lIns="50800" tIns="50800" rIns="50800" bIns="50800" rtlCol="0" anchor="ctr"/>
              <a:lstStyle/>
              <a:p>
                <a:pPr algn="ctr">
                  <a:lnSpc>
                    <a:spcPts val="1960"/>
                  </a:lnSpc>
                  <a:spcBef>
                    <a:spcPct val="0"/>
                  </a:spcBef>
                </a:pPr>
                <a:endParaRPr/>
              </a:p>
            </p:txBody>
          </p:sp>
        </p:grpSp>
        <p:sp>
          <p:nvSpPr>
            <p:cNvPr id="5" name="AutoShape 5"/>
            <p:cNvSpPr/>
            <p:nvPr/>
          </p:nvSpPr>
          <p:spPr>
            <a:xfrm>
              <a:off x="685843" y="3012417"/>
              <a:ext cx="4763" cy="1420577"/>
            </a:xfrm>
            <a:prstGeom prst="line">
              <a:avLst/>
            </a:prstGeom>
            <a:ln w="9525" cap="flat">
              <a:solidFill>
                <a:srgbClr val="45A6B0"/>
              </a:solidFill>
              <a:prstDash val="solid"/>
              <a:headEnd type="none" w="sm" len="sm"/>
              <a:tailEnd type="none" w="sm" len="sm"/>
            </a:ln>
          </p:spPr>
        </p:sp>
        <p:sp>
          <p:nvSpPr>
            <p:cNvPr id="6" name="Freeform 6"/>
            <p:cNvSpPr/>
            <p:nvPr/>
          </p:nvSpPr>
          <p:spPr>
            <a:xfrm>
              <a:off x="473897" y="2451100"/>
              <a:ext cx="423893" cy="423893"/>
            </a:xfrm>
            <a:custGeom>
              <a:avLst/>
              <a:gdLst/>
              <a:ahLst/>
              <a:cxnLst/>
              <a:rect l="l" t="t" r="r" b="b"/>
              <a:pathLst>
                <a:path w="423893" h="423893">
                  <a:moveTo>
                    <a:pt x="0" y="0"/>
                  </a:moveTo>
                  <a:lnTo>
                    <a:pt x="423893" y="0"/>
                  </a:lnTo>
                  <a:lnTo>
                    <a:pt x="423893" y="423893"/>
                  </a:lnTo>
                  <a:lnTo>
                    <a:pt x="0" y="42389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TextBox 7"/>
            <p:cNvSpPr txBox="1"/>
            <p:nvPr/>
          </p:nvSpPr>
          <p:spPr>
            <a:xfrm>
              <a:off x="972310" y="2891203"/>
              <a:ext cx="2807690" cy="1256754"/>
            </a:xfrm>
            <a:prstGeom prst="rect">
              <a:avLst/>
            </a:prstGeom>
          </p:spPr>
          <p:txBody>
            <a:bodyPr lIns="0" tIns="0" rIns="0" bIns="0" rtlCol="0" anchor="t">
              <a:spAutoFit/>
            </a:bodyPr>
            <a:lstStyle/>
            <a:p>
              <a:pPr>
                <a:lnSpc>
                  <a:spcPts val="1415"/>
                </a:lnSpc>
              </a:pPr>
              <a:r>
                <a:rPr lang="en-US" sz="1200" dirty="0">
                  <a:latin typeface="Questrial" panose="020B0604020202020204" charset="0"/>
                  <a:ea typeface="Questrial" panose="020B0604020202020204" charset="0"/>
                  <a:cs typeface="Questrial" panose="020B0604020202020204" charset="0"/>
                </a:rPr>
                <a:t>Many institutions and industries struggle to adopt 3D Printing due to limited access, high costs, and lack of technical support. This initiative arises from identifying these key challenges and the need for simple, affordable, and reliable 3D Printing solutions.</a:t>
              </a:r>
              <a:endParaRPr lang="en-US" sz="1199" spc="56" dirty="0">
                <a:solidFill>
                  <a:srgbClr val="000000"/>
                </a:solidFill>
                <a:latin typeface="Questrial" panose="020B0604020202020204" charset="0"/>
                <a:ea typeface="Questrial" panose="020B0604020202020204" charset="0"/>
                <a:cs typeface="Questrial" panose="020B0604020202020204" charset="0"/>
                <a:sym typeface="Questrial"/>
              </a:endParaRPr>
            </a:p>
          </p:txBody>
        </p:sp>
        <p:sp>
          <p:nvSpPr>
            <p:cNvPr id="8" name="TextBox 8"/>
            <p:cNvSpPr txBox="1"/>
            <p:nvPr/>
          </p:nvSpPr>
          <p:spPr>
            <a:xfrm>
              <a:off x="972310" y="2509671"/>
              <a:ext cx="2807690" cy="341376"/>
            </a:xfrm>
            <a:prstGeom prst="rect">
              <a:avLst/>
            </a:prstGeom>
          </p:spPr>
          <p:txBody>
            <a:bodyPr lIns="0" tIns="0" rIns="0" bIns="0" rtlCol="0" anchor="t">
              <a:spAutoFit/>
            </a:bodyPr>
            <a:lstStyle/>
            <a:p>
              <a:pPr algn="l">
                <a:lnSpc>
                  <a:spcPts val="2621"/>
                </a:lnSpc>
              </a:pPr>
              <a:r>
                <a:rPr lang="en-US" sz="2299" dirty="0">
                  <a:solidFill>
                    <a:srgbClr val="000000"/>
                  </a:solidFill>
                  <a:latin typeface="Somber"/>
                  <a:ea typeface="Somber"/>
                  <a:cs typeface="Somber"/>
                  <a:sym typeface="Somber"/>
                </a:rPr>
                <a:t>PROBLEM STATEMENT</a:t>
              </a:r>
            </a:p>
          </p:txBody>
        </p:sp>
        <p:sp>
          <p:nvSpPr>
            <p:cNvPr id="9" name="AutoShape 9"/>
            <p:cNvSpPr/>
            <p:nvPr/>
          </p:nvSpPr>
          <p:spPr>
            <a:xfrm>
              <a:off x="695368" y="2016040"/>
              <a:ext cx="5681744" cy="0"/>
            </a:xfrm>
            <a:prstGeom prst="line">
              <a:avLst/>
            </a:prstGeom>
            <a:ln w="9525" cap="flat">
              <a:solidFill>
                <a:srgbClr val="45A6B0"/>
              </a:solidFill>
              <a:prstDash val="solid"/>
              <a:headEnd type="none" w="sm" len="sm"/>
              <a:tailEnd type="none" w="sm" len="sm"/>
            </a:ln>
          </p:spPr>
        </p:sp>
        <p:sp>
          <p:nvSpPr>
            <p:cNvPr id="10" name="TextBox 10"/>
            <p:cNvSpPr txBox="1"/>
            <p:nvPr/>
          </p:nvSpPr>
          <p:spPr>
            <a:xfrm>
              <a:off x="3267654" y="2776515"/>
              <a:ext cx="1537580" cy="1365162"/>
            </a:xfrm>
            <a:prstGeom prst="rect">
              <a:avLst/>
            </a:prstGeom>
          </p:spPr>
          <p:txBody>
            <a:bodyPr lIns="0" tIns="0" rIns="0" bIns="0" rtlCol="0" anchor="t">
              <a:spAutoFit/>
            </a:bodyPr>
            <a:lstStyle/>
            <a:p>
              <a:pPr algn="ctr">
                <a:lnSpc>
                  <a:spcPts val="10653"/>
                </a:lnSpc>
              </a:pPr>
              <a:r>
                <a:rPr lang="en-US" sz="9344" b="1">
                  <a:solidFill>
                    <a:srgbClr val="FFD67F"/>
                  </a:solidFill>
                  <a:latin typeface="Oswald Bold"/>
                  <a:ea typeface="Oswald Bold"/>
                  <a:cs typeface="Oswald Bold"/>
                  <a:sym typeface="Oswald Bold"/>
                </a:rPr>
                <a:t>1</a:t>
              </a:r>
            </a:p>
          </p:txBody>
        </p:sp>
        <p:sp>
          <p:nvSpPr>
            <p:cNvPr id="11" name="AutoShape 11"/>
            <p:cNvSpPr/>
            <p:nvPr/>
          </p:nvSpPr>
          <p:spPr>
            <a:xfrm>
              <a:off x="685843" y="4428232"/>
              <a:ext cx="3761353" cy="0"/>
            </a:xfrm>
            <a:prstGeom prst="line">
              <a:avLst/>
            </a:prstGeom>
            <a:ln w="9525" cap="flat">
              <a:solidFill>
                <a:srgbClr val="45A6B0"/>
              </a:solidFill>
              <a:prstDash val="solid"/>
              <a:headEnd type="none" w="sm" len="sm"/>
              <a:tailEnd type="none" w="sm" len="sm"/>
            </a:ln>
          </p:spPr>
        </p:sp>
        <p:sp>
          <p:nvSpPr>
            <p:cNvPr id="12" name="AutoShape 12"/>
            <p:cNvSpPr/>
            <p:nvPr/>
          </p:nvSpPr>
          <p:spPr>
            <a:xfrm>
              <a:off x="4444070" y="2626679"/>
              <a:ext cx="0" cy="1807446"/>
            </a:xfrm>
            <a:prstGeom prst="line">
              <a:avLst/>
            </a:prstGeom>
            <a:ln w="9525" cap="flat">
              <a:solidFill>
                <a:srgbClr val="45A6B0"/>
              </a:solidFill>
              <a:prstDash val="solid"/>
              <a:headEnd type="none" w="sm" len="sm"/>
              <a:tailEnd type="none" w="sm" len="sm"/>
            </a:ln>
          </p:spPr>
        </p:sp>
        <p:sp>
          <p:nvSpPr>
            <p:cNvPr id="13" name="AutoShape 13"/>
            <p:cNvSpPr/>
            <p:nvPr/>
          </p:nvSpPr>
          <p:spPr>
            <a:xfrm flipV="1">
              <a:off x="4439307" y="2631442"/>
              <a:ext cx="878024" cy="0"/>
            </a:xfrm>
            <a:prstGeom prst="line">
              <a:avLst/>
            </a:prstGeom>
            <a:ln w="9525" cap="flat">
              <a:solidFill>
                <a:srgbClr val="45A6B0"/>
              </a:solidFill>
              <a:prstDash val="solid"/>
              <a:headEnd type="none" w="sm" len="sm"/>
              <a:tailEnd type="none" w="sm" len="sm"/>
            </a:ln>
          </p:spPr>
        </p:sp>
        <p:sp>
          <p:nvSpPr>
            <p:cNvPr id="14" name="AutoShape 14"/>
            <p:cNvSpPr/>
            <p:nvPr/>
          </p:nvSpPr>
          <p:spPr>
            <a:xfrm flipV="1">
              <a:off x="6283585" y="2640967"/>
              <a:ext cx="878024" cy="0"/>
            </a:xfrm>
            <a:prstGeom prst="line">
              <a:avLst/>
            </a:prstGeom>
            <a:ln w="9525" cap="flat">
              <a:solidFill>
                <a:srgbClr val="45A6B0"/>
              </a:solidFill>
              <a:prstDash val="solid"/>
              <a:headEnd type="none" w="sm" len="sm"/>
              <a:tailEnd type="none" w="sm" len="sm"/>
            </a:ln>
          </p:spPr>
        </p:sp>
        <p:sp>
          <p:nvSpPr>
            <p:cNvPr id="15" name="AutoShape 15"/>
            <p:cNvSpPr/>
            <p:nvPr/>
          </p:nvSpPr>
          <p:spPr>
            <a:xfrm>
              <a:off x="7166372" y="2645729"/>
              <a:ext cx="0" cy="3050123"/>
            </a:xfrm>
            <a:prstGeom prst="line">
              <a:avLst/>
            </a:prstGeom>
            <a:ln w="9525" cap="flat">
              <a:solidFill>
                <a:srgbClr val="45A6B0"/>
              </a:solidFill>
              <a:prstDash val="solid"/>
              <a:headEnd type="none" w="sm" len="sm"/>
              <a:tailEnd type="none" w="sm" len="sm"/>
            </a:ln>
          </p:spPr>
        </p:sp>
        <p:sp>
          <p:nvSpPr>
            <p:cNvPr id="16" name="AutoShape 16"/>
            <p:cNvSpPr/>
            <p:nvPr/>
          </p:nvSpPr>
          <p:spPr>
            <a:xfrm flipV="1">
              <a:off x="4434545" y="5695852"/>
              <a:ext cx="1240035" cy="9525"/>
            </a:xfrm>
            <a:prstGeom prst="line">
              <a:avLst/>
            </a:prstGeom>
            <a:ln w="9525" cap="flat">
              <a:solidFill>
                <a:srgbClr val="45A6B0"/>
              </a:solidFill>
              <a:prstDash val="solid"/>
              <a:headEnd type="none" w="sm" len="sm"/>
              <a:tailEnd type="none" w="sm" len="sm"/>
            </a:ln>
          </p:spPr>
        </p:sp>
        <p:sp>
          <p:nvSpPr>
            <p:cNvPr id="17" name="AutoShape 17"/>
            <p:cNvSpPr/>
            <p:nvPr/>
          </p:nvSpPr>
          <p:spPr>
            <a:xfrm>
              <a:off x="4434545" y="4661138"/>
              <a:ext cx="0" cy="1052819"/>
            </a:xfrm>
            <a:prstGeom prst="line">
              <a:avLst/>
            </a:prstGeom>
            <a:ln w="9525" cap="flat">
              <a:solidFill>
                <a:srgbClr val="45A6B0"/>
              </a:solidFill>
              <a:prstDash val="solid"/>
              <a:headEnd type="none" w="sm" len="sm"/>
              <a:tailEnd type="none" w="sm" len="sm"/>
            </a:ln>
          </p:spPr>
        </p:sp>
        <p:sp>
          <p:nvSpPr>
            <p:cNvPr id="18" name="AutoShape 18"/>
            <p:cNvSpPr/>
            <p:nvPr/>
          </p:nvSpPr>
          <p:spPr>
            <a:xfrm>
              <a:off x="645779" y="4661138"/>
              <a:ext cx="3784003" cy="4762"/>
            </a:xfrm>
            <a:prstGeom prst="line">
              <a:avLst/>
            </a:prstGeom>
            <a:ln w="9525" cap="flat">
              <a:solidFill>
                <a:srgbClr val="45A6B0"/>
              </a:solidFill>
              <a:prstDash val="solid"/>
              <a:headEnd type="none" w="sm" len="sm"/>
              <a:tailEnd type="none" w="sm" len="sm"/>
            </a:ln>
          </p:spPr>
        </p:sp>
        <p:sp>
          <p:nvSpPr>
            <p:cNvPr id="19" name="Freeform 19"/>
            <p:cNvSpPr/>
            <p:nvPr/>
          </p:nvSpPr>
          <p:spPr>
            <a:xfrm>
              <a:off x="5674580" y="5485998"/>
              <a:ext cx="329471" cy="419708"/>
            </a:xfrm>
            <a:custGeom>
              <a:avLst/>
              <a:gdLst/>
              <a:ahLst/>
              <a:cxnLst/>
              <a:rect l="l" t="t" r="r" b="b"/>
              <a:pathLst>
                <a:path w="329471" h="419708">
                  <a:moveTo>
                    <a:pt x="0" y="0"/>
                  </a:moveTo>
                  <a:lnTo>
                    <a:pt x="329471" y="0"/>
                  </a:lnTo>
                  <a:lnTo>
                    <a:pt x="329471" y="419708"/>
                  </a:lnTo>
                  <a:lnTo>
                    <a:pt x="0" y="4197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0" name="AutoShape 20"/>
            <p:cNvSpPr/>
            <p:nvPr/>
          </p:nvSpPr>
          <p:spPr>
            <a:xfrm flipV="1">
              <a:off x="6004051" y="5686328"/>
              <a:ext cx="1174852" cy="9525"/>
            </a:xfrm>
            <a:prstGeom prst="line">
              <a:avLst/>
            </a:prstGeom>
            <a:ln w="9525" cap="flat">
              <a:solidFill>
                <a:srgbClr val="45A6B0"/>
              </a:solidFill>
              <a:prstDash val="solid"/>
              <a:headEnd type="none" w="sm" len="sm"/>
              <a:tailEnd type="none" w="sm" len="sm"/>
            </a:ln>
          </p:spPr>
        </p:sp>
        <p:sp>
          <p:nvSpPr>
            <p:cNvPr id="21" name="AutoShape 21"/>
            <p:cNvSpPr/>
            <p:nvPr/>
          </p:nvSpPr>
          <p:spPr>
            <a:xfrm flipH="1">
              <a:off x="685843" y="2022522"/>
              <a:ext cx="14287" cy="566002"/>
            </a:xfrm>
            <a:prstGeom prst="line">
              <a:avLst/>
            </a:prstGeom>
            <a:ln w="9525" cap="flat">
              <a:solidFill>
                <a:srgbClr val="45A6B0"/>
              </a:solidFill>
              <a:prstDash val="solid"/>
              <a:headEnd type="none" w="sm" len="sm"/>
              <a:tailEnd type="none" w="sm" len="sm"/>
            </a:ln>
          </p:spPr>
        </p:sp>
        <p:sp>
          <p:nvSpPr>
            <p:cNvPr id="22" name="AutoShape 22"/>
            <p:cNvSpPr/>
            <p:nvPr/>
          </p:nvSpPr>
          <p:spPr>
            <a:xfrm>
              <a:off x="650541" y="4658543"/>
              <a:ext cx="0" cy="1912910"/>
            </a:xfrm>
            <a:prstGeom prst="line">
              <a:avLst/>
            </a:prstGeom>
            <a:ln w="9525" cap="flat">
              <a:solidFill>
                <a:srgbClr val="45A6B0"/>
              </a:solidFill>
              <a:prstDash val="solid"/>
              <a:headEnd type="none" w="sm" len="sm"/>
              <a:tailEnd type="none" w="sm" len="sm"/>
            </a:ln>
          </p:spPr>
        </p:sp>
        <p:sp>
          <p:nvSpPr>
            <p:cNvPr id="23" name="AutoShape 23"/>
            <p:cNvSpPr/>
            <p:nvPr/>
          </p:nvSpPr>
          <p:spPr>
            <a:xfrm>
              <a:off x="650541" y="6556835"/>
              <a:ext cx="4216134" cy="0"/>
            </a:xfrm>
            <a:prstGeom prst="line">
              <a:avLst/>
            </a:prstGeom>
            <a:ln w="9525" cap="flat">
              <a:solidFill>
                <a:srgbClr val="45A6B0"/>
              </a:solidFill>
              <a:prstDash val="solid"/>
              <a:headEnd type="none" w="sm" len="sm"/>
              <a:tailEnd type="none" w="sm" len="sm"/>
            </a:ln>
          </p:spPr>
        </p:sp>
        <p:sp>
          <p:nvSpPr>
            <p:cNvPr id="24" name="AutoShape 24"/>
            <p:cNvSpPr/>
            <p:nvPr/>
          </p:nvSpPr>
          <p:spPr>
            <a:xfrm>
              <a:off x="6654592" y="6570609"/>
              <a:ext cx="503983" cy="0"/>
            </a:xfrm>
            <a:prstGeom prst="line">
              <a:avLst/>
            </a:prstGeom>
            <a:ln w="9525" cap="flat">
              <a:solidFill>
                <a:srgbClr val="45A6B0"/>
              </a:solidFill>
              <a:prstDash val="solid"/>
              <a:headEnd type="none" w="sm" len="sm"/>
              <a:tailEnd type="none" w="sm" len="sm"/>
            </a:ln>
          </p:spPr>
        </p:sp>
        <p:sp>
          <p:nvSpPr>
            <p:cNvPr id="25" name="AutoShape 25"/>
            <p:cNvSpPr/>
            <p:nvPr/>
          </p:nvSpPr>
          <p:spPr>
            <a:xfrm flipH="1">
              <a:off x="7145450" y="6575392"/>
              <a:ext cx="0" cy="1609810"/>
            </a:xfrm>
            <a:prstGeom prst="line">
              <a:avLst/>
            </a:prstGeom>
            <a:ln w="9525" cap="flat">
              <a:solidFill>
                <a:srgbClr val="45A6B0"/>
              </a:solidFill>
              <a:prstDash val="solid"/>
              <a:headEnd type="none" w="sm" len="sm"/>
              <a:tailEnd type="none" w="sm" len="sm"/>
            </a:ln>
          </p:spPr>
        </p:sp>
        <p:sp>
          <p:nvSpPr>
            <p:cNvPr id="26" name="AutoShape 26"/>
            <p:cNvSpPr/>
            <p:nvPr/>
          </p:nvSpPr>
          <p:spPr>
            <a:xfrm>
              <a:off x="2130392" y="8394700"/>
              <a:ext cx="4430646" cy="0"/>
            </a:xfrm>
            <a:prstGeom prst="line">
              <a:avLst/>
            </a:prstGeom>
            <a:ln w="9525" cap="flat">
              <a:solidFill>
                <a:srgbClr val="45A6B0"/>
              </a:solidFill>
              <a:prstDash val="solid"/>
              <a:headEnd type="none" w="sm" len="sm"/>
              <a:tailEnd type="none" w="sm" len="sm"/>
            </a:ln>
          </p:spPr>
        </p:sp>
        <p:sp>
          <p:nvSpPr>
            <p:cNvPr id="27" name="AutoShape 27"/>
            <p:cNvSpPr/>
            <p:nvPr/>
          </p:nvSpPr>
          <p:spPr>
            <a:xfrm flipH="1">
              <a:off x="2125627" y="7149408"/>
              <a:ext cx="0" cy="1034248"/>
            </a:xfrm>
            <a:prstGeom prst="line">
              <a:avLst/>
            </a:prstGeom>
            <a:ln w="9525" cap="flat">
              <a:solidFill>
                <a:srgbClr val="45A6B0"/>
              </a:solidFill>
              <a:prstDash val="solid"/>
              <a:headEnd type="none" w="sm" len="sm"/>
              <a:tailEnd type="none" w="sm" len="sm"/>
            </a:ln>
          </p:spPr>
        </p:sp>
        <p:sp>
          <p:nvSpPr>
            <p:cNvPr id="28" name="TextBox 28"/>
            <p:cNvSpPr txBox="1"/>
            <p:nvPr/>
          </p:nvSpPr>
          <p:spPr>
            <a:xfrm>
              <a:off x="1103375" y="7133098"/>
              <a:ext cx="552480" cy="1365162"/>
            </a:xfrm>
            <a:prstGeom prst="rect">
              <a:avLst/>
            </a:prstGeom>
          </p:spPr>
          <p:txBody>
            <a:bodyPr lIns="0" tIns="0" rIns="0" bIns="0" rtlCol="0" anchor="t">
              <a:spAutoFit/>
            </a:bodyPr>
            <a:lstStyle/>
            <a:p>
              <a:pPr algn="ctr">
                <a:lnSpc>
                  <a:spcPts val="10653"/>
                </a:lnSpc>
              </a:pPr>
              <a:r>
                <a:rPr lang="en-US" sz="9344" b="1">
                  <a:solidFill>
                    <a:srgbClr val="FFD67F"/>
                  </a:solidFill>
                  <a:latin typeface="Oswald Bold"/>
                  <a:ea typeface="Oswald Bold"/>
                  <a:cs typeface="Oswald Bold"/>
                  <a:sym typeface="Oswald Bold"/>
                </a:rPr>
                <a:t>5</a:t>
              </a:r>
            </a:p>
          </p:txBody>
        </p:sp>
        <p:sp>
          <p:nvSpPr>
            <p:cNvPr id="29" name="AutoShape 29"/>
            <p:cNvSpPr/>
            <p:nvPr/>
          </p:nvSpPr>
          <p:spPr>
            <a:xfrm>
              <a:off x="638371" y="7144646"/>
              <a:ext cx="1482487" cy="0"/>
            </a:xfrm>
            <a:prstGeom prst="line">
              <a:avLst/>
            </a:prstGeom>
            <a:ln w="9525" cap="flat">
              <a:solidFill>
                <a:srgbClr val="45A6B0"/>
              </a:solidFill>
              <a:prstDash val="solid"/>
              <a:headEnd type="none" w="sm" len="sm"/>
              <a:tailEnd type="none" w="sm" len="sm"/>
            </a:ln>
          </p:spPr>
        </p:sp>
        <p:sp>
          <p:nvSpPr>
            <p:cNvPr id="30" name="AutoShape 30"/>
            <p:cNvSpPr/>
            <p:nvPr/>
          </p:nvSpPr>
          <p:spPr>
            <a:xfrm>
              <a:off x="655304" y="7139883"/>
              <a:ext cx="35302" cy="2787992"/>
            </a:xfrm>
            <a:prstGeom prst="line">
              <a:avLst/>
            </a:prstGeom>
            <a:ln w="9525" cap="flat">
              <a:solidFill>
                <a:srgbClr val="45A6B0"/>
              </a:solidFill>
              <a:prstDash val="solid"/>
              <a:headEnd type="none" w="sm" len="sm"/>
              <a:tailEnd type="none" w="sm" len="sm"/>
            </a:ln>
          </p:spPr>
        </p:sp>
        <p:sp>
          <p:nvSpPr>
            <p:cNvPr id="31" name="AutoShape 31"/>
            <p:cNvSpPr/>
            <p:nvPr/>
          </p:nvSpPr>
          <p:spPr>
            <a:xfrm>
              <a:off x="682625" y="9933289"/>
              <a:ext cx="6628145" cy="23511"/>
            </a:xfrm>
            <a:prstGeom prst="line">
              <a:avLst/>
            </a:prstGeom>
            <a:ln w="9525" cap="flat">
              <a:solidFill>
                <a:srgbClr val="45A6B0"/>
              </a:solidFill>
              <a:prstDash val="solid"/>
              <a:headEnd type="none" w="sm" len="sm"/>
              <a:tailEnd type="none" w="sm" len="sm"/>
            </a:ln>
          </p:spPr>
        </p:sp>
        <p:grpSp>
          <p:nvGrpSpPr>
            <p:cNvPr id="32" name="Group 32"/>
            <p:cNvGrpSpPr/>
            <p:nvPr/>
          </p:nvGrpSpPr>
          <p:grpSpPr>
            <a:xfrm>
              <a:off x="0" y="10141752"/>
              <a:ext cx="7560000" cy="676005"/>
              <a:chOff x="0" y="0"/>
              <a:chExt cx="2709333" cy="782249"/>
            </a:xfrm>
          </p:grpSpPr>
          <p:sp>
            <p:nvSpPr>
              <p:cNvPr id="33" name="Freeform 33"/>
              <p:cNvSpPr/>
              <p:nvPr/>
            </p:nvSpPr>
            <p:spPr>
              <a:xfrm>
                <a:off x="0" y="0"/>
                <a:ext cx="2709333" cy="782249"/>
              </a:xfrm>
              <a:custGeom>
                <a:avLst/>
                <a:gdLst/>
                <a:ahLst/>
                <a:cxnLst/>
                <a:rect l="l" t="t" r="r" b="b"/>
                <a:pathLst>
                  <a:path w="2709333" h="782249">
                    <a:moveTo>
                      <a:pt x="0" y="0"/>
                    </a:moveTo>
                    <a:lnTo>
                      <a:pt x="2709333" y="0"/>
                    </a:lnTo>
                    <a:lnTo>
                      <a:pt x="2709333" y="782249"/>
                    </a:lnTo>
                    <a:lnTo>
                      <a:pt x="0" y="782249"/>
                    </a:lnTo>
                    <a:close/>
                  </a:path>
                </a:pathLst>
              </a:custGeom>
              <a:solidFill>
                <a:srgbClr val="FFD67F"/>
              </a:solidFill>
            </p:spPr>
          </p:sp>
          <p:sp>
            <p:nvSpPr>
              <p:cNvPr id="34" name="TextBox 34"/>
              <p:cNvSpPr txBox="1"/>
              <p:nvPr/>
            </p:nvSpPr>
            <p:spPr>
              <a:xfrm>
                <a:off x="0" y="-28575"/>
                <a:ext cx="2709333" cy="810824"/>
              </a:xfrm>
              <a:prstGeom prst="rect">
                <a:avLst/>
              </a:prstGeom>
            </p:spPr>
            <p:txBody>
              <a:bodyPr lIns="50800" tIns="50800" rIns="50800" bIns="50800" rtlCol="0" anchor="ctr"/>
              <a:lstStyle/>
              <a:p>
                <a:pPr algn="ctr">
                  <a:lnSpc>
                    <a:spcPts val="1960"/>
                  </a:lnSpc>
                  <a:spcBef>
                    <a:spcPct val="0"/>
                  </a:spcBef>
                </a:pPr>
                <a:endParaRPr/>
              </a:p>
            </p:txBody>
          </p:sp>
        </p:grpSp>
        <p:sp>
          <p:nvSpPr>
            <p:cNvPr id="35" name="Freeform 35"/>
            <p:cNvSpPr/>
            <p:nvPr/>
          </p:nvSpPr>
          <p:spPr>
            <a:xfrm>
              <a:off x="6709140" y="8106304"/>
              <a:ext cx="384112" cy="384112"/>
            </a:xfrm>
            <a:custGeom>
              <a:avLst/>
              <a:gdLst/>
              <a:ahLst/>
              <a:cxnLst/>
              <a:rect l="l" t="t" r="r" b="b"/>
              <a:pathLst>
                <a:path w="384112" h="384112">
                  <a:moveTo>
                    <a:pt x="0" y="0"/>
                  </a:moveTo>
                  <a:lnTo>
                    <a:pt x="384111" y="0"/>
                  </a:lnTo>
                  <a:lnTo>
                    <a:pt x="384111" y="384112"/>
                  </a:lnTo>
                  <a:lnTo>
                    <a:pt x="0" y="38411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36" name="Freeform 36"/>
            <p:cNvSpPr/>
            <p:nvPr/>
          </p:nvSpPr>
          <p:spPr>
            <a:xfrm>
              <a:off x="2034905" y="8000343"/>
              <a:ext cx="190974" cy="394779"/>
            </a:xfrm>
            <a:custGeom>
              <a:avLst/>
              <a:gdLst/>
              <a:ahLst/>
              <a:cxnLst/>
              <a:rect l="l" t="t" r="r" b="b"/>
              <a:pathLst>
                <a:path w="190974" h="394779">
                  <a:moveTo>
                    <a:pt x="0" y="0"/>
                  </a:moveTo>
                  <a:lnTo>
                    <a:pt x="190975" y="0"/>
                  </a:lnTo>
                  <a:lnTo>
                    <a:pt x="190975" y="394779"/>
                  </a:lnTo>
                  <a:lnTo>
                    <a:pt x="0" y="39477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37" name="Freeform 37"/>
            <p:cNvSpPr/>
            <p:nvPr/>
          </p:nvSpPr>
          <p:spPr>
            <a:xfrm>
              <a:off x="604377" y="6325742"/>
              <a:ext cx="355965" cy="365262"/>
            </a:xfrm>
            <a:custGeom>
              <a:avLst/>
              <a:gdLst/>
              <a:ahLst/>
              <a:cxnLst/>
              <a:rect l="l" t="t" r="r" b="b"/>
              <a:pathLst>
                <a:path w="355965" h="365262">
                  <a:moveTo>
                    <a:pt x="0" y="0"/>
                  </a:moveTo>
                  <a:lnTo>
                    <a:pt x="355965" y="0"/>
                  </a:lnTo>
                  <a:lnTo>
                    <a:pt x="355965" y="365263"/>
                  </a:lnTo>
                  <a:lnTo>
                    <a:pt x="0" y="36526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38" name="Freeform 38"/>
            <p:cNvSpPr/>
            <p:nvPr/>
          </p:nvSpPr>
          <p:spPr>
            <a:xfrm>
              <a:off x="5028792" y="421581"/>
              <a:ext cx="1949909" cy="1257844"/>
            </a:xfrm>
            <a:custGeom>
              <a:avLst/>
              <a:gdLst/>
              <a:ahLst/>
              <a:cxnLst/>
              <a:rect l="l" t="t" r="r" b="b"/>
              <a:pathLst>
                <a:path w="1615844" h="872976">
                  <a:moveTo>
                    <a:pt x="0" y="0"/>
                  </a:moveTo>
                  <a:lnTo>
                    <a:pt x="1615844" y="0"/>
                  </a:lnTo>
                  <a:lnTo>
                    <a:pt x="1615844" y="872976"/>
                  </a:lnTo>
                  <a:lnTo>
                    <a:pt x="0" y="872976"/>
                  </a:lnTo>
                  <a:lnTo>
                    <a:pt x="0" y="0"/>
                  </a:lnTo>
                  <a:close/>
                </a:path>
              </a:pathLst>
            </a:custGeom>
            <a:blipFill>
              <a:blip r:embed="rId12"/>
              <a:stretch>
                <a:fillRect/>
              </a:stretch>
            </a:blipFill>
          </p:spPr>
        </p:sp>
        <p:sp>
          <p:nvSpPr>
            <p:cNvPr id="39" name="TextBox 39"/>
            <p:cNvSpPr txBox="1"/>
            <p:nvPr/>
          </p:nvSpPr>
          <p:spPr>
            <a:xfrm>
              <a:off x="577799" y="765525"/>
              <a:ext cx="4450993" cy="531910"/>
            </a:xfrm>
            <a:prstGeom prst="rect">
              <a:avLst/>
            </a:prstGeom>
          </p:spPr>
          <p:txBody>
            <a:bodyPr lIns="0" tIns="0" rIns="0" bIns="0" rtlCol="0" anchor="t">
              <a:spAutoFit/>
            </a:bodyPr>
            <a:lstStyle/>
            <a:p>
              <a:pPr algn="l">
                <a:lnSpc>
                  <a:spcPts val="4052"/>
                </a:lnSpc>
              </a:pPr>
              <a:r>
                <a:rPr lang="en-US" sz="3554" spc="-17" dirty="0">
                  <a:solidFill>
                    <a:srgbClr val="000000"/>
                  </a:solidFill>
                  <a:latin typeface="Somber"/>
                  <a:ea typeface="Somber"/>
                  <a:cs typeface="Somber"/>
                  <a:sym typeface="Somber"/>
                </a:rPr>
                <a:t>SUPER 40 WINTER INTERNSHIP</a:t>
              </a:r>
            </a:p>
          </p:txBody>
        </p:sp>
        <p:sp>
          <p:nvSpPr>
            <p:cNvPr id="40" name="TextBox 40"/>
            <p:cNvSpPr txBox="1"/>
            <p:nvPr/>
          </p:nvSpPr>
          <p:spPr>
            <a:xfrm>
              <a:off x="577799" y="421581"/>
              <a:ext cx="5379711" cy="203327"/>
            </a:xfrm>
            <a:prstGeom prst="rect">
              <a:avLst/>
            </a:prstGeom>
          </p:spPr>
          <p:txBody>
            <a:bodyPr lIns="0" tIns="0" rIns="0" bIns="0" rtlCol="0" anchor="t">
              <a:spAutoFit/>
            </a:bodyPr>
            <a:lstStyle/>
            <a:p>
              <a:pPr algn="l">
                <a:lnSpc>
                  <a:spcPts val="1533"/>
                </a:lnSpc>
              </a:pPr>
              <a:r>
                <a:rPr lang="en-US" sz="1299" spc="201">
                  <a:solidFill>
                    <a:srgbClr val="000000"/>
                  </a:solidFill>
                  <a:latin typeface="Questrial"/>
                  <a:ea typeface="Questrial"/>
                  <a:cs typeface="Questrial"/>
                  <a:sym typeface="Questrial"/>
                </a:rPr>
                <a:t>IEM RESEARCH FOUNDATION</a:t>
              </a:r>
            </a:p>
          </p:txBody>
        </p:sp>
        <p:sp>
          <p:nvSpPr>
            <p:cNvPr id="41" name="TextBox 41"/>
            <p:cNvSpPr txBox="1"/>
            <p:nvPr/>
          </p:nvSpPr>
          <p:spPr>
            <a:xfrm>
              <a:off x="5028792" y="2077953"/>
              <a:ext cx="1537580" cy="1365162"/>
            </a:xfrm>
            <a:prstGeom prst="rect">
              <a:avLst/>
            </a:prstGeom>
          </p:spPr>
          <p:txBody>
            <a:bodyPr lIns="0" tIns="0" rIns="0" bIns="0" rtlCol="0" anchor="t">
              <a:spAutoFit/>
            </a:bodyPr>
            <a:lstStyle/>
            <a:p>
              <a:pPr algn="ctr">
                <a:lnSpc>
                  <a:spcPts val="10653"/>
                </a:lnSpc>
              </a:pPr>
              <a:r>
                <a:rPr lang="en-US" sz="9344" b="1">
                  <a:solidFill>
                    <a:srgbClr val="FFD67F"/>
                  </a:solidFill>
                  <a:latin typeface="Oswald Bold"/>
                  <a:ea typeface="Oswald Bold"/>
                  <a:cs typeface="Oswald Bold"/>
                  <a:sym typeface="Oswald Bold"/>
                </a:rPr>
                <a:t>2</a:t>
              </a:r>
            </a:p>
          </p:txBody>
        </p:sp>
        <p:sp>
          <p:nvSpPr>
            <p:cNvPr id="42" name="TextBox 42"/>
            <p:cNvSpPr txBox="1"/>
            <p:nvPr/>
          </p:nvSpPr>
          <p:spPr>
            <a:xfrm>
              <a:off x="4622536" y="4218869"/>
              <a:ext cx="2433559" cy="1256754"/>
            </a:xfrm>
            <a:prstGeom prst="rect">
              <a:avLst/>
            </a:prstGeom>
          </p:spPr>
          <p:txBody>
            <a:bodyPr lIns="0" tIns="0" rIns="0" bIns="0" rtlCol="0" anchor="t">
              <a:spAutoFit/>
            </a:bodyPr>
            <a:lstStyle/>
            <a:p>
              <a:pPr algn="just">
                <a:lnSpc>
                  <a:spcPts val="1415"/>
                </a:lnSpc>
              </a:pPr>
              <a:r>
                <a:rPr lang="en-US" sz="1200" dirty="0">
                  <a:latin typeface="Questrial" panose="020B0604020202020204" charset="0"/>
                  <a:ea typeface="Questrial" panose="020B0604020202020204" charset="0"/>
                  <a:cs typeface="Questrial" panose="020B0604020202020204" charset="0"/>
                </a:rPr>
                <a:t>Our core idea is to simplify and enhance the 3D Printing workflow by providing easy access to design, prototyping, and post-processing services for institutions and industries.</a:t>
              </a:r>
              <a:r>
                <a:rPr lang="en-US" sz="1200" spc="56" dirty="0">
                  <a:solidFill>
                    <a:srgbClr val="000000"/>
                  </a:solidFill>
                  <a:latin typeface="Questrial" panose="020B0604020202020204" charset="0"/>
                  <a:ea typeface="Questrial" panose="020B0604020202020204" charset="0"/>
                  <a:cs typeface="Questrial" panose="020B0604020202020204" charset="0"/>
                  <a:sym typeface="Questrial"/>
                </a:rPr>
                <a:t>.</a:t>
              </a:r>
            </a:p>
            <a:p>
              <a:pPr algn="l">
                <a:lnSpc>
                  <a:spcPts val="1415"/>
                </a:lnSpc>
              </a:pPr>
              <a:endParaRPr lang="en-US" sz="1200" spc="56" dirty="0">
                <a:solidFill>
                  <a:srgbClr val="000000"/>
                </a:solidFill>
                <a:latin typeface="Questrial" panose="020B0604020202020204" charset="0"/>
                <a:ea typeface="Questrial" panose="020B0604020202020204" charset="0"/>
                <a:cs typeface="Questrial" panose="020B0604020202020204" charset="0"/>
                <a:sym typeface="Questrial"/>
              </a:endParaRPr>
            </a:p>
          </p:txBody>
        </p:sp>
        <p:sp>
          <p:nvSpPr>
            <p:cNvPr id="43" name="TextBox 43"/>
            <p:cNvSpPr txBox="1"/>
            <p:nvPr/>
          </p:nvSpPr>
          <p:spPr>
            <a:xfrm>
              <a:off x="4622536" y="3480110"/>
              <a:ext cx="2433559" cy="341376"/>
            </a:xfrm>
            <a:prstGeom prst="rect">
              <a:avLst/>
            </a:prstGeom>
          </p:spPr>
          <p:txBody>
            <a:bodyPr lIns="0" tIns="0" rIns="0" bIns="0" rtlCol="0" anchor="t">
              <a:spAutoFit/>
            </a:bodyPr>
            <a:lstStyle/>
            <a:p>
              <a:pPr algn="l">
                <a:lnSpc>
                  <a:spcPts val="2621"/>
                </a:lnSpc>
              </a:pPr>
              <a:r>
                <a:rPr lang="en-US" sz="2299" dirty="0">
                  <a:solidFill>
                    <a:srgbClr val="000000"/>
                  </a:solidFill>
                  <a:latin typeface="Somber"/>
                  <a:ea typeface="Somber"/>
                  <a:cs typeface="Somber"/>
                  <a:sym typeface="Somber"/>
                </a:rPr>
                <a:t>RESEARCH AND IDEATION</a:t>
              </a:r>
            </a:p>
          </p:txBody>
        </p:sp>
        <p:sp>
          <p:nvSpPr>
            <p:cNvPr id="44" name="TextBox 44"/>
            <p:cNvSpPr txBox="1"/>
            <p:nvPr/>
          </p:nvSpPr>
          <p:spPr>
            <a:xfrm>
              <a:off x="1379615" y="5215657"/>
              <a:ext cx="2883890" cy="333425"/>
            </a:xfrm>
            <a:prstGeom prst="rect">
              <a:avLst/>
            </a:prstGeom>
          </p:spPr>
          <p:txBody>
            <a:bodyPr lIns="0" tIns="0" rIns="0" bIns="0" rtlCol="0" anchor="t">
              <a:spAutoFit/>
            </a:bodyPr>
            <a:lstStyle/>
            <a:p>
              <a:pPr algn="l">
                <a:lnSpc>
                  <a:spcPts val="1298"/>
                </a:lnSpc>
              </a:pPr>
              <a:endParaRPr lang="en-US" sz="1100" spc="51" dirty="0">
                <a:solidFill>
                  <a:srgbClr val="000000"/>
                </a:solidFill>
                <a:latin typeface="Questrial"/>
                <a:ea typeface="Questrial"/>
                <a:cs typeface="Questrial"/>
                <a:sym typeface="Questrial"/>
              </a:endParaRPr>
            </a:p>
            <a:p>
              <a:pPr algn="l">
                <a:lnSpc>
                  <a:spcPts val="1298"/>
                </a:lnSpc>
              </a:pPr>
              <a:endParaRPr lang="en-US" sz="1100" spc="51" dirty="0">
                <a:solidFill>
                  <a:srgbClr val="000000"/>
                </a:solidFill>
                <a:latin typeface="Questrial"/>
                <a:ea typeface="Questrial"/>
                <a:cs typeface="Questrial"/>
                <a:sym typeface="Questrial"/>
              </a:endParaRPr>
            </a:p>
          </p:txBody>
        </p:sp>
        <p:sp>
          <p:nvSpPr>
            <p:cNvPr id="45" name="TextBox 45"/>
            <p:cNvSpPr txBox="1"/>
            <p:nvPr/>
          </p:nvSpPr>
          <p:spPr>
            <a:xfrm>
              <a:off x="1441117" y="4734671"/>
              <a:ext cx="2807690" cy="341376"/>
            </a:xfrm>
            <a:prstGeom prst="rect">
              <a:avLst/>
            </a:prstGeom>
          </p:spPr>
          <p:txBody>
            <a:bodyPr lIns="0" tIns="0" rIns="0" bIns="0" rtlCol="0" anchor="t">
              <a:spAutoFit/>
            </a:bodyPr>
            <a:lstStyle/>
            <a:p>
              <a:pPr algn="l">
                <a:lnSpc>
                  <a:spcPts val="2621"/>
                </a:lnSpc>
              </a:pPr>
              <a:r>
                <a:rPr lang="en-US" sz="2299" dirty="0">
                  <a:solidFill>
                    <a:srgbClr val="000000"/>
                  </a:solidFill>
                  <a:latin typeface="Somber"/>
                  <a:ea typeface="Somber"/>
                  <a:cs typeface="Somber"/>
                  <a:sym typeface="Somber"/>
                </a:rPr>
                <a:t>VALUE PROPOSITION</a:t>
              </a:r>
            </a:p>
          </p:txBody>
        </p:sp>
        <p:sp>
          <p:nvSpPr>
            <p:cNvPr id="46" name="TextBox 46"/>
            <p:cNvSpPr txBox="1"/>
            <p:nvPr/>
          </p:nvSpPr>
          <p:spPr>
            <a:xfrm>
              <a:off x="707662" y="4861163"/>
              <a:ext cx="552480" cy="1365162"/>
            </a:xfrm>
            <a:prstGeom prst="rect">
              <a:avLst/>
            </a:prstGeom>
          </p:spPr>
          <p:txBody>
            <a:bodyPr lIns="0" tIns="0" rIns="0" bIns="0" rtlCol="0" anchor="t">
              <a:spAutoFit/>
            </a:bodyPr>
            <a:lstStyle/>
            <a:p>
              <a:pPr algn="ctr">
                <a:lnSpc>
                  <a:spcPts val="10653"/>
                </a:lnSpc>
              </a:pPr>
              <a:r>
                <a:rPr lang="en-US" sz="9344" b="1">
                  <a:solidFill>
                    <a:srgbClr val="FFD67F"/>
                  </a:solidFill>
                  <a:latin typeface="Oswald Bold"/>
                  <a:ea typeface="Oswald Bold"/>
                  <a:cs typeface="Oswald Bold"/>
                  <a:sym typeface="Oswald Bold"/>
                </a:rPr>
                <a:t>3</a:t>
              </a:r>
            </a:p>
          </p:txBody>
        </p:sp>
        <p:sp>
          <p:nvSpPr>
            <p:cNvPr id="47" name="TextBox 47"/>
            <p:cNvSpPr txBox="1"/>
            <p:nvPr/>
          </p:nvSpPr>
          <p:spPr>
            <a:xfrm>
              <a:off x="4659445" y="6384345"/>
              <a:ext cx="2204594" cy="333425"/>
            </a:xfrm>
            <a:prstGeom prst="rect">
              <a:avLst/>
            </a:prstGeom>
          </p:spPr>
          <p:txBody>
            <a:bodyPr wrap="square" lIns="0" tIns="0" rIns="0" bIns="0" rtlCol="0" anchor="t">
              <a:spAutoFit/>
            </a:bodyPr>
            <a:lstStyle/>
            <a:p>
              <a:pPr algn="ctr">
                <a:lnSpc>
                  <a:spcPts val="2621"/>
                </a:lnSpc>
                <a:spcBef>
                  <a:spcPct val="0"/>
                </a:spcBef>
              </a:pPr>
              <a:r>
                <a:rPr lang="en-US" sz="2299" dirty="0">
                  <a:solidFill>
                    <a:srgbClr val="000000"/>
                  </a:solidFill>
                  <a:latin typeface="Somber"/>
                  <a:ea typeface="Somber"/>
                  <a:cs typeface="Somber"/>
                  <a:sym typeface="Somber"/>
                </a:rPr>
                <a:t>PROPOSED SOLUTION</a:t>
              </a:r>
            </a:p>
          </p:txBody>
        </p:sp>
        <p:sp>
          <p:nvSpPr>
            <p:cNvPr id="48" name="TextBox 48"/>
            <p:cNvSpPr txBox="1"/>
            <p:nvPr/>
          </p:nvSpPr>
          <p:spPr>
            <a:xfrm>
              <a:off x="2225880" y="6699220"/>
              <a:ext cx="552480" cy="1365162"/>
            </a:xfrm>
            <a:prstGeom prst="rect">
              <a:avLst/>
            </a:prstGeom>
          </p:spPr>
          <p:txBody>
            <a:bodyPr lIns="0" tIns="0" rIns="0" bIns="0" rtlCol="0" anchor="t">
              <a:spAutoFit/>
            </a:bodyPr>
            <a:lstStyle/>
            <a:p>
              <a:pPr algn="ctr">
                <a:lnSpc>
                  <a:spcPts val="10653"/>
                </a:lnSpc>
              </a:pPr>
              <a:r>
                <a:rPr lang="en-US" sz="9344" b="1" dirty="0">
                  <a:solidFill>
                    <a:srgbClr val="FFD67F"/>
                  </a:solidFill>
                  <a:latin typeface="Oswald Bold"/>
                  <a:ea typeface="Oswald Bold"/>
                  <a:cs typeface="Oswald Bold"/>
                  <a:sym typeface="Oswald Bold"/>
                </a:rPr>
                <a:t>4</a:t>
              </a:r>
            </a:p>
          </p:txBody>
        </p:sp>
        <p:sp>
          <p:nvSpPr>
            <p:cNvPr id="49" name="TextBox 49"/>
            <p:cNvSpPr txBox="1"/>
            <p:nvPr/>
          </p:nvSpPr>
          <p:spPr>
            <a:xfrm>
              <a:off x="2955017" y="6857979"/>
              <a:ext cx="4094738" cy="1256754"/>
            </a:xfrm>
            <a:prstGeom prst="rect">
              <a:avLst/>
            </a:prstGeom>
          </p:spPr>
          <p:txBody>
            <a:bodyPr lIns="0" tIns="0" rIns="0" bIns="0" rtlCol="0" anchor="t">
              <a:spAutoFit/>
            </a:bodyPr>
            <a:lstStyle/>
            <a:p>
              <a:pPr marL="259080" lvl="1" indent="-129540" algn="just">
                <a:lnSpc>
                  <a:spcPts val="1415"/>
                </a:lnSpc>
                <a:spcAft>
                  <a:spcPts val="600"/>
                </a:spcAft>
                <a:buFont typeface="Arial"/>
                <a:buChar char="•"/>
              </a:pPr>
              <a:r>
                <a:rPr lang="en-US" sz="1199" spc="56" dirty="0">
                  <a:solidFill>
                    <a:srgbClr val="000000"/>
                  </a:solidFill>
                  <a:latin typeface="Questrial"/>
                  <a:ea typeface="Questrial"/>
                  <a:cs typeface="Questrial"/>
                  <a:sym typeface="Questrial"/>
                </a:rPr>
                <a:t>We propose an integrated 3D Printing service platform that streamlines every step from design upload to final prototype. The system automatically checks printability, optimizes material and process settings, provides instant cost estimates, and ensures high-quality output through guided printing and post-processing support.</a:t>
              </a:r>
              <a:endParaRPr lang="en-US" sz="1199" u="none" strike="noStrike" spc="56" dirty="0">
                <a:solidFill>
                  <a:srgbClr val="000000"/>
                </a:solidFill>
                <a:latin typeface="Questrial"/>
                <a:ea typeface="Questrial"/>
                <a:cs typeface="Questrial"/>
                <a:sym typeface="Questrial"/>
              </a:endParaRPr>
            </a:p>
          </p:txBody>
        </p:sp>
        <p:sp>
          <p:nvSpPr>
            <p:cNvPr id="50" name="TextBox 50"/>
            <p:cNvSpPr txBox="1"/>
            <p:nvPr/>
          </p:nvSpPr>
          <p:spPr>
            <a:xfrm>
              <a:off x="685843" y="8905417"/>
              <a:ext cx="6493060" cy="974626"/>
            </a:xfrm>
            <a:prstGeom prst="rect">
              <a:avLst/>
            </a:prstGeom>
          </p:spPr>
          <p:txBody>
            <a:bodyPr wrap="square" lIns="0" tIns="0" rIns="0" bIns="0" rtlCol="0" anchor="t">
              <a:spAutoFit/>
            </a:bodyPr>
            <a:lstStyle/>
            <a:p>
              <a:pPr marL="300990" lvl="1" indent="-171450" algn="just">
                <a:lnSpc>
                  <a:spcPts val="1415"/>
                </a:lnSpc>
                <a:spcAft>
                  <a:spcPts val="600"/>
                </a:spcAft>
                <a:buFont typeface="Arial" panose="020B0604020202020204" pitchFamily="34" charset="0"/>
                <a:buChar char="•"/>
              </a:pPr>
              <a:r>
                <a:rPr lang="en-US" sz="1200" dirty="0">
                  <a:latin typeface="Questrial" panose="020B0604020202020204" charset="0"/>
                  <a:ea typeface="Questrial" panose="020B0604020202020204" charset="0"/>
                  <a:cs typeface="Questrial" panose="020B0604020202020204" charset="0"/>
                </a:rPr>
                <a:t>Our solution substantially reduces prototype development time by streamlining design checks, material selection, printing, and post-processing.</a:t>
              </a:r>
            </a:p>
            <a:p>
              <a:pPr marL="300990" lvl="1" indent="-171450" algn="just">
                <a:lnSpc>
                  <a:spcPts val="1415"/>
                </a:lnSpc>
                <a:spcAft>
                  <a:spcPts val="600"/>
                </a:spcAft>
                <a:buFont typeface="Arial" panose="020B0604020202020204" pitchFamily="34" charset="0"/>
                <a:buChar char="•"/>
              </a:pPr>
              <a:r>
                <a:rPr lang="en-US" sz="1200" dirty="0">
                  <a:latin typeface="Questrial" panose="020B0604020202020204" charset="0"/>
                  <a:ea typeface="Questrial" panose="020B0604020202020204" charset="0"/>
                  <a:cs typeface="Questrial" panose="020B0604020202020204" charset="0"/>
                </a:rPr>
                <a:t>By providing fast, affordable, and high-quality 3D Printing support, the platform accelerates innovation, improves project outcomes, and enables institutions and industries to bring ideas to reality more efficiently.</a:t>
              </a:r>
              <a:endParaRPr lang="en-US" sz="1199" u="none" strike="noStrike" spc="56" dirty="0">
                <a:solidFill>
                  <a:srgbClr val="000000"/>
                </a:solidFill>
                <a:latin typeface="Questrial" panose="020B0604020202020204" charset="0"/>
                <a:ea typeface="Questrial" panose="020B0604020202020204" charset="0"/>
                <a:cs typeface="Questrial" panose="020B0604020202020204" charset="0"/>
                <a:sym typeface="Questrial"/>
              </a:endParaRPr>
            </a:p>
          </p:txBody>
        </p:sp>
        <p:sp>
          <p:nvSpPr>
            <p:cNvPr id="51" name="TextBox 51"/>
            <p:cNvSpPr txBox="1"/>
            <p:nvPr/>
          </p:nvSpPr>
          <p:spPr>
            <a:xfrm>
              <a:off x="782359" y="8517310"/>
              <a:ext cx="2485295" cy="341376"/>
            </a:xfrm>
            <a:prstGeom prst="rect">
              <a:avLst/>
            </a:prstGeom>
          </p:spPr>
          <p:txBody>
            <a:bodyPr lIns="0" tIns="0" rIns="0" bIns="0" rtlCol="0" anchor="t">
              <a:spAutoFit/>
            </a:bodyPr>
            <a:lstStyle/>
            <a:p>
              <a:pPr algn="l">
                <a:lnSpc>
                  <a:spcPts val="2621"/>
                </a:lnSpc>
                <a:spcBef>
                  <a:spcPct val="0"/>
                </a:spcBef>
              </a:pPr>
              <a:r>
                <a:rPr lang="en-US" sz="2299">
                  <a:solidFill>
                    <a:srgbClr val="000000"/>
                  </a:solidFill>
                  <a:latin typeface="Somber"/>
                  <a:ea typeface="Somber"/>
                  <a:cs typeface="Somber"/>
                  <a:sym typeface="Somber"/>
                </a:rPr>
                <a:t>POTENTIAL IMPACT</a:t>
              </a:r>
            </a:p>
          </p:txBody>
        </p:sp>
        <p:sp>
          <p:nvSpPr>
            <p:cNvPr id="52" name="TextBox 52"/>
            <p:cNvSpPr txBox="1"/>
            <p:nvPr/>
          </p:nvSpPr>
          <p:spPr>
            <a:xfrm>
              <a:off x="577799" y="1345445"/>
              <a:ext cx="4450993" cy="361604"/>
            </a:xfrm>
            <a:prstGeom prst="rect">
              <a:avLst/>
            </a:prstGeom>
          </p:spPr>
          <p:txBody>
            <a:bodyPr lIns="0" tIns="0" rIns="0" bIns="0" rtlCol="0" anchor="t">
              <a:spAutoFit/>
            </a:bodyPr>
            <a:lstStyle/>
            <a:p>
              <a:pPr algn="l">
                <a:lnSpc>
                  <a:spcPts val="2798"/>
                </a:lnSpc>
              </a:pPr>
              <a:r>
                <a:rPr lang="en-US" sz="2454" spc="-12" dirty="0">
                  <a:solidFill>
                    <a:srgbClr val="000000"/>
                  </a:solidFill>
                  <a:latin typeface="Somber"/>
                  <a:ea typeface="Somber"/>
                  <a:cs typeface="Somber"/>
                  <a:sym typeface="Somber"/>
                </a:rPr>
                <a:t>Project : 3D Printing Made Simple</a:t>
              </a:r>
            </a:p>
          </p:txBody>
        </p:sp>
        <p:sp>
          <p:nvSpPr>
            <p:cNvPr id="54" name="TextBox 53">
              <a:extLst>
                <a:ext uri="{FF2B5EF4-FFF2-40B4-BE49-F238E27FC236}">
                  <a16:creationId xmlns:a16="http://schemas.microsoft.com/office/drawing/2014/main" id="{37275F88-3984-8FF1-73AC-60ED5A42E73F}"/>
                </a:ext>
              </a:extLst>
            </p:cNvPr>
            <p:cNvSpPr txBox="1"/>
            <p:nvPr/>
          </p:nvSpPr>
          <p:spPr>
            <a:xfrm>
              <a:off x="524215" y="10265811"/>
              <a:ext cx="6312768" cy="430887"/>
            </a:xfrm>
            <a:prstGeom prst="rect">
              <a:avLst/>
            </a:prstGeom>
            <a:noFill/>
          </p:spPr>
          <p:txBody>
            <a:bodyPr wrap="square">
              <a:spAutoFit/>
            </a:bodyPr>
            <a:lstStyle/>
            <a:p>
              <a:pPr algn="ctr"/>
              <a:r>
                <a:rPr lang="en-US" sz="1100" b="1" spc="56" dirty="0">
                  <a:solidFill>
                    <a:srgbClr val="000000"/>
                  </a:solidFill>
                  <a:latin typeface="Questrial"/>
                </a:rPr>
                <a:t>Godrej Genesis Building, 15th Floor, Unit No. 1502, Sector V, Block EP &amp; GP, Salt Lake City, Kolkata – 700091, West Bengal, India.</a:t>
              </a:r>
              <a:endParaRPr lang="en-IN" sz="1100" b="1" spc="56" dirty="0">
                <a:solidFill>
                  <a:srgbClr val="000000"/>
                </a:solidFill>
                <a:latin typeface="Questrial"/>
              </a:endParaRPr>
            </a:p>
          </p:txBody>
        </p:sp>
      </p:grpSp>
      <p:sp>
        <p:nvSpPr>
          <p:cNvPr id="61" name="Rectangle 60"/>
          <p:cNvSpPr/>
          <p:nvPr/>
        </p:nvSpPr>
        <p:spPr>
          <a:xfrm>
            <a:off x="1153095" y="5009379"/>
            <a:ext cx="3188029" cy="1615827"/>
          </a:xfrm>
          <a:prstGeom prst="rect">
            <a:avLst/>
          </a:prstGeom>
        </p:spPr>
        <p:txBody>
          <a:bodyPr wrap="square">
            <a:spAutoFit/>
          </a:bodyPr>
          <a:lstStyle/>
          <a:p>
            <a:pPr marL="171450" indent="-171450" algn="just">
              <a:buFont typeface="Arial" panose="020B0604020202020204" pitchFamily="34" charset="0"/>
              <a:buChar char="•"/>
            </a:pPr>
            <a:r>
              <a:rPr lang="en-US" sz="1100" dirty="0">
                <a:latin typeface="Questrial" panose="020B0604020202020204" charset="0"/>
                <a:ea typeface="Questrial" panose="020B0604020202020204" charset="0"/>
                <a:cs typeface="Questrial" panose="020B0604020202020204" charset="0"/>
              </a:rPr>
              <a:t>Cost-effective prototyping compared to outsourcing to external vendors.</a:t>
            </a:r>
          </a:p>
          <a:p>
            <a:pPr marL="171450" indent="-171450" algn="just">
              <a:buFont typeface="Arial" panose="020B0604020202020204" pitchFamily="34" charset="0"/>
              <a:buChar char="•"/>
            </a:pPr>
            <a:r>
              <a:rPr lang="en-US" sz="1100" dirty="0">
                <a:latin typeface="Questrial" panose="020B0604020202020204" charset="0"/>
                <a:ea typeface="Questrial" panose="020B0604020202020204" charset="0"/>
                <a:cs typeface="Questrial" panose="020B0604020202020204" charset="0"/>
              </a:rPr>
              <a:t>Faster turnaround time with in-house design, printing, and post-processing support.</a:t>
            </a:r>
          </a:p>
          <a:p>
            <a:pPr marL="171450" indent="-171450" algn="just">
              <a:buFont typeface="Arial" panose="020B0604020202020204" pitchFamily="34" charset="0"/>
              <a:buChar char="•"/>
            </a:pPr>
            <a:r>
              <a:rPr lang="en-US" sz="1100" dirty="0">
                <a:latin typeface="Questrial" panose="020B0604020202020204" charset="0"/>
                <a:ea typeface="Questrial" panose="020B0604020202020204" charset="0"/>
                <a:cs typeface="Questrial" panose="020B0604020202020204" charset="0"/>
              </a:rPr>
              <a:t>Improved print quality through expert guidance and optimized parameters.</a:t>
            </a:r>
          </a:p>
          <a:p>
            <a:pPr marL="171450" indent="-171450" algn="just">
              <a:buFont typeface="Arial" panose="020B0604020202020204" pitchFamily="34" charset="0"/>
              <a:buChar char="•"/>
            </a:pPr>
            <a:r>
              <a:rPr lang="en-US" sz="1100" dirty="0">
                <a:latin typeface="Questrial" panose="020B0604020202020204" charset="0"/>
                <a:ea typeface="Questrial" panose="020B0604020202020204" charset="0"/>
                <a:cs typeface="Questrial" panose="020B0604020202020204" charset="0"/>
              </a:rPr>
              <a:t>End-to-end assistance enabling users to convert ideas into functional prototypes easily.</a:t>
            </a:r>
            <a:endParaRPr lang="en-IN" sz="1100" dirty="0">
              <a:latin typeface="Questrial" panose="020B0604020202020204" charset="0"/>
              <a:ea typeface="Questrial" panose="020B0604020202020204" charset="0"/>
              <a:cs typeface="Questrial" panose="020B060402020202020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2476</TotalTime>
  <Words>281</Words>
  <Application>Microsoft Office PowerPoint</Application>
  <PresentationFormat>Custom</PresentationFormat>
  <Paragraphs>23</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Yellow Corporate Business Design Roadmap A4 Document</dc:title>
  <dc:creator>Biswajit</dc:creator>
  <cp:lastModifiedBy>RIMJHIM MAJUMDAR</cp:lastModifiedBy>
  <cp:revision>10</cp:revision>
  <dcterms:created xsi:type="dcterms:W3CDTF">2006-08-16T00:00:00Z</dcterms:created>
  <dcterms:modified xsi:type="dcterms:W3CDTF">2025-12-01T15:10:39Z</dcterms:modified>
  <dc:identifier>DAG5rlQpufs</dc:identifier>
</cp:coreProperties>
</file>