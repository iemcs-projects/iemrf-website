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Somber" panose="020B0604020202020204" charset="0"/>
      <p:regular r:id="rId3"/>
    </p:embeddedFon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Questrial" panose="020B0604020202020204" charset="0"/>
      <p:regular r:id="rId8"/>
    </p:embeddedFont>
    <p:embeddedFont>
      <p:font typeface="Oswald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50" d="100"/>
          <a:sy n="150" d="100"/>
        </p:scale>
        <p:origin x="-468" y="-67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viewProps" Target="viewProps.xml"/><Relationship Id="rId5" Type="http://schemas.openxmlformats.org/officeDocument/2006/relationships/font" Target="fonts/font3.fntdata"/><Relationship Id="rId10" Type="http://schemas.openxmlformats.org/officeDocument/2006/relationships/presProps" Target="presProps.xml"/><Relationship Id="rId4" Type="http://schemas.openxmlformats.org/officeDocument/2006/relationships/font" Target="fonts/font2.fntdata"/><Relationship Id="rId9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560000" cy="1887452"/>
            <a:chOff x="0" y="0"/>
            <a:chExt cx="2709333" cy="7936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3" cy="793641"/>
            </a:xfrm>
            <a:custGeom>
              <a:avLst/>
              <a:gdLst/>
              <a:ahLst/>
              <a:cxnLst/>
              <a:rect l="l" t="t" r="r" b="b"/>
              <a:pathLst>
                <a:path w="2709333" h="793641">
                  <a:moveTo>
                    <a:pt x="0" y="0"/>
                  </a:moveTo>
                  <a:lnTo>
                    <a:pt x="2709333" y="0"/>
                  </a:lnTo>
                  <a:lnTo>
                    <a:pt x="2709333" y="793641"/>
                  </a:lnTo>
                  <a:lnTo>
                    <a:pt x="0" y="793641"/>
                  </a:lnTo>
                  <a:close/>
                </a:path>
              </a:pathLst>
            </a:custGeom>
            <a:solidFill>
              <a:srgbClr val="FFD67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709333" cy="8222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685843" y="3012417"/>
            <a:ext cx="4763" cy="1420577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473897" y="2451100"/>
            <a:ext cx="423893" cy="423893"/>
          </a:xfrm>
          <a:custGeom>
            <a:avLst/>
            <a:gdLst/>
            <a:ahLst/>
            <a:cxnLst/>
            <a:rect l="l" t="t" r="r" b="b"/>
            <a:pathLst>
              <a:path w="423893" h="423893">
                <a:moveTo>
                  <a:pt x="0" y="0"/>
                </a:moveTo>
                <a:lnTo>
                  <a:pt x="423893" y="0"/>
                </a:lnTo>
                <a:lnTo>
                  <a:pt x="423893" y="423893"/>
                </a:lnTo>
                <a:lnTo>
                  <a:pt x="0" y="4238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24607" y="2770406"/>
            <a:ext cx="2807690" cy="197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5"/>
              </a:lnSpc>
            </a:pPr>
            <a:r>
              <a:rPr lang="en-US" sz="1199" spc="56" dirty="0" smtClean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The Grant-in-aid projects are given to facilitate the research and innovation culture. From the administrative point of view, a good tracking is required about progress, completion, outcome of the project, cost incurred, project status, completion date etc. The user may upload data, relevant documents etc.</a:t>
            </a:r>
            <a:endParaRPr lang="en-US" sz="1199" spc="56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algn="l">
              <a:lnSpc>
                <a:spcPts val="1415"/>
              </a:lnSpc>
            </a:pPr>
            <a:endParaRPr lang="en-US" sz="1199" spc="56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algn="l">
              <a:lnSpc>
                <a:spcPts val="1415"/>
              </a:lnSpc>
            </a:pPr>
            <a:endParaRPr lang="en-US" sz="1199" spc="56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23688" y="2483639"/>
            <a:ext cx="2807690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1"/>
              </a:lnSpc>
            </a:pPr>
            <a:r>
              <a:rPr lang="en-US" sz="2299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PROBLEM STATEMENT</a:t>
            </a:r>
          </a:p>
        </p:txBody>
      </p:sp>
      <p:sp>
        <p:nvSpPr>
          <p:cNvPr id="9" name="AutoShape 9"/>
          <p:cNvSpPr/>
          <p:nvPr/>
        </p:nvSpPr>
        <p:spPr>
          <a:xfrm>
            <a:off x="695368" y="2016040"/>
            <a:ext cx="5681744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3267654" y="2776515"/>
            <a:ext cx="1537580" cy="136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3"/>
              </a:lnSpc>
            </a:pPr>
            <a:r>
              <a:rPr lang="en-US" sz="9344" b="1">
                <a:solidFill>
                  <a:srgbClr val="FFD67F"/>
                </a:solidFill>
                <a:latin typeface="Oswald Bold"/>
                <a:ea typeface="Oswald Bold"/>
                <a:cs typeface="Oswald Bold"/>
                <a:sym typeface="Oswald Bold"/>
              </a:rPr>
              <a:t>1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85843" y="4428232"/>
            <a:ext cx="3761353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4444070" y="2626679"/>
            <a:ext cx="0" cy="1807446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V="1">
            <a:off x="4439307" y="2631442"/>
            <a:ext cx="878024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V="1">
            <a:off x="6283585" y="2640967"/>
            <a:ext cx="878024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7166372" y="2645729"/>
            <a:ext cx="0" cy="3050123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flipV="1">
            <a:off x="4434545" y="5695852"/>
            <a:ext cx="1240035" cy="9525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4434545" y="4661138"/>
            <a:ext cx="0" cy="1052819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645779" y="4661138"/>
            <a:ext cx="3784003" cy="4762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Freeform 19"/>
          <p:cNvSpPr/>
          <p:nvPr/>
        </p:nvSpPr>
        <p:spPr>
          <a:xfrm>
            <a:off x="5674580" y="5485998"/>
            <a:ext cx="329471" cy="419708"/>
          </a:xfrm>
          <a:custGeom>
            <a:avLst/>
            <a:gdLst/>
            <a:ahLst/>
            <a:cxnLst/>
            <a:rect l="l" t="t" r="r" b="b"/>
            <a:pathLst>
              <a:path w="329471" h="419708">
                <a:moveTo>
                  <a:pt x="0" y="0"/>
                </a:moveTo>
                <a:lnTo>
                  <a:pt x="329471" y="0"/>
                </a:lnTo>
                <a:lnTo>
                  <a:pt x="329471" y="419708"/>
                </a:lnTo>
                <a:lnTo>
                  <a:pt x="0" y="419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AutoShape 20"/>
          <p:cNvSpPr/>
          <p:nvPr/>
        </p:nvSpPr>
        <p:spPr>
          <a:xfrm flipV="1">
            <a:off x="6004051" y="5686328"/>
            <a:ext cx="1174852" cy="9525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 flipH="1">
            <a:off x="685843" y="2022522"/>
            <a:ext cx="14287" cy="566002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650541" y="4658543"/>
            <a:ext cx="0" cy="191291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>
            <a:off x="650541" y="6556835"/>
            <a:ext cx="4216134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6654592" y="6570609"/>
            <a:ext cx="503983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 flipH="1">
            <a:off x="7145450" y="6575392"/>
            <a:ext cx="0" cy="160981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>
            <a:off x="2625449" y="8775700"/>
            <a:ext cx="4430646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 flipH="1">
            <a:off x="2125627" y="7149408"/>
            <a:ext cx="0" cy="1034248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TextBox 28"/>
          <p:cNvSpPr txBox="1"/>
          <p:nvPr/>
        </p:nvSpPr>
        <p:spPr>
          <a:xfrm>
            <a:off x="1103375" y="7133098"/>
            <a:ext cx="552480" cy="136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3"/>
              </a:lnSpc>
            </a:pPr>
            <a:r>
              <a:rPr lang="en-US" sz="9344" b="1">
                <a:solidFill>
                  <a:srgbClr val="FFD67F"/>
                </a:solidFill>
                <a:latin typeface="Oswald Bold"/>
                <a:ea typeface="Oswald Bold"/>
                <a:cs typeface="Oswald Bold"/>
                <a:sym typeface="Oswald Bold"/>
              </a:rPr>
              <a:t>5</a:t>
            </a:r>
          </a:p>
        </p:txBody>
      </p:sp>
      <p:sp>
        <p:nvSpPr>
          <p:cNvPr id="29" name="AutoShape 29"/>
          <p:cNvSpPr/>
          <p:nvPr/>
        </p:nvSpPr>
        <p:spPr>
          <a:xfrm>
            <a:off x="638371" y="7144646"/>
            <a:ext cx="1482487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>
            <a:off x="655304" y="7139883"/>
            <a:ext cx="35302" cy="2787992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>
            <a:off x="682625" y="9933289"/>
            <a:ext cx="6628145" cy="23511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2" name="Group 32"/>
          <p:cNvGrpSpPr/>
          <p:nvPr/>
        </p:nvGrpSpPr>
        <p:grpSpPr>
          <a:xfrm>
            <a:off x="0" y="10141752"/>
            <a:ext cx="7560000" cy="676005"/>
            <a:chOff x="0" y="0"/>
            <a:chExt cx="2709333" cy="78224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709333" cy="782249"/>
            </a:xfrm>
            <a:custGeom>
              <a:avLst/>
              <a:gdLst/>
              <a:ahLst/>
              <a:cxnLst/>
              <a:rect l="l" t="t" r="r" b="b"/>
              <a:pathLst>
                <a:path w="2709333" h="782249">
                  <a:moveTo>
                    <a:pt x="0" y="0"/>
                  </a:moveTo>
                  <a:lnTo>
                    <a:pt x="2709333" y="0"/>
                  </a:lnTo>
                  <a:lnTo>
                    <a:pt x="2709333" y="782249"/>
                  </a:lnTo>
                  <a:lnTo>
                    <a:pt x="0" y="782249"/>
                  </a:lnTo>
                  <a:close/>
                </a:path>
              </a:pathLst>
            </a:custGeom>
            <a:solidFill>
              <a:srgbClr val="FFD67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2709333" cy="810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6709140" y="8106304"/>
            <a:ext cx="384112" cy="384112"/>
          </a:xfrm>
          <a:custGeom>
            <a:avLst/>
            <a:gdLst/>
            <a:ahLst/>
            <a:cxnLst/>
            <a:rect l="l" t="t" r="r" b="b"/>
            <a:pathLst>
              <a:path w="384112" h="384112">
                <a:moveTo>
                  <a:pt x="0" y="0"/>
                </a:moveTo>
                <a:lnTo>
                  <a:pt x="384111" y="0"/>
                </a:lnTo>
                <a:lnTo>
                  <a:pt x="384111" y="384112"/>
                </a:lnTo>
                <a:lnTo>
                  <a:pt x="0" y="3841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2034905" y="8000343"/>
            <a:ext cx="190974" cy="394779"/>
          </a:xfrm>
          <a:custGeom>
            <a:avLst/>
            <a:gdLst/>
            <a:ahLst/>
            <a:cxnLst/>
            <a:rect l="l" t="t" r="r" b="b"/>
            <a:pathLst>
              <a:path w="190974" h="394779">
                <a:moveTo>
                  <a:pt x="0" y="0"/>
                </a:moveTo>
                <a:lnTo>
                  <a:pt x="190975" y="0"/>
                </a:lnTo>
                <a:lnTo>
                  <a:pt x="190975" y="394779"/>
                </a:lnTo>
                <a:lnTo>
                  <a:pt x="0" y="3947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604377" y="6325742"/>
            <a:ext cx="355965" cy="365262"/>
          </a:xfrm>
          <a:custGeom>
            <a:avLst/>
            <a:gdLst/>
            <a:ahLst/>
            <a:cxnLst/>
            <a:rect l="l" t="t" r="r" b="b"/>
            <a:pathLst>
              <a:path w="355965" h="365262">
                <a:moveTo>
                  <a:pt x="0" y="0"/>
                </a:moveTo>
                <a:lnTo>
                  <a:pt x="355965" y="0"/>
                </a:lnTo>
                <a:lnTo>
                  <a:pt x="355965" y="365263"/>
                </a:lnTo>
                <a:lnTo>
                  <a:pt x="0" y="3652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5028792" y="421581"/>
            <a:ext cx="1949909" cy="1257844"/>
          </a:xfrm>
          <a:custGeom>
            <a:avLst/>
            <a:gdLst/>
            <a:ahLst/>
            <a:cxnLst/>
            <a:rect l="l" t="t" r="r" b="b"/>
            <a:pathLst>
              <a:path w="1615844" h="872976">
                <a:moveTo>
                  <a:pt x="0" y="0"/>
                </a:moveTo>
                <a:lnTo>
                  <a:pt x="1615844" y="0"/>
                </a:lnTo>
                <a:lnTo>
                  <a:pt x="1615844" y="872976"/>
                </a:lnTo>
                <a:lnTo>
                  <a:pt x="0" y="87297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577799" y="765525"/>
            <a:ext cx="4450993" cy="531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3554" spc="-17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SUPER 40 WINTER INTERNSHIP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77799" y="421581"/>
            <a:ext cx="5379711" cy="203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3"/>
              </a:lnSpc>
            </a:pPr>
            <a:r>
              <a:rPr lang="en-US" sz="1299" spc="201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IEM RESEARCH FOUNDATION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028792" y="2077953"/>
            <a:ext cx="1537580" cy="136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3"/>
              </a:lnSpc>
            </a:pPr>
            <a:r>
              <a:rPr lang="en-US" sz="9344" b="1">
                <a:solidFill>
                  <a:srgbClr val="FFD67F"/>
                </a:solidFill>
                <a:latin typeface="Oswald Bold"/>
                <a:ea typeface="Oswald Bold"/>
                <a:cs typeface="Oswald Bold"/>
                <a:sym typeface="Oswald Bold"/>
              </a:rPr>
              <a:t>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502526" y="4218139"/>
            <a:ext cx="260539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15"/>
              </a:lnSpc>
            </a:pPr>
            <a:r>
              <a:rPr lang="en-US" sz="1199" spc="56" dirty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Our core idea is to </a:t>
            </a:r>
            <a:r>
              <a:rPr lang="en-US" sz="1199" spc="56" dirty="0" smtClean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have a well-structured database management system  with various types of searching mechanisms of data connected with the projects. </a:t>
            </a:r>
            <a:endParaRPr lang="en-US" sz="1199" spc="56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4622536" y="3480110"/>
            <a:ext cx="2433559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1"/>
              </a:lnSpc>
            </a:pPr>
            <a:r>
              <a:rPr lang="en-US" sz="2299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RESEARCH AND IDEATION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79615" y="5215657"/>
            <a:ext cx="2883890" cy="1808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7491" lvl="1" indent="-118745" algn="l">
              <a:lnSpc>
                <a:spcPts val="1364"/>
              </a:lnSpc>
              <a:spcAft>
                <a:spcPts val="600"/>
              </a:spcAft>
              <a:buFont typeface="Arial"/>
              <a:buChar char="•"/>
            </a:pPr>
            <a:r>
              <a:rPr lang="en-US" sz="1200" spc="51" dirty="0" smtClean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Automation of  project progress tracking </a:t>
            </a:r>
            <a:r>
              <a:rPr lang="en-US" sz="1200" spc="51" dirty="0" smtClean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.</a:t>
            </a:r>
            <a:endParaRPr lang="en-US" sz="1200" spc="51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237491" lvl="1" indent="-118745" algn="l">
              <a:lnSpc>
                <a:spcPts val="1364"/>
              </a:lnSpc>
              <a:spcAft>
                <a:spcPts val="600"/>
              </a:spcAft>
              <a:buFont typeface="Arial"/>
              <a:buChar char="•"/>
            </a:pPr>
            <a:r>
              <a:rPr lang="en-US" sz="1200" spc="51" dirty="0" smtClean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Ready availability of important project documents </a:t>
            </a:r>
          </a:p>
          <a:p>
            <a:pPr marL="237491" lvl="1" indent="-118745" algn="l">
              <a:lnSpc>
                <a:spcPts val="1364"/>
              </a:lnSpc>
              <a:spcAft>
                <a:spcPts val="600"/>
              </a:spcAft>
              <a:buFont typeface="Arial"/>
              <a:buChar char="•"/>
            </a:pPr>
            <a:r>
              <a:rPr lang="en-US" sz="1200" spc="51" dirty="0" smtClean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Status tracking at faculty and administrator levels </a:t>
            </a:r>
            <a:endParaRPr lang="en-US" sz="1200" spc="51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algn="l">
              <a:lnSpc>
                <a:spcPts val="1298"/>
              </a:lnSpc>
            </a:pPr>
            <a:endParaRPr lang="en-US" sz="1100" spc="51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algn="l">
              <a:lnSpc>
                <a:spcPts val="1298"/>
              </a:lnSpc>
            </a:pPr>
            <a:endParaRPr lang="en-US" sz="1100" spc="51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algn="l">
              <a:lnSpc>
                <a:spcPts val="1298"/>
              </a:lnSpc>
            </a:pPr>
            <a:endParaRPr lang="en-US" sz="1100" spc="51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441117" y="4734671"/>
            <a:ext cx="2807690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1"/>
              </a:lnSpc>
            </a:pPr>
            <a:r>
              <a:rPr lang="en-US" sz="2299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VALUE PROPOSITION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07662" y="4861163"/>
            <a:ext cx="552480" cy="136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3"/>
              </a:lnSpc>
            </a:pPr>
            <a:r>
              <a:rPr lang="en-US" sz="9344" b="1">
                <a:solidFill>
                  <a:srgbClr val="FFD67F"/>
                </a:solidFill>
                <a:latin typeface="Oswald Bold"/>
                <a:ea typeface="Oswald Bold"/>
                <a:cs typeface="Oswald Bold"/>
                <a:sym typeface="Oswald Bold"/>
              </a:rPr>
              <a:t>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659445" y="6384345"/>
            <a:ext cx="2204594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PROPOSED SOLUTION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225880" y="6699220"/>
            <a:ext cx="552480" cy="136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3"/>
              </a:lnSpc>
            </a:pPr>
            <a:r>
              <a:rPr lang="en-US" sz="9344" b="1">
                <a:solidFill>
                  <a:srgbClr val="FFD67F"/>
                </a:solidFill>
                <a:latin typeface="Oswald Bold"/>
                <a:ea typeface="Oswald Bold"/>
                <a:cs typeface="Oswald Bold"/>
                <a:sym typeface="Oswald Bold"/>
              </a:rPr>
              <a:t>4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941362" y="6783441"/>
            <a:ext cx="4094738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indent="-129540" algn="l">
              <a:lnSpc>
                <a:spcPts val="1415"/>
              </a:lnSpc>
              <a:spcAft>
                <a:spcPts val="600"/>
              </a:spcAft>
              <a:buFont typeface="Arial"/>
              <a:buChar char="•"/>
            </a:pPr>
            <a:r>
              <a:rPr lang="en-US" sz="1199" spc="56" dirty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We</a:t>
            </a:r>
            <a:r>
              <a:rPr lang="en-US" sz="1199" u="none" strike="noStrike" spc="56" dirty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propose a robust cloud-based </a:t>
            </a:r>
            <a:r>
              <a:rPr lang="en-US" sz="1199" u="none" strike="noStrike" spc="56" dirty="0" smtClean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platform </a:t>
            </a:r>
            <a:r>
              <a:rPr lang="en-US" sz="1199" u="none" strike="noStrike" spc="56" dirty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specifically designed for seamless </a:t>
            </a:r>
            <a:r>
              <a:rPr lang="en-US" sz="1199" u="none" strike="noStrike" spc="56" dirty="0" smtClean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management and tracking of Grant-in-aid project data. </a:t>
            </a:r>
            <a:endParaRPr lang="en-US" sz="1199" u="none" strike="noStrike" spc="56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259080" lvl="1" indent="-129540" algn="l">
              <a:lnSpc>
                <a:spcPts val="1415"/>
              </a:lnSpc>
              <a:spcAft>
                <a:spcPts val="600"/>
              </a:spcAft>
              <a:buFont typeface="Arial"/>
              <a:buChar char="•"/>
            </a:pPr>
            <a:r>
              <a:rPr lang="en-US" sz="1199" u="none" strike="noStrike" spc="56" dirty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The platform automates data </a:t>
            </a:r>
            <a:r>
              <a:rPr lang="en-US" sz="1199" u="none" strike="noStrike" spc="56" dirty="0" smtClean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validation, stores relevant documents, intelligently </a:t>
            </a:r>
            <a:r>
              <a:rPr lang="en-US" sz="1199" u="none" strike="noStrike" spc="56" dirty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maps content </a:t>
            </a:r>
            <a:r>
              <a:rPr lang="en-US" sz="1199" u="none" strike="noStrike" spc="56" dirty="0" smtClean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with respective projects, help in searching based on various parameters, analyzing data and creating meaningful graphical outputs. </a:t>
            </a:r>
            <a:r>
              <a:rPr lang="en-US" sz="1199" u="none" strike="noStrike" spc="56" dirty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It </a:t>
            </a:r>
            <a:r>
              <a:rPr lang="en-US" sz="1199" spc="56" dirty="0" smtClean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also should</a:t>
            </a:r>
            <a:r>
              <a:rPr lang="en-US" sz="1199" u="none" strike="noStrike" spc="56" dirty="0" smtClean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generate </a:t>
            </a:r>
            <a:r>
              <a:rPr lang="en-US" sz="1199" u="none" strike="noStrike" spc="56" dirty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comprehensive reports, simplifying the assessment process.</a:t>
            </a:r>
          </a:p>
          <a:p>
            <a:pPr marL="0" lvl="0" indent="0" algn="l">
              <a:lnSpc>
                <a:spcPts val="1415"/>
              </a:lnSpc>
              <a:spcBef>
                <a:spcPct val="0"/>
              </a:spcBef>
            </a:pPr>
            <a:endParaRPr lang="en-US" sz="1199" u="none" strike="noStrike" spc="56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>
              <a:lnSpc>
                <a:spcPts val="1415"/>
              </a:lnSpc>
              <a:spcBef>
                <a:spcPct val="0"/>
              </a:spcBef>
            </a:pPr>
            <a:endParaRPr lang="en-US" sz="1199" u="none" strike="noStrike" spc="56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685843" y="9019530"/>
            <a:ext cx="6358328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indent="-129540">
              <a:lnSpc>
                <a:spcPts val="1415"/>
              </a:lnSpc>
              <a:spcAft>
                <a:spcPts val="600"/>
              </a:spcAft>
              <a:buFont typeface="Arial"/>
              <a:buChar char="•"/>
            </a:pPr>
            <a:r>
              <a:rPr lang="en-US" sz="1199" spc="56" dirty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</a:t>
            </a:r>
            <a:r>
              <a:rPr lang="en-US" sz="1199" u="none" strike="noStrike" spc="56" dirty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ur solution significantly reduces the time spent on </a:t>
            </a:r>
            <a:r>
              <a:rPr lang="en-US" sz="1199" u="none" strike="noStrike" spc="56" dirty="0" smtClean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management of Grant-in-aid projects </a:t>
            </a:r>
            <a:r>
              <a:rPr lang="en-US" sz="1199" spc="56" dirty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and </a:t>
            </a:r>
            <a:r>
              <a:rPr lang="en-US" sz="1199" spc="56" dirty="0" smtClean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assists data </a:t>
            </a:r>
            <a:r>
              <a:rPr lang="en-US" sz="1199" spc="56" dirty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driven decision </a:t>
            </a:r>
            <a:r>
              <a:rPr lang="en-US" sz="1199" u="none" strike="noStrike" spc="56" dirty="0" smtClean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making. </a:t>
            </a:r>
          </a:p>
          <a:p>
            <a:pPr marL="259080" lvl="1" indent="-129540" algn="l">
              <a:lnSpc>
                <a:spcPts val="1415"/>
              </a:lnSpc>
              <a:spcAft>
                <a:spcPts val="600"/>
              </a:spcAft>
              <a:buFont typeface="Arial"/>
              <a:buChar char="•"/>
            </a:pPr>
            <a:r>
              <a:rPr lang="en-US" sz="1199" spc="56" dirty="0" smtClean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This platform may well be used for other tailor-made / </a:t>
            </a:r>
            <a:r>
              <a:rPr lang="en-US" sz="1199" spc="56" smtClean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generalized applications.</a:t>
            </a:r>
            <a:endParaRPr lang="en-US" sz="1199" u="none" strike="noStrike" spc="56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algn="l">
              <a:lnSpc>
                <a:spcPts val="1415"/>
              </a:lnSpc>
            </a:pPr>
            <a:endParaRPr lang="en-US" sz="1199" u="none" strike="noStrike" spc="56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792257" y="8573403"/>
            <a:ext cx="2485295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1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POTENTIAL IMPACT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77800" y="1345445"/>
            <a:ext cx="3685706" cy="361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2454" spc="-12" dirty="0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Project </a:t>
            </a:r>
            <a:r>
              <a:rPr lang="en-US" sz="2454" spc="-12" dirty="0" smtClean="0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: </a:t>
            </a:r>
            <a:r>
              <a:rPr lang="en-US" sz="2454" spc="-12" dirty="0" smtClean="0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 Grant-in-aid Project Tracker </a:t>
            </a:r>
            <a:endParaRPr lang="en-US" sz="2454" spc="-12" dirty="0">
              <a:solidFill>
                <a:srgbClr val="000000"/>
              </a:solidFill>
              <a:latin typeface="Somber"/>
              <a:ea typeface="Somber"/>
              <a:cs typeface="Somber"/>
              <a:sym typeface="Somber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7275F88-3984-8FF1-73AC-60ED5A42E73F}"/>
              </a:ext>
            </a:extLst>
          </p:cNvPr>
          <p:cNvSpPr txBox="1"/>
          <p:nvPr/>
        </p:nvSpPr>
        <p:spPr>
          <a:xfrm>
            <a:off x="524215" y="10265811"/>
            <a:ext cx="63127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spc="56" dirty="0">
                <a:solidFill>
                  <a:srgbClr val="000000"/>
                </a:solidFill>
                <a:latin typeface="Questrial"/>
              </a:rPr>
              <a:t>Godrej Genesis Building, 15th Floor, Unit No. 1502, Sector V, Block EP &amp; GP, Salt Lake City, Kolkata – 700091, West Bengal, India.</a:t>
            </a:r>
            <a:endParaRPr lang="en-IN" sz="1100" b="1" spc="56" dirty="0">
              <a:solidFill>
                <a:srgbClr val="000000"/>
              </a:solidFill>
              <a:latin typeface="Quest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254</Words>
  <Application>Microsoft Office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Somber</vt:lpstr>
      <vt:lpstr>Calibri</vt:lpstr>
      <vt:lpstr>Questrial</vt:lpstr>
      <vt:lpstr>Oswald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Corporate Business Design Roadmap A4 Document</dc:title>
  <dc:creator>Biswajit</dc:creator>
  <cp:lastModifiedBy>DEAN-SCIENCE</cp:lastModifiedBy>
  <cp:revision>13</cp:revision>
  <dcterms:created xsi:type="dcterms:W3CDTF">2006-08-16T00:00:00Z</dcterms:created>
  <dcterms:modified xsi:type="dcterms:W3CDTF">2025-12-03T09:54:51Z</dcterms:modified>
  <dc:identifier>DAG5rlQpufs</dc:identifier>
</cp:coreProperties>
</file>