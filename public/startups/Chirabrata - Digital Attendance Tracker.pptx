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7556500" cy="10693400"/>
  <p:notesSz cx="6858000" cy="9144000"/>
  <p:embeddedFontLst>
    <p:embeddedFont>
      <p:font typeface="Calibri" pitchFamily="34" charset="0"/>
      <p:regular r:id="rId3"/>
      <p:bold r:id="rId4"/>
      <p:italic r:id="rId5"/>
      <p:boldItalic r:id="rId6"/>
    </p:embeddedFont>
    <p:embeddedFont>
      <p:font typeface="Questrial" charset="0"/>
      <p:regular r:id="rId7"/>
    </p:embeddedFont>
    <p:embeddedFont>
      <p:font typeface="Oswald Bold" charset="0"/>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80" d="100"/>
          <a:sy n="80" d="100"/>
        </p:scale>
        <p:origin x="-1488"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6.fntdata"/><Relationship Id="rId3" Type="http://schemas.openxmlformats.org/officeDocument/2006/relationships/font" Target="fonts/font1.fntdata"/><Relationship Id="rId7" Type="http://schemas.openxmlformats.org/officeDocument/2006/relationships/font" Target="fonts/font5.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4.fntdata"/><Relationship Id="rId11" Type="http://schemas.openxmlformats.org/officeDocument/2006/relationships/theme" Target="theme/theme1.xml"/><Relationship Id="rId5" Type="http://schemas.openxmlformats.org/officeDocument/2006/relationships/font" Target="fonts/font3.fntdata"/><Relationship Id="rId10" Type="http://schemas.openxmlformats.org/officeDocument/2006/relationships/viewProps" Target="viewProps.xml"/><Relationship Id="rId4" Type="http://schemas.openxmlformats.org/officeDocument/2006/relationships/font" Target="fonts/font2.fntdata"/><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4E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7560000" cy="1887452"/>
            <a:chOff x="0" y="0"/>
            <a:chExt cx="2709333" cy="793641"/>
          </a:xfrm>
        </p:grpSpPr>
        <p:sp>
          <p:nvSpPr>
            <p:cNvPr id="3" name="Freeform 3"/>
            <p:cNvSpPr/>
            <p:nvPr/>
          </p:nvSpPr>
          <p:spPr>
            <a:xfrm>
              <a:off x="0" y="0"/>
              <a:ext cx="2709333" cy="793641"/>
            </a:xfrm>
            <a:custGeom>
              <a:avLst/>
              <a:gdLst/>
              <a:ahLst/>
              <a:cxnLst/>
              <a:rect l="l" t="t" r="r" b="b"/>
              <a:pathLst>
                <a:path w="2709333" h="793641">
                  <a:moveTo>
                    <a:pt x="0" y="0"/>
                  </a:moveTo>
                  <a:lnTo>
                    <a:pt x="2709333" y="0"/>
                  </a:lnTo>
                  <a:lnTo>
                    <a:pt x="2709333" y="793641"/>
                  </a:lnTo>
                  <a:lnTo>
                    <a:pt x="0" y="793641"/>
                  </a:lnTo>
                  <a:close/>
                </a:path>
              </a:pathLst>
            </a:custGeom>
            <a:solidFill>
              <a:srgbClr val="FFD67F"/>
            </a:solidFill>
          </p:spPr>
        </p:sp>
        <p:sp>
          <p:nvSpPr>
            <p:cNvPr id="4" name="TextBox 4"/>
            <p:cNvSpPr txBox="1"/>
            <p:nvPr/>
          </p:nvSpPr>
          <p:spPr>
            <a:xfrm>
              <a:off x="0" y="-28575"/>
              <a:ext cx="2709333" cy="822216"/>
            </a:xfrm>
            <a:prstGeom prst="rect">
              <a:avLst/>
            </a:prstGeom>
          </p:spPr>
          <p:txBody>
            <a:bodyPr lIns="50800" tIns="50800" rIns="50800" bIns="50800" rtlCol="0" anchor="ctr"/>
            <a:lstStyle/>
            <a:p>
              <a:pPr algn="ctr">
                <a:lnSpc>
                  <a:spcPts val="1960"/>
                </a:lnSpc>
                <a:spcBef>
                  <a:spcPct val="0"/>
                </a:spcBef>
              </a:pPr>
              <a:endParaRPr/>
            </a:p>
          </p:txBody>
        </p:sp>
      </p:grpSp>
      <p:sp>
        <p:nvSpPr>
          <p:cNvPr id="5" name="AutoShape 5"/>
          <p:cNvSpPr/>
          <p:nvPr/>
        </p:nvSpPr>
        <p:spPr>
          <a:xfrm>
            <a:off x="685843" y="3012417"/>
            <a:ext cx="4763" cy="1420577"/>
          </a:xfrm>
          <a:prstGeom prst="line">
            <a:avLst/>
          </a:prstGeom>
          <a:ln w="9525" cap="flat">
            <a:solidFill>
              <a:srgbClr val="45A6B0"/>
            </a:solidFill>
            <a:prstDash val="solid"/>
            <a:headEnd type="none" w="sm" len="sm"/>
            <a:tailEnd type="none" w="sm" len="sm"/>
          </a:ln>
        </p:spPr>
      </p:sp>
      <p:sp>
        <p:nvSpPr>
          <p:cNvPr id="6" name="Freeform 6"/>
          <p:cNvSpPr/>
          <p:nvPr/>
        </p:nvSpPr>
        <p:spPr>
          <a:xfrm>
            <a:off x="473897" y="2451100"/>
            <a:ext cx="423893" cy="423893"/>
          </a:xfrm>
          <a:custGeom>
            <a:avLst/>
            <a:gdLst/>
            <a:ahLst/>
            <a:cxnLst/>
            <a:rect l="l" t="t" r="r" b="b"/>
            <a:pathLst>
              <a:path w="423893" h="423893">
                <a:moveTo>
                  <a:pt x="0" y="0"/>
                </a:moveTo>
                <a:lnTo>
                  <a:pt x="423893" y="0"/>
                </a:lnTo>
                <a:lnTo>
                  <a:pt x="423893" y="423893"/>
                </a:lnTo>
                <a:lnTo>
                  <a:pt x="0" y="42389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7" name="TextBox 7"/>
          <p:cNvSpPr txBox="1"/>
          <p:nvPr/>
        </p:nvSpPr>
        <p:spPr>
          <a:xfrm>
            <a:off x="782359" y="2891203"/>
            <a:ext cx="2997641" cy="1436291"/>
          </a:xfrm>
          <a:prstGeom prst="rect">
            <a:avLst/>
          </a:prstGeom>
        </p:spPr>
        <p:txBody>
          <a:bodyPr wrap="square" lIns="0" tIns="0" rIns="0" bIns="0" rtlCol="0" anchor="t">
            <a:spAutoFit/>
          </a:bodyPr>
          <a:lstStyle/>
          <a:p>
            <a:pPr>
              <a:lnSpc>
                <a:spcPts val="1415"/>
              </a:lnSpc>
            </a:pPr>
            <a:r>
              <a:rPr lang="en-US" sz="1199" spc="56" dirty="0">
                <a:solidFill>
                  <a:srgbClr val="000000"/>
                </a:solidFill>
                <a:latin typeface="Questrial"/>
                <a:ea typeface="Questrial"/>
                <a:cs typeface="Questrial"/>
              </a:rPr>
              <a:t>Manual attendance processes cause inconsistencies, delayed reporting, and administrative burden. </a:t>
            </a:r>
            <a:r>
              <a:rPr lang="en-US" sz="1199" spc="56" dirty="0">
                <a:solidFill>
                  <a:srgbClr val="000000"/>
                </a:solidFill>
                <a:latin typeface="Questrial"/>
                <a:ea typeface="Questrial"/>
                <a:cs typeface="Questrial"/>
              </a:rPr>
              <a:t>Existing biometric data is </a:t>
            </a:r>
            <a:r>
              <a:rPr lang="en-US" sz="1199" spc="56" dirty="0" smtClean="0">
                <a:solidFill>
                  <a:srgbClr val="000000"/>
                </a:solidFill>
                <a:latin typeface="Questrial"/>
                <a:ea typeface="Questrial"/>
                <a:cs typeface="Questrial"/>
              </a:rPr>
              <a:t>under-utilized</a:t>
            </a:r>
            <a:r>
              <a:rPr lang="en-US" sz="1199" spc="56" dirty="0">
                <a:solidFill>
                  <a:srgbClr val="000000"/>
                </a:solidFill>
                <a:latin typeface="Questrial"/>
                <a:ea typeface="Questrial"/>
                <a:cs typeface="Questrial"/>
              </a:rPr>
              <a:t>, and </a:t>
            </a:r>
            <a:r>
              <a:rPr lang="en-US" sz="1199" spc="56" dirty="0" smtClean="0">
                <a:solidFill>
                  <a:srgbClr val="000000"/>
                </a:solidFill>
                <a:latin typeface="Questrial"/>
                <a:ea typeface="Questrial"/>
                <a:cs typeface="Questrial"/>
              </a:rPr>
              <a:t>department lack </a:t>
            </a:r>
            <a:r>
              <a:rPr lang="en-US" sz="1199" spc="56" dirty="0">
                <a:solidFill>
                  <a:srgbClr val="000000"/>
                </a:solidFill>
                <a:latin typeface="Questrial"/>
                <a:ea typeface="Questrial"/>
                <a:cs typeface="Questrial"/>
              </a:rPr>
              <a:t>an efficient system to verify or reconcile attendance during live classroom sessions.</a:t>
            </a:r>
            <a:endParaRPr lang="en-US" sz="1199" spc="56" dirty="0">
              <a:solidFill>
                <a:srgbClr val="000000"/>
              </a:solidFill>
              <a:latin typeface="Questrial"/>
              <a:ea typeface="Questrial"/>
              <a:cs typeface="Questrial"/>
              <a:sym typeface="Questrial"/>
            </a:endParaRPr>
          </a:p>
          <a:p>
            <a:pPr algn="l">
              <a:lnSpc>
                <a:spcPts val="1415"/>
              </a:lnSpc>
            </a:pPr>
            <a:endParaRPr lang="en-US" sz="1199" spc="56" dirty="0">
              <a:solidFill>
                <a:srgbClr val="000000"/>
              </a:solidFill>
              <a:latin typeface="Questrial"/>
              <a:ea typeface="Questrial"/>
              <a:cs typeface="Questrial"/>
              <a:sym typeface="Questrial"/>
            </a:endParaRPr>
          </a:p>
        </p:txBody>
      </p:sp>
      <p:sp>
        <p:nvSpPr>
          <p:cNvPr id="8" name="TextBox 8"/>
          <p:cNvSpPr txBox="1"/>
          <p:nvPr/>
        </p:nvSpPr>
        <p:spPr>
          <a:xfrm>
            <a:off x="972310" y="2509671"/>
            <a:ext cx="2807690" cy="341376"/>
          </a:xfrm>
          <a:prstGeom prst="rect">
            <a:avLst/>
          </a:prstGeom>
        </p:spPr>
        <p:txBody>
          <a:bodyPr lIns="0" tIns="0" rIns="0" bIns="0" rtlCol="0" anchor="t">
            <a:spAutoFit/>
          </a:bodyPr>
          <a:lstStyle/>
          <a:p>
            <a:pPr algn="l">
              <a:lnSpc>
                <a:spcPts val="2621"/>
              </a:lnSpc>
            </a:pPr>
            <a:r>
              <a:rPr lang="en-US" sz="2299">
                <a:solidFill>
                  <a:srgbClr val="000000"/>
                </a:solidFill>
                <a:latin typeface="Somber"/>
                <a:ea typeface="Somber"/>
                <a:cs typeface="Somber"/>
                <a:sym typeface="Somber"/>
              </a:rPr>
              <a:t>PROBLEM STATEMENT</a:t>
            </a:r>
          </a:p>
        </p:txBody>
      </p:sp>
      <p:sp>
        <p:nvSpPr>
          <p:cNvPr id="9" name="AutoShape 9"/>
          <p:cNvSpPr/>
          <p:nvPr/>
        </p:nvSpPr>
        <p:spPr>
          <a:xfrm>
            <a:off x="695368" y="2016040"/>
            <a:ext cx="5681744" cy="0"/>
          </a:xfrm>
          <a:prstGeom prst="line">
            <a:avLst/>
          </a:prstGeom>
          <a:ln w="9525" cap="flat">
            <a:solidFill>
              <a:srgbClr val="45A6B0"/>
            </a:solidFill>
            <a:prstDash val="solid"/>
            <a:headEnd type="none" w="sm" len="sm"/>
            <a:tailEnd type="none" w="sm" len="sm"/>
          </a:ln>
        </p:spPr>
      </p:sp>
      <p:sp>
        <p:nvSpPr>
          <p:cNvPr id="10" name="TextBox 10"/>
          <p:cNvSpPr txBox="1"/>
          <p:nvPr/>
        </p:nvSpPr>
        <p:spPr>
          <a:xfrm>
            <a:off x="3267654" y="2776515"/>
            <a:ext cx="1537580" cy="1365162"/>
          </a:xfrm>
          <a:prstGeom prst="rect">
            <a:avLst/>
          </a:prstGeom>
        </p:spPr>
        <p:txBody>
          <a:bodyPr lIns="0" tIns="0" rIns="0" bIns="0" rtlCol="0" anchor="t">
            <a:spAutoFit/>
          </a:bodyPr>
          <a:lstStyle/>
          <a:p>
            <a:pPr algn="ctr">
              <a:lnSpc>
                <a:spcPts val="10653"/>
              </a:lnSpc>
            </a:pPr>
            <a:r>
              <a:rPr lang="en-US" sz="9344" b="1">
                <a:solidFill>
                  <a:srgbClr val="FFD67F"/>
                </a:solidFill>
                <a:latin typeface="Oswald Bold"/>
                <a:ea typeface="Oswald Bold"/>
                <a:cs typeface="Oswald Bold"/>
                <a:sym typeface="Oswald Bold"/>
              </a:rPr>
              <a:t>1</a:t>
            </a:r>
          </a:p>
        </p:txBody>
      </p:sp>
      <p:sp>
        <p:nvSpPr>
          <p:cNvPr id="11" name="AutoShape 11"/>
          <p:cNvSpPr/>
          <p:nvPr/>
        </p:nvSpPr>
        <p:spPr>
          <a:xfrm>
            <a:off x="685843" y="4428232"/>
            <a:ext cx="3761353" cy="0"/>
          </a:xfrm>
          <a:prstGeom prst="line">
            <a:avLst/>
          </a:prstGeom>
          <a:ln w="9525" cap="flat">
            <a:solidFill>
              <a:srgbClr val="45A6B0"/>
            </a:solidFill>
            <a:prstDash val="solid"/>
            <a:headEnd type="none" w="sm" len="sm"/>
            <a:tailEnd type="none" w="sm" len="sm"/>
          </a:ln>
        </p:spPr>
      </p:sp>
      <p:sp>
        <p:nvSpPr>
          <p:cNvPr id="12" name="AutoShape 12"/>
          <p:cNvSpPr/>
          <p:nvPr/>
        </p:nvSpPr>
        <p:spPr>
          <a:xfrm>
            <a:off x="4444070" y="2626679"/>
            <a:ext cx="0" cy="1807446"/>
          </a:xfrm>
          <a:prstGeom prst="line">
            <a:avLst/>
          </a:prstGeom>
          <a:ln w="9525" cap="flat">
            <a:solidFill>
              <a:srgbClr val="45A6B0"/>
            </a:solidFill>
            <a:prstDash val="solid"/>
            <a:headEnd type="none" w="sm" len="sm"/>
            <a:tailEnd type="none" w="sm" len="sm"/>
          </a:ln>
        </p:spPr>
      </p:sp>
      <p:sp>
        <p:nvSpPr>
          <p:cNvPr id="13" name="AutoShape 13"/>
          <p:cNvSpPr/>
          <p:nvPr/>
        </p:nvSpPr>
        <p:spPr>
          <a:xfrm flipV="1">
            <a:off x="4439307" y="2631442"/>
            <a:ext cx="878024" cy="0"/>
          </a:xfrm>
          <a:prstGeom prst="line">
            <a:avLst/>
          </a:prstGeom>
          <a:ln w="9525" cap="flat">
            <a:solidFill>
              <a:srgbClr val="45A6B0"/>
            </a:solidFill>
            <a:prstDash val="solid"/>
            <a:headEnd type="none" w="sm" len="sm"/>
            <a:tailEnd type="none" w="sm" len="sm"/>
          </a:ln>
        </p:spPr>
      </p:sp>
      <p:sp>
        <p:nvSpPr>
          <p:cNvPr id="14" name="AutoShape 14"/>
          <p:cNvSpPr/>
          <p:nvPr/>
        </p:nvSpPr>
        <p:spPr>
          <a:xfrm flipV="1">
            <a:off x="6283585" y="2640967"/>
            <a:ext cx="878024" cy="0"/>
          </a:xfrm>
          <a:prstGeom prst="line">
            <a:avLst/>
          </a:prstGeom>
          <a:ln w="9525" cap="flat">
            <a:solidFill>
              <a:srgbClr val="45A6B0"/>
            </a:solidFill>
            <a:prstDash val="solid"/>
            <a:headEnd type="none" w="sm" len="sm"/>
            <a:tailEnd type="none" w="sm" len="sm"/>
          </a:ln>
        </p:spPr>
      </p:sp>
      <p:sp>
        <p:nvSpPr>
          <p:cNvPr id="15" name="AutoShape 15"/>
          <p:cNvSpPr/>
          <p:nvPr/>
        </p:nvSpPr>
        <p:spPr>
          <a:xfrm>
            <a:off x="7166372" y="2645729"/>
            <a:ext cx="0" cy="3050123"/>
          </a:xfrm>
          <a:prstGeom prst="line">
            <a:avLst/>
          </a:prstGeom>
          <a:ln w="9525" cap="flat">
            <a:solidFill>
              <a:srgbClr val="45A6B0"/>
            </a:solidFill>
            <a:prstDash val="solid"/>
            <a:headEnd type="none" w="sm" len="sm"/>
            <a:tailEnd type="none" w="sm" len="sm"/>
          </a:ln>
        </p:spPr>
      </p:sp>
      <p:sp>
        <p:nvSpPr>
          <p:cNvPr id="16" name="AutoShape 16"/>
          <p:cNvSpPr/>
          <p:nvPr/>
        </p:nvSpPr>
        <p:spPr>
          <a:xfrm flipV="1">
            <a:off x="4434545" y="5695852"/>
            <a:ext cx="1240035" cy="9525"/>
          </a:xfrm>
          <a:prstGeom prst="line">
            <a:avLst/>
          </a:prstGeom>
          <a:ln w="9525" cap="flat">
            <a:solidFill>
              <a:srgbClr val="45A6B0"/>
            </a:solidFill>
            <a:prstDash val="solid"/>
            <a:headEnd type="none" w="sm" len="sm"/>
            <a:tailEnd type="none" w="sm" len="sm"/>
          </a:ln>
        </p:spPr>
      </p:sp>
      <p:sp>
        <p:nvSpPr>
          <p:cNvPr id="17" name="AutoShape 17"/>
          <p:cNvSpPr/>
          <p:nvPr/>
        </p:nvSpPr>
        <p:spPr>
          <a:xfrm>
            <a:off x="4434545" y="4661138"/>
            <a:ext cx="0" cy="1052819"/>
          </a:xfrm>
          <a:prstGeom prst="line">
            <a:avLst/>
          </a:prstGeom>
          <a:ln w="9525" cap="flat">
            <a:solidFill>
              <a:srgbClr val="45A6B0"/>
            </a:solidFill>
            <a:prstDash val="solid"/>
            <a:headEnd type="none" w="sm" len="sm"/>
            <a:tailEnd type="none" w="sm" len="sm"/>
          </a:ln>
        </p:spPr>
      </p:sp>
      <p:sp>
        <p:nvSpPr>
          <p:cNvPr id="18" name="AutoShape 18"/>
          <p:cNvSpPr/>
          <p:nvPr/>
        </p:nvSpPr>
        <p:spPr>
          <a:xfrm>
            <a:off x="645779" y="4661138"/>
            <a:ext cx="3784003" cy="4762"/>
          </a:xfrm>
          <a:prstGeom prst="line">
            <a:avLst/>
          </a:prstGeom>
          <a:ln w="9525" cap="flat">
            <a:solidFill>
              <a:srgbClr val="45A6B0"/>
            </a:solidFill>
            <a:prstDash val="solid"/>
            <a:headEnd type="none" w="sm" len="sm"/>
            <a:tailEnd type="none" w="sm" len="sm"/>
          </a:ln>
        </p:spPr>
      </p:sp>
      <p:sp>
        <p:nvSpPr>
          <p:cNvPr id="19" name="Freeform 19"/>
          <p:cNvSpPr/>
          <p:nvPr/>
        </p:nvSpPr>
        <p:spPr>
          <a:xfrm>
            <a:off x="5674580" y="5485998"/>
            <a:ext cx="329471" cy="419708"/>
          </a:xfrm>
          <a:custGeom>
            <a:avLst/>
            <a:gdLst/>
            <a:ahLst/>
            <a:cxnLst/>
            <a:rect l="l" t="t" r="r" b="b"/>
            <a:pathLst>
              <a:path w="329471" h="419708">
                <a:moveTo>
                  <a:pt x="0" y="0"/>
                </a:moveTo>
                <a:lnTo>
                  <a:pt x="329471" y="0"/>
                </a:lnTo>
                <a:lnTo>
                  <a:pt x="329471" y="419708"/>
                </a:lnTo>
                <a:lnTo>
                  <a:pt x="0" y="41970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20" name="AutoShape 20"/>
          <p:cNvSpPr/>
          <p:nvPr/>
        </p:nvSpPr>
        <p:spPr>
          <a:xfrm flipV="1">
            <a:off x="6004051" y="5686328"/>
            <a:ext cx="1174852" cy="9525"/>
          </a:xfrm>
          <a:prstGeom prst="line">
            <a:avLst/>
          </a:prstGeom>
          <a:ln w="9525" cap="flat">
            <a:solidFill>
              <a:srgbClr val="45A6B0"/>
            </a:solidFill>
            <a:prstDash val="solid"/>
            <a:headEnd type="none" w="sm" len="sm"/>
            <a:tailEnd type="none" w="sm" len="sm"/>
          </a:ln>
        </p:spPr>
      </p:sp>
      <p:sp>
        <p:nvSpPr>
          <p:cNvPr id="21" name="AutoShape 21"/>
          <p:cNvSpPr/>
          <p:nvPr/>
        </p:nvSpPr>
        <p:spPr>
          <a:xfrm flipH="1">
            <a:off x="685843" y="2022522"/>
            <a:ext cx="14287" cy="566002"/>
          </a:xfrm>
          <a:prstGeom prst="line">
            <a:avLst/>
          </a:prstGeom>
          <a:ln w="9525" cap="flat">
            <a:solidFill>
              <a:srgbClr val="45A6B0"/>
            </a:solidFill>
            <a:prstDash val="solid"/>
            <a:headEnd type="none" w="sm" len="sm"/>
            <a:tailEnd type="none" w="sm" len="sm"/>
          </a:ln>
        </p:spPr>
      </p:sp>
      <p:sp>
        <p:nvSpPr>
          <p:cNvPr id="22" name="AutoShape 22"/>
          <p:cNvSpPr/>
          <p:nvPr/>
        </p:nvSpPr>
        <p:spPr>
          <a:xfrm>
            <a:off x="650541" y="4658543"/>
            <a:ext cx="0" cy="1912910"/>
          </a:xfrm>
          <a:prstGeom prst="line">
            <a:avLst/>
          </a:prstGeom>
          <a:ln w="9525" cap="flat">
            <a:solidFill>
              <a:srgbClr val="45A6B0"/>
            </a:solidFill>
            <a:prstDash val="solid"/>
            <a:headEnd type="none" w="sm" len="sm"/>
            <a:tailEnd type="none" w="sm" len="sm"/>
          </a:ln>
        </p:spPr>
      </p:sp>
      <p:sp>
        <p:nvSpPr>
          <p:cNvPr id="23" name="AutoShape 23"/>
          <p:cNvSpPr/>
          <p:nvPr/>
        </p:nvSpPr>
        <p:spPr>
          <a:xfrm>
            <a:off x="650541" y="6556835"/>
            <a:ext cx="4216134" cy="0"/>
          </a:xfrm>
          <a:prstGeom prst="line">
            <a:avLst/>
          </a:prstGeom>
          <a:ln w="9525" cap="flat">
            <a:solidFill>
              <a:srgbClr val="45A6B0"/>
            </a:solidFill>
            <a:prstDash val="solid"/>
            <a:headEnd type="none" w="sm" len="sm"/>
            <a:tailEnd type="none" w="sm" len="sm"/>
          </a:ln>
        </p:spPr>
      </p:sp>
      <p:sp>
        <p:nvSpPr>
          <p:cNvPr id="24" name="AutoShape 24"/>
          <p:cNvSpPr/>
          <p:nvPr/>
        </p:nvSpPr>
        <p:spPr>
          <a:xfrm>
            <a:off x="6654592" y="6570609"/>
            <a:ext cx="503983" cy="0"/>
          </a:xfrm>
          <a:prstGeom prst="line">
            <a:avLst/>
          </a:prstGeom>
          <a:ln w="9525" cap="flat">
            <a:solidFill>
              <a:srgbClr val="45A6B0"/>
            </a:solidFill>
            <a:prstDash val="solid"/>
            <a:headEnd type="none" w="sm" len="sm"/>
            <a:tailEnd type="none" w="sm" len="sm"/>
          </a:ln>
        </p:spPr>
      </p:sp>
      <p:sp>
        <p:nvSpPr>
          <p:cNvPr id="25" name="AutoShape 25"/>
          <p:cNvSpPr/>
          <p:nvPr/>
        </p:nvSpPr>
        <p:spPr>
          <a:xfrm flipH="1">
            <a:off x="7145450" y="6575392"/>
            <a:ext cx="0" cy="1609810"/>
          </a:xfrm>
          <a:prstGeom prst="line">
            <a:avLst/>
          </a:prstGeom>
          <a:ln w="9525" cap="flat">
            <a:solidFill>
              <a:srgbClr val="45A6B0"/>
            </a:solidFill>
            <a:prstDash val="solid"/>
            <a:headEnd type="none" w="sm" len="sm"/>
            <a:tailEnd type="none" w="sm" len="sm"/>
          </a:ln>
        </p:spPr>
      </p:sp>
      <p:sp>
        <p:nvSpPr>
          <p:cNvPr id="26" name="AutoShape 26"/>
          <p:cNvSpPr/>
          <p:nvPr/>
        </p:nvSpPr>
        <p:spPr>
          <a:xfrm>
            <a:off x="2130392" y="8394700"/>
            <a:ext cx="4430646" cy="0"/>
          </a:xfrm>
          <a:prstGeom prst="line">
            <a:avLst/>
          </a:prstGeom>
          <a:ln w="9525" cap="flat">
            <a:solidFill>
              <a:srgbClr val="45A6B0"/>
            </a:solidFill>
            <a:prstDash val="solid"/>
            <a:headEnd type="none" w="sm" len="sm"/>
            <a:tailEnd type="none" w="sm" len="sm"/>
          </a:ln>
        </p:spPr>
      </p:sp>
      <p:sp>
        <p:nvSpPr>
          <p:cNvPr id="27" name="AutoShape 27"/>
          <p:cNvSpPr/>
          <p:nvPr/>
        </p:nvSpPr>
        <p:spPr>
          <a:xfrm flipH="1">
            <a:off x="2125627" y="7149408"/>
            <a:ext cx="0" cy="1034248"/>
          </a:xfrm>
          <a:prstGeom prst="line">
            <a:avLst/>
          </a:prstGeom>
          <a:ln w="9525" cap="flat">
            <a:solidFill>
              <a:srgbClr val="45A6B0"/>
            </a:solidFill>
            <a:prstDash val="solid"/>
            <a:headEnd type="none" w="sm" len="sm"/>
            <a:tailEnd type="none" w="sm" len="sm"/>
          </a:ln>
        </p:spPr>
      </p:sp>
      <p:sp>
        <p:nvSpPr>
          <p:cNvPr id="28" name="TextBox 28"/>
          <p:cNvSpPr txBox="1"/>
          <p:nvPr/>
        </p:nvSpPr>
        <p:spPr>
          <a:xfrm>
            <a:off x="1103375" y="7133098"/>
            <a:ext cx="552480" cy="1365162"/>
          </a:xfrm>
          <a:prstGeom prst="rect">
            <a:avLst/>
          </a:prstGeom>
        </p:spPr>
        <p:txBody>
          <a:bodyPr lIns="0" tIns="0" rIns="0" bIns="0" rtlCol="0" anchor="t">
            <a:spAutoFit/>
          </a:bodyPr>
          <a:lstStyle/>
          <a:p>
            <a:pPr algn="ctr">
              <a:lnSpc>
                <a:spcPts val="10653"/>
              </a:lnSpc>
            </a:pPr>
            <a:r>
              <a:rPr lang="en-US" sz="9344" b="1">
                <a:solidFill>
                  <a:srgbClr val="FFD67F"/>
                </a:solidFill>
                <a:latin typeface="Oswald Bold"/>
                <a:ea typeface="Oswald Bold"/>
                <a:cs typeface="Oswald Bold"/>
                <a:sym typeface="Oswald Bold"/>
              </a:rPr>
              <a:t>5</a:t>
            </a:r>
          </a:p>
        </p:txBody>
      </p:sp>
      <p:sp>
        <p:nvSpPr>
          <p:cNvPr id="29" name="AutoShape 29"/>
          <p:cNvSpPr/>
          <p:nvPr/>
        </p:nvSpPr>
        <p:spPr>
          <a:xfrm>
            <a:off x="638371" y="7144646"/>
            <a:ext cx="1482487" cy="0"/>
          </a:xfrm>
          <a:prstGeom prst="line">
            <a:avLst/>
          </a:prstGeom>
          <a:ln w="9525" cap="flat">
            <a:solidFill>
              <a:srgbClr val="45A6B0"/>
            </a:solidFill>
            <a:prstDash val="solid"/>
            <a:headEnd type="none" w="sm" len="sm"/>
            <a:tailEnd type="none" w="sm" len="sm"/>
          </a:ln>
        </p:spPr>
      </p:sp>
      <p:sp>
        <p:nvSpPr>
          <p:cNvPr id="30" name="AutoShape 30"/>
          <p:cNvSpPr/>
          <p:nvPr/>
        </p:nvSpPr>
        <p:spPr>
          <a:xfrm>
            <a:off x="655304" y="7139883"/>
            <a:ext cx="35302" cy="2787992"/>
          </a:xfrm>
          <a:prstGeom prst="line">
            <a:avLst/>
          </a:prstGeom>
          <a:ln w="9525" cap="flat">
            <a:solidFill>
              <a:srgbClr val="45A6B0"/>
            </a:solidFill>
            <a:prstDash val="solid"/>
            <a:headEnd type="none" w="sm" len="sm"/>
            <a:tailEnd type="none" w="sm" len="sm"/>
          </a:ln>
        </p:spPr>
      </p:sp>
      <p:sp>
        <p:nvSpPr>
          <p:cNvPr id="31" name="AutoShape 31"/>
          <p:cNvSpPr/>
          <p:nvPr/>
        </p:nvSpPr>
        <p:spPr>
          <a:xfrm>
            <a:off x="682625" y="9933289"/>
            <a:ext cx="6628145" cy="23511"/>
          </a:xfrm>
          <a:prstGeom prst="line">
            <a:avLst/>
          </a:prstGeom>
          <a:ln w="9525" cap="flat">
            <a:solidFill>
              <a:srgbClr val="45A6B0"/>
            </a:solidFill>
            <a:prstDash val="solid"/>
            <a:headEnd type="none" w="sm" len="sm"/>
            <a:tailEnd type="none" w="sm" len="sm"/>
          </a:ln>
        </p:spPr>
      </p:sp>
      <p:grpSp>
        <p:nvGrpSpPr>
          <p:cNvPr id="32" name="Group 32"/>
          <p:cNvGrpSpPr/>
          <p:nvPr/>
        </p:nvGrpSpPr>
        <p:grpSpPr>
          <a:xfrm>
            <a:off x="0" y="10141752"/>
            <a:ext cx="7560000" cy="676005"/>
            <a:chOff x="0" y="0"/>
            <a:chExt cx="2709333" cy="782249"/>
          </a:xfrm>
        </p:grpSpPr>
        <p:sp>
          <p:nvSpPr>
            <p:cNvPr id="33" name="Freeform 33"/>
            <p:cNvSpPr/>
            <p:nvPr/>
          </p:nvSpPr>
          <p:spPr>
            <a:xfrm>
              <a:off x="0" y="0"/>
              <a:ext cx="2709333" cy="782249"/>
            </a:xfrm>
            <a:custGeom>
              <a:avLst/>
              <a:gdLst/>
              <a:ahLst/>
              <a:cxnLst/>
              <a:rect l="l" t="t" r="r" b="b"/>
              <a:pathLst>
                <a:path w="2709333" h="782249">
                  <a:moveTo>
                    <a:pt x="0" y="0"/>
                  </a:moveTo>
                  <a:lnTo>
                    <a:pt x="2709333" y="0"/>
                  </a:lnTo>
                  <a:lnTo>
                    <a:pt x="2709333" y="782249"/>
                  </a:lnTo>
                  <a:lnTo>
                    <a:pt x="0" y="782249"/>
                  </a:lnTo>
                  <a:close/>
                </a:path>
              </a:pathLst>
            </a:custGeom>
            <a:solidFill>
              <a:srgbClr val="FFD67F"/>
            </a:solidFill>
          </p:spPr>
        </p:sp>
        <p:sp>
          <p:nvSpPr>
            <p:cNvPr id="34" name="TextBox 34"/>
            <p:cNvSpPr txBox="1"/>
            <p:nvPr/>
          </p:nvSpPr>
          <p:spPr>
            <a:xfrm>
              <a:off x="0" y="-28575"/>
              <a:ext cx="2709333" cy="810824"/>
            </a:xfrm>
            <a:prstGeom prst="rect">
              <a:avLst/>
            </a:prstGeom>
          </p:spPr>
          <p:txBody>
            <a:bodyPr lIns="50800" tIns="50800" rIns="50800" bIns="50800" rtlCol="0" anchor="ctr"/>
            <a:lstStyle/>
            <a:p>
              <a:pPr algn="ctr">
                <a:lnSpc>
                  <a:spcPts val="1960"/>
                </a:lnSpc>
                <a:spcBef>
                  <a:spcPct val="0"/>
                </a:spcBef>
              </a:pPr>
              <a:endParaRPr/>
            </a:p>
          </p:txBody>
        </p:sp>
      </p:grpSp>
      <p:sp>
        <p:nvSpPr>
          <p:cNvPr id="35" name="Freeform 35"/>
          <p:cNvSpPr/>
          <p:nvPr/>
        </p:nvSpPr>
        <p:spPr>
          <a:xfrm>
            <a:off x="6709140" y="8106304"/>
            <a:ext cx="384112" cy="384112"/>
          </a:xfrm>
          <a:custGeom>
            <a:avLst/>
            <a:gdLst/>
            <a:ahLst/>
            <a:cxnLst/>
            <a:rect l="l" t="t" r="r" b="b"/>
            <a:pathLst>
              <a:path w="384112" h="384112">
                <a:moveTo>
                  <a:pt x="0" y="0"/>
                </a:moveTo>
                <a:lnTo>
                  <a:pt x="384111" y="0"/>
                </a:lnTo>
                <a:lnTo>
                  <a:pt x="384111" y="384112"/>
                </a:lnTo>
                <a:lnTo>
                  <a:pt x="0" y="384112"/>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36" name="Freeform 36"/>
          <p:cNvSpPr/>
          <p:nvPr/>
        </p:nvSpPr>
        <p:spPr>
          <a:xfrm>
            <a:off x="2034905" y="8000343"/>
            <a:ext cx="190974" cy="394779"/>
          </a:xfrm>
          <a:custGeom>
            <a:avLst/>
            <a:gdLst/>
            <a:ahLst/>
            <a:cxnLst/>
            <a:rect l="l" t="t" r="r" b="b"/>
            <a:pathLst>
              <a:path w="190974" h="394779">
                <a:moveTo>
                  <a:pt x="0" y="0"/>
                </a:moveTo>
                <a:lnTo>
                  <a:pt x="190975" y="0"/>
                </a:lnTo>
                <a:lnTo>
                  <a:pt x="190975" y="394779"/>
                </a:lnTo>
                <a:lnTo>
                  <a:pt x="0" y="394779"/>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37" name="Freeform 37"/>
          <p:cNvSpPr/>
          <p:nvPr/>
        </p:nvSpPr>
        <p:spPr>
          <a:xfrm>
            <a:off x="604377" y="6325742"/>
            <a:ext cx="355965" cy="365262"/>
          </a:xfrm>
          <a:custGeom>
            <a:avLst/>
            <a:gdLst/>
            <a:ahLst/>
            <a:cxnLst/>
            <a:rect l="l" t="t" r="r" b="b"/>
            <a:pathLst>
              <a:path w="355965" h="365262">
                <a:moveTo>
                  <a:pt x="0" y="0"/>
                </a:moveTo>
                <a:lnTo>
                  <a:pt x="355965" y="0"/>
                </a:lnTo>
                <a:lnTo>
                  <a:pt x="355965" y="365263"/>
                </a:lnTo>
                <a:lnTo>
                  <a:pt x="0" y="365263"/>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38" name="Freeform 38"/>
          <p:cNvSpPr/>
          <p:nvPr/>
        </p:nvSpPr>
        <p:spPr>
          <a:xfrm>
            <a:off x="5028792" y="421581"/>
            <a:ext cx="1949909" cy="1257844"/>
          </a:xfrm>
          <a:custGeom>
            <a:avLst/>
            <a:gdLst/>
            <a:ahLst/>
            <a:cxnLst/>
            <a:rect l="l" t="t" r="r" b="b"/>
            <a:pathLst>
              <a:path w="1615844" h="872976">
                <a:moveTo>
                  <a:pt x="0" y="0"/>
                </a:moveTo>
                <a:lnTo>
                  <a:pt x="1615844" y="0"/>
                </a:lnTo>
                <a:lnTo>
                  <a:pt x="1615844" y="872976"/>
                </a:lnTo>
                <a:lnTo>
                  <a:pt x="0" y="872976"/>
                </a:lnTo>
                <a:lnTo>
                  <a:pt x="0" y="0"/>
                </a:lnTo>
                <a:close/>
              </a:path>
            </a:pathLst>
          </a:custGeom>
          <a:blipFill>
            <a:blip r:embed="rId12"/>
            <a:stretch>
              <a:fillRect/>
            </a:stretch>
          </a:blipFill>
        </p:spPr>
      </p:sp>
      <p:sp>
        <p:nvSpPr>
          <p:cNvPr id="39" name="TextBox 39"/>
          <p:cNvSpPr txBox="1"/>
          <p:nvPr/>
        </p:nvSpPr>
        <p:spPr>
          <a:xfrm>
            <a:off x="577799" y="765525"/>
            <a:ext cx="4450993" cy="531910"/>
          </a:xfrm>
          <a:prstGeom prst="rect">
            <a:avLst/>
          </a:prstGeom>
        </p:spPr>
        <p:txBody>
          <a:bodyPr lIns="0" tIns="0" rIns="0" bIns="0" rtlCol="0" anchor="t">
            <a:spAutoFit/>
          </a:bodyPr>
          <a:lstStyle/>
          <a:p>
            <a:pPr algn="l">
              <a:lnSpc>
                <a:spcPts val="4052"/>
              </a:lnSpc>
            </a:pPr>
            <a:r>
              <a:rPr lang="en-US" sz="3554" spc="-17">
                <a:solidFill>
                  <a:srgbClr val="000000"/>
                </a:solidFill>
                <a:latin typeface="Somber"/>
                <a:ea typeface="Somber"/>
                <a:cs typeface="Somber"/>
                <a:sym typeface="Somber"/>
              </a:rPr>
              <a:t>SUPER 40 WINTER INTERNSHIP</a:t>
            </a:r>
          </a:p>
        </p:txBody>
      </p:sp>
      <p:sp>
        <p:nvSpPr>
          <p:cNvPr id="40" name="TextBox 40"/>
          <p:cNvSpPr txBox="1"/>
          <p:nvPr/>
        </p:nvSpPr>
        <p:spPr>
          <a:xfrm>
            <a:off x="577799" y="421581"/>
            <a:ext cx="5379711" cy="203327"/>
          </a:xfrm>
          <a:prstGeom prst="rect">
            <a:avLst/>
          </a:prstGeom>
        </p:spPr>
        <p:txBody>
          <a:bodyPr lIns="0" tIns="0" rIns="0" bIns="0" rtlCol="0" anchor="t">
            <a:spAutoFit/>
          </a:bodyPr>
          <a:lstStyle/>
          <a:p>
            <a:pPr algn="l">
              <a:lnSpc>
                <a:spcPts val="1533"/>
              </a:lnSpc>
            </a:pPr>
            <a:r>
              <a:rPr lang="en-US" sz="1299" spc="201">
                <a:solidFill>
                  <a:srgbClr val="000000"/>
                </a:solidFill>
                <a:latin typeface="Questrial"/>
                <a:ea typeface="Questrial"/>
                <a:cs typeface="Questrial"/>
                <a:sym typeface="Questrial"/>
              </a:rPr>
              <a:t>IEM RESEARCH FOUNDATION</a:t>
            </a:r>
          </a:p>
        </p:txBody>
      </p:sp>
      <p:sp>
        <p:nvSpPr>
          <p:cNvPr id="41" name="TextBox 41"/>
          <p:cNvSpPr txBox="1"/>
          <p:nvPr/>
        </p:nvSpPr>
        <p:spPr>
          <a:xfrm>
            <a:off x="5028792" y="2077953"/>
            <a:ext cx="1537580" cy="1365162"/>
          </a:xfrm>
          <a:prstGeom prst="rect">
            <a:avLst/>
          </a:prstGeom>
        </p:spPr>
        <p:txBody>
          <a:bodyPr lIns="0" tIns="0" rIns="0" bIns="0" rtlCol="0" anchor="t">
            <a:spAutoFit/>
          </a:bodyPr>
          <a:lstStyle/>
          <a:p>
            <a:pPr algn="ctr">
              <a:lnSpc>
                <a:spcPts val="10653"/>
              </a:lnSpc>
            </a:pPr>
            <a:r>
              <a:rPr lang="en-US" sz="9344" b="1">
                <a:solidFill>
                  <a:srgbClr val="FFD67F"/>
                </a:solidFill>
                <a:latin typeface="Oswald Bold"/>
                <a:ea typeface="Oswald Bold"/>
                <a:cs typeface="Oswald Bold"/>
                <a:sym typeface="Oswald Bold"/>
              </a:rPr>
              <a:t>2</a:t>
            </a:r>
          </a:p>
        </p:txBody>
      </p:sp>
      <p:sp>
        <p:nvSpPr>
          <p:cNvPr id="42" name="TextBox 42"/>
          <p:cNvSpPr txBox="1"/>
          <p:nvPr/>
        </p:nvSpPr>
        <p:spPr>
          <a:xfrm>
            <a:off x="4582584" y="3633951"/>
            <a:ext cx="2510668" cy="1795363"/>
          </a:xfrm>
          <a:prstGeom prst="rect">
            <a:avLst/>
          </a:prstGeom>
        </p:spPr>
        <p:txBody>
          <a:bodyPr wrap="square" lIns="0" tIns="0" rIns="0" bIns="0" rtlCol="0" anchor="t">
            <a:spAutoFit/>
          </a:bodyPr>
          <a:lstStyle/>
          <a:p>
            <a:pPr>
              <a:lnSpc>
                <a:spcPts val="1415"/>
              </a:lnSpc>
            </a:pPr>
            <a:r>
              <a:rPr lang="en-US" sz="1199" spc="56" dirty="0">
                <a:solidFill>
                  <a:srgbClr val="000000"/>
                </a:solidFill>
                <a:latin typeface="Questrial"/>
                <a:ea typeface="Questrial"/>
                <a:cs typeface="Questrial"/>
              </a:rPr>
              <a:t>We </a:t>
            </a:r>
            <a:r>
              <a:rPr lang="en-US" sz="1199" spc="56" dirty="0">
                <a:solidFill>
                  <a:srgbClr val="000000"/>
                </a:solidFill>
                <a:latin typeface="Questrial"/>
                <a:ea typeface="Questrial"/>
                <a:cs typeface="Questrial"/>
              </a:rPr>
              <a:t>analyzed </a:t>
            </a:r>
            <a:r>
              <a:rPr lang="en-US" sz="1199" spc="56" dirty="0">
                <a:solidFill>
                  <a:srgbClr val="000000"/>
                </a:solidFill>
                <a:latin typeface="Questrial"/>
                <a:ea typeface="Questrial"/>
                <a:cs typeface="Questrial"/>
              </a:rPr>
              <a:t>current biometric workflows, faculty practices, and reporting gaps. Benchmarked digital attendance systems, gathered user insights, and identified needs for automation, real-time reconciliation, accuracy improvement, and simplified faculty interaction through a mobile solution.</a:t>
            </a:r>
            <a:endParaRPr lang="en-US" sz="1199" spc="56" dirty="0">
              <a:solidFill>
                <a:srgbClr val="000000"/>
              </a:solidFill>
              <a:latin typeface="Questrial"/>
              <a:ea typeface="Questrial"/>
              <a:cs typeface="Questrial"/>
              <a:sym typeface="Questrial"/>
            </a:endParaRPr>
          </a:p>
        </p:txBody>
      </p:sp>
      <p:sp>
        <p:nvSpPr>
          <p:cNvPr id="43" name="TextBox 43"/>
          <p:cNvSpPr txBox="1"/>
          <p:nvPr/>
        </p:nvSpPr>
        <p:spPr>
          <a:xfrm>
            <a:off x="4580802" y="3267972"/>
            <a:ext cx="2433559" cy="341376"/>
          </a:xfrm>
          <a:prstGeom prst="rect">
            <a:avLst/>
          </a:prstGeom>
        </p:spPr>
        <p:txBody>
          <a:bodyPr lIns="0" tIns="0" rIns="0" bIns="0" rtlCol="0" anchor="t">
            <a:spAutoFit/>
          </a:bodyPr>
          <a:lstStyle/>
          <a:p>
            <a:pPr algn="l">
              <a:lnSpc>
                <a:spcPts val="2621"/>
              </a:lnSpc>
            </a:pPr>
            <a:r>
              <a:rPr lang="en-US" sz="2299" dirty="0">
                <a:solidFill>
                  <a:srgbClr val="000000"/>
                </a:solidFill>
                <a:latin typeface="Somber"/>
                <a:ea typeface="Somber"/>
                <a:cs typeface="Somber"/>
                <a:sym typeface="Somber"/>
              </a:rPr>
              <a:t>RESEARCH AND IDEATION</a:t>
            </a:r>
          </a:p>
        </p:txBody>
      </p:sp>
      <p:sp>
        <p:nvSpPr>
          <p:cNvPr id="44" name="TextBox 44"/>
          <p:cNvSpPr txBox="1"/>
          <p:nvPr/>
        </p:nvSpPr>
        <p:spPr>
          <a:xfrm>
            <a:off x="1364916" y="5142815"/>
            <a:ext cx="3064865" cy="1273938"/>
          </a:xfrm>
          <a:prstGeom prst="rect">
            <a:avLst/>
          </a:prstGeom>
        </p:spPr>
        <p:txBody>
          <a:bodyPr wrap="square" lIns="0" tIns="0" rIns="0" bIns="0" rtlCol="0" anchor="t">
            <a:spAutoFit/>
          </a:bodyPr>
          <a:lstStyle/>
          <a:p>
            <a:r>
              <a:rPr lang="en-US" sz="1199" spc="56" dirty="0">
                <a:solidFill>
                  <a:srgbClr val="000000"/>
                </a:solidFill>
                <a:latin typeface="Questrial"/>
                <a:ea typeface="Questrial"/>
                <a:cs typeface="Questrial"/>
              </a:rPr>
              <a:t>A unified digital attendance ecosystem combining biometric inputs with faculty validation ensures higher accuracy, transparent </a:t>
            </a:r>
            <a:r>
              <a:rPr lang="en-US" sz="1199" spc="56" dirty="0" smtClean="0">
                <a:solidFill>
                  <a:srgbClr val="000000"/>
                </a:solidFill>
                <a:latin typeface="Questrial"/>
                <a:ea typeface="Questrial"/>
                <a:cs typeface="Questrial"/>
              </a:rPr>
              <a:t>records, reduced </a:t>
            </a:r>
            <a:r>
              <a:rPr lang="en-US" sz="1199" spc="56" dirty="0">
                <a:solidFill>
                  <a:srgbClr val="000000"/>
                </a:solidFill>
                <a:latin typeface="Questrial"/>
                <a:ea typeface="Questrial"/>
                <a:cs typeface="Questrial"/>
              </a:rPr>
              <a:t>manual effort, timely reporting, and improved </a:t>
            </a:r>
            <a:r>
              <a:rPr lang="en-US" sz="1199" spc="56" dirty="0" smtClean="0">
                <a:solidFill>
                  <a:srgbClr val="000000"/>
                </a:solidFill>
                <a:latin typeface="Questrial"/>
                <a:ea typeface="Questrial"/>
                <a:cs typeface="Questrial"/>
              </a:rPr>
              <a:t>monitoring.</a:t>
            </a:r>
            <a:endParaRPr lang="en-US" sz="1100" spc="51" dirty="0">
              <a:solidFill>
                <a:srgbClr val="000000"/>
              </a:solidFill>
              <a:latin typeface="Questrial"/>
              <a:ea typeface="Questrial"/>
              <a:cs typeface="Questrial"/>
              <a:sym typeface="Questrial"/>
            </a:endParaRPr>
          </a:p>
          <a:p>
            <a:pPr algn="l">
              <a:lnSpc>
                <a:spcPts val="1298"/>
              </a:lnSpc>
            </a:pPr>
            <a:endParaRPr lang="en-US" sz="1100" spc="51" dirty="0">
              <a:solidFill>
                <a:srgbClr val="000000"/>
              </a:solidFill>
              <a:latin typeface="Questrial"/>
              <a:ea typeface="Questrial"/>
              <a:cs typeface="Questrial"/>
              <a:sym typeface="Questrial"/>
            </a:endParaRPr>
          </a:p>
        </p:txBody>
      </p:sp>
      <p:sp>
        <p:nvSpPr>
          <p:cNvPr id="45" name="TextBox 45"/>
          <p:cNvSpPr txBox="1"/>
          <p:nvPr/>
        </p:nvSpPr>
        <p:spPr>
          <a:xfrm>
            <a:off x="1441117" y="4734671"/>
            <a:ext cx="2807690" cy="341376"/>
          </a:xfrm>
          <a:prstGeom prst="rect">
            <a:avLst/>
          </a:prstGeom>
        </p:spPr>
        <p:txBody>
          <a:bodyPr lIns="0" tIns="0" rIns="0" bIns="0" rtlCol="0" anchor="t">
            <a:spAutoFit/>
          </a:bodyPr>
          <a:lstStyle/>
          <a:p>
            <a:pPr algn="l">
              <a:lnSpc>
                <a:spcPts val="2621"/>
              </a:lnSpc>
            </a:pPr>
            <a:r>
              <a:rPr lang="en-US" sz="2299">
                <a:solidFill>
                  <a:srgbClr val="000000"/>
                </a:solidFill>
                <a:latin typeface="Somber"/>
                <a:ea typeface="Somber"/>
                <a:cs typeface="Somber"/>
                <a:sym typeface="Somber"/>
              </a:rPr>
              <a:t>VALUE PROPOSITION</a:t>
            </a:r>
          </a:p>
        </p:txBody>
      </p:sp>
      <p:sp>
        <p:nvSpPr>
          <p:cNvPr id="46" name="TextBox 46"/>
          <p:cNvSpPr txBox="1"/>
          <p:nvPr/>
        </p:nvSpPr>
        <p:spPr>
          <a:xfrm>
            <a:off x="707662" y="4861163"/>
            <a:ext cx="552480" cy="1365162"/>
          </a:xfrm>
          <a:prstGeom prst="rect">
            <a:avLst/>
          </a:prstGeom>
        </p:spPr>
        <p:txBody>
          <a:bodyPr lIns="0" tIns="0" rIns="0" bIns="0" rtlCol="0" anchor="t">
            <a:spAutoFit/>
          </a:bodyPr>
          <a:lstStyle/>
          <a:p>
            <a:pPr algn="ctr">
              <a:lnSpc>
                <a:spcPts val="10653"/>
              </a:lnSpc>
            </a:pPr>
            <a:r>
              <a:rPr lang="en-US" sz="9344" b="1" dirty="0">
                <a:solidFill>
                  <a:srgbClr val="FFD67F"/>
                </a:solidFill>
                <a:latin typeface="Oswald Bold"/>
                <a:ea typeface="Oswald Bold"/>
                <a:cs typeface="Oswald Bold"/>
                <a:sym typeface="Oswald Bold"/>
              </a:rPr>
              <a:t>3</a:t>
            </a:r>
            <a:endParaRPr lang="en-US" sz="1199" spc="56" dirty="0">
              <a:solidFill>
                <a:srgbClr val="000000"/>
              </a:solidFill>
              <a:latin typeface="Questrial"/>
              <a:ea typeface="Questrial"/>
              <a:cs typeface="Questrial"/>
              <a:sym typeface="Oswald Bold"/>
            </a:endParaRPr>
          </a:p>
        </p:txBody>
      </p:sp>
      <p:sp>
        <p:nvSpPr>
          <p:cNvPr id="47" name="TextBox 47"/>
          <p:cNvSpPr txBox="1"/>
          <p:nvPr/>
        </p:nvSpPr>
        <p:spPr>
          <a:xfrm>
            <a:off x="4659445" y="6384345"/>
            <a:ext cx="2204594" cy="333425"/>
          </a:xfrm>
          <a:prstGeom prst="rect">
            <a:avLst/>
          </a:prstGeom>
        </p:spPr>
        <p:txBody>
          <a:bodyPr wrap="square" lIns="0" tIns="0" rIns="0" bIns="0" rtlCol="0" anchor="t">
            <a:spAutoFit/>
          </a:bodyPr>
          <a:lstStyle/>
          <a:p>
            <a:pPr algn="ctr">
              <a:lnSpc>
                <a:spcPts val="2621"/>
              </a:lnSpc>
              <a:spcBef>
                <a:spcPct val="0"/>
              </a:spcBef>
            </a:pPr>
            <a:r>
              <a:rPr lang="en-US" sz="2299" dirty="0">
                <a:solidFill>
                  <a:srgbClr val="000000"/>
                </a:solidFill>
                <a:latin typeface="Somber"/>
                <a:ea typeface="Somber"/>
                <a:cs typeface="Somber"/>
                <a:sym typeface="Somber"/>
              </a:rPr>
              <a:t>PROPOSED SOLUTION</a:t>
            </a:r>
          </a:p>
        </p:txBody>
      </p:sp>
      <p:sp>
        <p:nvSpPr>
          <p:cNvPr id="48" name="TextBox 48"/>
          <p:cNvSpPr txBox="1"/>
          <p:nvPr/>
        </p:nvSpPr>
        <p:spPr>
          <a:xfrm>
            <a:off x="2225880" y="6699220"/>
            <a:ext cx="552480" cy="1365162"/>
          </a:xfrm>
          <a:prstGeom prst="rect">
            <a:avLst/>
          </a:prstGeom>
        </p:spPr>
        <p:txBody>
          <a:bodyPr lIns="0" tIns="0" rIns="0" bIns="0" rtlCol="0" anchor="t">
            <a:spAutoFit/>
          </a:bodyPr>
          <a:lstStyle/>
          <a:p>
            <a:pPr algn="ctr">
              <a:lnSpc>
                <a:spcPts val="10653"/>
              </a:lnSpc>
            </a:pPr>
            <a:r>
              <a:rPr lang="en-US" sz="9344" b="1">
                <a:solidFill>
                  <a:srgbClr val="FFD67F"/>
                </a:solidFill>
                <a:latin typeface="Oswald Bold"/>
                <a:ea typeface="Oswald Bold"/>
                <a:cs typeface="Oswald Bold"/>
                <a:sym typeface="Oswald Bold"/>
              </a:rPr>
              <a:t>4</a:t>
            </a:r>
          </a:p>
        </p:txBody>
      </p:sp>
      <p:sp>
        <p:nvSpPr>
          <p:cNvPr id="49" name="TextBox 49"/>
          <p:cNvSpPr txBox="1"/>
          <p:nvPr/>
        </p:nvSpPr>
        <p:spPr>
          <a:xfrm>
            <a:off x="2897348" y="6782064"/>
            <a:ext cx="4158747" cy="1154162"/>
          </a:xfrm>
          <a:prstGeom prst="rect">
            <a:avLst/>
          </a:prstGeom>
        </p:spPr>
        <p:txBody>
          <a:bodyPr wrap="square" lIns="0" tIns="0" rIns="0" bIns="0" rtlCol="0" anchor="t">
            <a:spAutoFit/>
          </a:bodyPr>
          <a:lstStyle/>
          <a:p>
            <a:pPr marL="129540" lvl="1">
              <a:lnSpc>
                <a:spcPts val="1415"/>
              </a:lnSpc>
              <a:spcAft>
                <a:spcPts val="600"/>
              </a:spcAft>
            </a:pPr>
            <a:r>
              <a:rPr lang="en-US" sz="1199" spc="56" dirty="0">
                <a:solidFill>
                  <a:srgbClr val="000000"/>
                </a:solidFill>
                <a:latin typeface="Questrial"/>
                <a:ea typeface="Questrial"/>
                <a:cs typeface="Questrial"/>
              </a:rPr>
              <a:t>Integrate biometric attendance data with a secure backend and develop an Android app enabling faculty to review, validate, and reconcile attendance instantly during classes, ensuring real-time accuracy and streamlined administrative workflows.</a:t>
            </a:r>
            <a:endParaRPr lang="en-US" sz="1199" spc="56" dirty="0">
              <a:solidFill>
                <a:srgbClr val="000000"/>
              </a:solidFill>
              <a:latin typeface="Questrial"/>
              <a:ea typeface="Questrial"/>
              <a:cs typeface="Questrial"/>
              <a:sym typeface="Questrial"/>
            </a:endParaRPr>
          </a:p>
          <a:p>
            <a:pPr marL="0" lvl="0" indent="0" algn="l">
              <a:lnSpc>
                <a:spcPts val="1415"/>
              </a:lnSpc>
              <a:spcBef>
                <a:spcPct val="0"/>
              </a:spcBef>
            </a:pPr>
            <a:endParaRPr lang="en-US" sz="1199" u="none" strike="noStrike" spc="56" dirty="0">
              <a:solidFill>
                <a:srgbClr val="000000"/>
              </a:solidFill>
              <a:latin typeface="Questrial"/>
              <a:ea typeface="Questrial"/>
              <a:cs typeface="Questrial"/>
              <a:sym typeface="Questrial"/>
            </a:endParaRPr>
          </a:p>
        </p:txBody>
      </p:sp>
      <p:sp>
        <p:nvSpPr>
          <p:cNvPr id="50" name="TextBox 50"/>
          <p:cNvSpPr txBox="1"/>
          <p:nvPr/>
        </p:nvSpPr>
        <p:spPr>
          <a:xfrm>
            <a:off x="685843" y="9019530"/>
            <a:ext cx="6493060" cy="718145"/>
          </a:xfrm>
          <a:prstGeom prst="rect">
            <a:avLst/>
          </a:prstGeom>
        </p:spPr>
        <p:txBody>
          <a:bodyPr wrap="square" lIns="0" tIns="0" rIns="0" bIns="0" rtlCol="0" anchor="t">
            <a:spAutoFit/>
          </a:bodyPr>
          <a:lstStyle/>
          <a:p>
            <a:pPr marL="129540" lvl="1">
              <a:lnSpc>
                <a:spcPts val="1415"/>
              </a:lnSpc>
              <a:spcAft>
                <a:spcPts val="600"/>
              </a:spcAft>
            </a:pPr>
            <a:r>
              <a:rPr lang="en-US" sz="1199" spc="56" dirty="0">
                <a:solidFill>
                  <a:srgbClr val="000000"/>
                </a:solidFill>
                <a:latin typeface="Questrial"/>
                <a:ea typeface="Questrial"/>
                <a:cs typeface="Questrial"/>
              </a:rPr>
              <a:t>Reduced discrepancies, improved compliance, accurate daily records, faster reporting, enhanced academic monitoring, and significantly lower administrative workload. The system increases reliability, transparency, and efficiency in attendance management across departments and campuses.</a:t>
            </a:r>
            <a:endParaRPr lang="en-US" sz="1199" spc="56" dirty="0">
              <a:solidFill>
                <a:srgbClr val="000000"/>
              </a:solidFill>
              <a:latin typeface="Questrial"/>
              <a:ea typeface="Questrial"/>
              <a:cs typeface="Questrial"/>
              <a:sym typeface="Questrial"/>
            </a:endParaRPr>
          </a:p>
        </p:txBody>
      </p:sp>
      <p:sp>
        <p:nvSpPr>
          <p:cNvPr id="51" name="TextBox 51"/>
          <p:cNvSpPr txBox="1"/>
          <p:nvPr/>
        </p:nvSpPr>
        <p:spPr>
          <a:xfrm>
            <a:off x="782359" y="8517310"/>
            <a:ext cx="2485295" cy="341376"/>
          </a:xfrm>
          <a:prstGeom prst="rect">
            <a:avLst/>
          </a:prstGeom>
        </p:spPr>
        <p:txBody>
          <a:bodyPr lIns="0" tIns="0" rIns="0" bIns="0" rtlCol="0" anchor="t">
            <a:spAutoFit/>
          </a:bodyPr>
          <a:lstStyle/>
          <a:p>
            <a:pPr algn="l">
              <a:lnSpc>
                <a:spcPts val="2621"/>
              </a:lnSpc>
              <a:spcBef>
                <a:spcPct val="0"/>
              </a:spcBef>
            </a:pPr>
            <a:r>
              <a:rPr lang="en-US" sz="2299">
                <a:solidFill>
                  <a:srgbClr val="000000"/>
                </a:solidFill>
                <a:latin typeface="Somber"/>
                <a:ea typeface="Somber"/>
                <a:cs typeface="Somber"/>
                <a:sym typeface="Somber"/>
              </a:rPr>
              <a:t>POTENTIAL IMPACT</a:t>
            </a:r>
          </a:p>
        </p:txBody>
      </p:sp>
      <p:sp>
        <p:nvSpPr>
          <p:cNvPr id="52" name="TextBox 52"/>
          <p:cNvSpPr txBox="1"/>
          <p:nvPr/>
        </p:nvSpPr>
        <p:spPr>
          <a:xfrm>
            <a:off x="577799" y="1345445"/>
            <a:ext cx="4450993" cy="361604"/>
          </a:xfrm>
          <a:prstGeom prst="rect">
            <a:avLst/>
          </a:prstGeom>
        </p:spPr>
        <p:txBody>
          <a:bodyPr lIns="0" tIns="0" rIns="0" bIns="0" rtlCol="0" anchor="t">
            <a:spAutoFit/>
          </a:bodyPr>
          <a:lstStyle/>
          <a:p>
            <a:pPr algn="l">
              <a:lnSpc>
                <a:spcPts val="2798"/>
              </a:lnSpc>
            </a:pPr>
            <a:r>
              <a:rPr lang="en-US" sz="2454" spc="-12" dirty="0">
                <a:solidFill>
                  <a:srgbClr val="000000"/>
                </a:solidFill>
                <a:latin typeface="Somber"/>
                <a:ea typeface="Somber"/>
                <a:cs typeface="Somber"/>
                <a:sym typeface="Somber"/>
              </a:rPr>
              <a:t>Project </a:t>
            </a:r>
            <a:r>
              <a:rPr lang="en-US" sz="2454" spc="-12" dirty="0" smtClean="0">
                <a:solidFill>
                  <a:srgbClr val="000000"/>
                </a:solidFill>
                <a:latin typeface="Somber"/>
                <a:ea typeface="Somber"/>
                <a:cs typeface="Somber"/>
                <a:sym typeface="Somber"/>
              </a:rPr>
              <a:t>– Digital Attendance Register</a:t>
            </a:r>
            <a:endParaRPr lang="en-US" sz="2454" spc="-12" dirty="0">
              <a:solidFill>
                <a:srgbClr val="000000"/>
              </a:solidFill>
              <a:latin typeface="Somber"/>
              <a:ea typeface="Somber"/>
              <a:cs typeface="Somber"/>
              <a:sym typeface="Somber"/>
            </a:endParaRPr>
          </a:p>
        </p:txBody>
      </p:sp>
      <p:sp>
        <p:nvSpPr>
          <p:cNvPr id="54" name="TextBox 53">
            <a:extLst>
              <a:ext uri="{FF2B5EF4-FFF2-40B4-BE49-F238E27FC236}">
                <a16:creationId xmlns:a16="http://schemas.microsoft.com/office/drawing/2014/main" xmlns="" id="{37275F88-3984-8FF1-73AC-60ED5A42E73F}"/>
              </a:ext>
            </a:extLst>
          </p:cNvPr>
          <p:cNvSpPr txBox="1"/>
          <p:nvPr/>
        </p:nvSpPr>
        <p:spPr>
          <a:xfrm>
            <a:off x="524215" y="10265811"/>
            <a:ext cx="6312768" cy="430887"/>
          </a:xfrm>
          <a:prstGeom prst="rect">
            <a:avLst/>
          </a:prstGeom>
          <a:noFill/>
        </p:spPr>
        <p:txBody>
          <a:bodyPr wrap="square">
            <a:spAutoFit/>
          </a:bodyPr>
          <a:lstStyle/>
          <a:p>
            <a:pPr algn="ctr"/>
            <a:r>
              <a:rPr lang="en-US" sz="1100" b="1" spc="56" dirty="0">
                <a:solidFill>
                  <a:srgbClr val="000000"/>
                </a:solidFill>
                <a:latin typeface="Questrial"/>
              </a:rPr>
              <a:t>Godrej Genesis Building, 15th Floor, Unit No. 1502, Sector V, Block EP &amp; GP, Salt Lake City, Kolkata – 700091, West Bengal, India.</a:t>
            </a:r>
            <a:endParaRPr lang="en-IN" sz="1100" b="1" spc="56" dirty="0">
              <a:solidFill>
                <a:srgbClr val="000000"/>
              </a:solidFill>
              <a:latin typeface="Quest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243</Words>
  <Application>Microsoft Office PowerPoint</Application>
  <PresentationFormat>Custom</PresentationFormat>
  <Paragraphs>19</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Somber</vt:lpstr>
      <vt:lpstr>Calibri</vt:lpstr>
      <vt:lpstr>Questrial</vt:lpstr>
      <vt:lpstr>Oswald Bold</vt:lpstr>
      <vt:lpstr>Office Theme</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Yellow Corporate Business Design Roadmap A4 Document</dc:title>
  <dc:creator>Biswajit</dc:creator>
  <cp:lastModifiedBy>USER</cp:lastModifiedBy>
  <cp:revision>4</cp:revision>
  <dcterms:created xsi:type="dcterms:W3CDTF">2006-08-16T00:00:00Z</dcterms:created>
  <dcterms:modified xsi:type="dcterms:W3CDTF">2025-12-04T07:45:08Z</dcterms:modified>
  <dc:identifier>DAG5rlQpufs</dc:identifier>
</cp:coreProperties>
</file>