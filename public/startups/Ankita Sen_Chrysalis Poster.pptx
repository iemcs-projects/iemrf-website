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Oswald Bold" panose="00000800000000000000" pitchFamily="2" charset="0"/>
      <p:regular r:id="rId3"/>
      <p:bold r:id="rId4"/>
    </p:embeddedFont>
    <p:embeddedFont>
      <p:font typeface="Questrial" pitchFamily="2" charset="0"/>
      <p:regular r:id="rId5"/>
    </p:embeddedFont>
    <p:embeddedFont>
      <p:font typeface="Somber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F444B-A668-86F1-DE8E-925192AFD850}" v="588" dt="2025-11-30T12:17:47.230"/>
    <p1510:client id="{78C2B490-3C28-B599-B380-5A2CB280DF19}" v="126" dt="2025-11-29T18:27:14.417"/>
    <p1510:client id="{A730C911-4A3B-F7B5-46D9-0B915269EED8}" v="1" dt="2025-11-30T12:19:02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microsoft.com/office/2015/10/relationships/revisionInfo" Target="revisionInfo.xml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microsoft.com/office/2007/relationships/hdphoto" Target="../media/hdphoto2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60000" cy="1887452"/>
            <a:chOff x="0" y="0"/>
            <a:chExt cx="2709333" cy="7936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793641"/>
            </a:xfrm>
            <a:custGeom>
              <a:avLst/>
              <a:gdLst/>
              <a:ahLst/>
              <a:cxnLst/>
              <a:rect l="l" t="t" r="r" b="b"/>
              <a:pathLst>
                <a:path w="2709333" h="793641">
                  <a:moveTo>
                    <a:pt x="0" y="0"/>
                  </a:moveTo>
                  <a:lnTo>
                    <a:pt x="2709333" y="0"/>
                  </a:lnTo>
                  <a:lnTo>
                    <a:pt x="2709333" y="793641"/>
                  </a:lnTo>
                  <a:lnTo>
                    <a:pt x="0" y="793641"/>
                  </a:lnTo>
                  <a:close/>
                </a:path>
              </a:pathLst>
            </a:custGeom>
            <a:solidFill>
              <a:srgbClr val="FFD6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709333" cy="822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85843" y="3012417"/>
            <a:ext cx="4763" cy="1420577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473897" y="2451100"/>
            <a:ext cx="423893" cy="423893"/>
          </a:xfrm>
          <a:custGeom>
            <a:avLst/>
            <a:gdLst/>
            <a:ahLst/>
            <a:cxnLst/>
            <a:rect l="l" t="t" r="r" b="b"/>
            <a:pathLst>
              <a:path w="423893" h="423893">
                <a:moveTo>
                  <a:pt x="0" y="0"/>
                </a:moveTo>
                <a:lnTo>
                  <a:pt x="423893" y="0"/>
                </a:lnTo>
                <a:lnTo>
                  <a:pt x="423893" y="423893"/>
                </a:lnTo>
                <a:lnTo>
                  <a:pt x="0" y="423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72310" y="2891203"/>
            <a:ext cx="2807690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15"/>
              </a:lnSpc>
            </a:pPr>
            <a:r>
              <a:rPr lang="en-US" sz="1100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Academic institutions today seek souvenirs that </a:t>
            </a:r>
            <a:r>
              <a:rPr lang="en-US" sz="1100" b="1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carry meaning, reflect innovation, and embody sustainability</a:t>
            </a:r>
            <a:r>
              <a:rPr lang="en-US" sz="1100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.</a:t>
            </a:r>
            <a:br>
              <a:rPr lang="en-US" sz="1100" spc="56">
                <a:latin typeface="Questrial"/>
                <a:ea typeface="+mn-lt"/>
                <a:cs typeface="+mn-lt"/>
              </a:rPr>
            </a:br>
            <a:r>
              <a:rPr lang="en-US" sz="1100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There is a growing aspiration for gifts that integrate </a:t>
            </a:r>
            <a:r>
              <a:rPr lang="en-US" sz="1100" b="1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technology, design, and eco-conscious thinking</a:t>
            </a:r>
            <a:r>
              <a:rPr lang="en-US" sz="1100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—creating experiences that resonate long after the event</a:t>
            </a:r>
            <a:r>
              <a:rPr lang="en-US" sz="1100" spc="56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.</a:t>
            </a:r>
            <a:endParaRPr lang="en-US" sz="1100">
              <a:latin typeface="Questrial"/>
              <a:ea typeface="Questrial"/>
              <a:cs typeface="Questrial"/>
            </a:endParaRPr>
          </a:p>
          <a:p>
            <a:pPr algn="l">
              <a:lnSpc>
                <a:spcPts val="1415"/>
              </a:lnSpc>
            </a:pPr>
            <a:endParaRPr lang="en-US" sz="1150" spc="56">
              <a:solidFill>
                <a:srgbClr val="000000"/>
              </a:solidFill>
              <a:latin typeface="Questrial"/>
              <a:ea typeface="Questrial"/>
              <a:cs typeface="Questrial"/>
            </a:endParaRPr>
          </a:p>
          <a:p>
            <a:pPr algn="l">
              <a:lnSpc>
                <a:spcPts val="1415"/>
              </a:lnSpc>
            </a:pPr>
            <a:endParaRPr lang="en-US" sz="1150" spc="56">
              <a:solidFill>
                <a:srgbClr val="000000"/>
              </a:solidFill>
              <a:latin typeface="Questrial"/>
              <a:ea typeface="Questrial"/>
              <a:cs typeface="Quest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72310" y="2509671"/>
            <a:ext cx="2807690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PROBLEM STATEMENT</a:t>
            </a:r>
          </a:p>
        </p:txBody>
      </p:sp>
      <p:sp>
        <p:nvSpPr>
          <p:cNvPr id="9" name="AutoShape 9"/>
          <p:cNvSpPr/>
          <p:nvPr/>
        </p:nvSpPr>
        <p:spPr>
          <a:xfrm>
            <a:off x="695368" y="2016040"/>
            <a:ext cx="568174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267654" y="2776515"/>
            <a:ext cx="15375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85843" y="4428232"/>
            <a:ext cx="3761353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4444070" y="2626679"/>
            <a:ext cx="0" cy="1807446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4439307" y="2631442"/>
            <a:ext cx="87802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6283585" y="2640967"/>
            <a:ext cx="87802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7166372" y="2645729"/>
            <a:ext cx="0" cy="3050123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4434545" y="5695852"/>
            <a:ext cx="1240035" cy="9525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4434545" y="4661138"/>
            <a:ext cx="0" cy="1052819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645779" y="4661138"/>
            <a:ext cx="3784003" cy="476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5674580" y="5485998"/>
            <a:ext cx="329471" cy="419708"/>
          </a:xfrm>
          <a:custGeom>
            <a:avLst/>
            <a:gdLst/>
            <a:ahLst/>
            <a:cxnLst/>
            <a:rect l="l" t="t" r="r" b="b"/>
            <a:pathLst>
              <a:path w="329471" h="419708">
                <a:moveTo>
                  <a:pt x="0" y="0"/>
                </a:moveTo>
                <a:lnTo>
                  <a:pt x="329471" y="0"/>
                </a:lnTo>
                <a:lnTo>
                  <a:pt x="329471" y="419708"/>
                </a:lnTo>
                <a:lnTo>
                  <a:pt x="0" y="419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 flipV="1">
            <a:off x="6004051" y="5686328"/>
            <a:ext cx="1174852" cy="9525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H="1">
            <a:off x="685843" y="2022522"/>
            <a:ext cx="14287" cy="56600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650541" y="4658543"/>
            <a:ext cx="0" cy="191291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650541" y="6556835"/>
            <a:ext cx="421613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6654592" y="6570609"/>
            <a:ext cx="503983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flipH="1">
            <a:off x="7145450" y="6575392"/>
            <a:ext cx="0" cy="160981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2130392" y="8394700"/>
            <a:ext cx="4430646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flipH="1">
            <a:off x="2125627" y="7149408"/>
            <a:ext cx="0" cy="1034248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/>
          <p:cNvSpPr txBox="1"/>
          <p:nvPr/>
        </p:nvSpPr>
        <p:spPr>
          <a:xfrm>
            <a:off x="1103375" y="7133098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5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38371" y="7144646"/>
            <a:ext cx="1482487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655304" y="7139883"/>
            <a:ext cx="35302" cy="278799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682625" y="9933289"/>
            <a:ext cx="6628145" cy="23511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0" y="10141752"/>
            <a:ext cx="7560000" cy="676005"/>
            <a:chOff x="0" y="0"/>
            <a:chExt cx="2709333" cy="78224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09333" cy="782249"/>
            </a:xfrm>
            <a:custGeom>
              <a:avLst/>
              <a:gdLst/>
              <a:ahLst/>
              <a:cxnLst/>
              <a:rect l="l" t="t" r="r" b="b"/>
              <a:pathLst>
                <a:path w="2709333" h="782249">
                  <a:moveTo>
                    <a:pt x="0" y="0"/>
                  </a:moveTo>
                  <a:lnTo>
                    <a:pt x="2709333" y="0"/>
                  </a:lnTo>
                  <a:lnTo>
                    <a:pt x="2709333" y="782249"/>
                  </a:lnTo>
                  <a:lnTo>
                    <a:pt x="0" y="782249"/>
                  </a:lnTo>
                  <a:close/>
                </a:path>
              </a:pathLst>
            </a:custGeom>
            <a:solidFill>
              <a:srgbClr val="FFD67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709333" cy="810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6684540" y="8063260"/>
            <a:ext cx="384112" cy="384112"/>
          </a:xfrm>
          <a:custGeom>
            <a:avLst/>
            <a:gdLst/>
            <a:ahLst/>
            <a:cxnLst/>
            <a:rect l="l" t="t" r="r" b="b"/>
            <a:pathLst>
              <a:path w="384112" h="384112">
                <a:moveTo>
                  <a:pt x="0" y="0"/>
                </a:moveTo>
                <a:lnTo>
                  <a:pt x="384111" y="0"/>
                </a:lnTo>
                <a:lnTo>
                  <a:pt x="384111" y="384112"/>
                </a:lnTo>
                <a:lnTo>
                  <a:pt x="0" y="384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034905" y="8000343"/>
            <a:ext cx="190974" cy="394779"/>
          </a:xfrm>
          <a:custGeom>
            <a:avLst/>
            <a:gdLst/>
            <a:ahLst/>
            <a:cxnLst/>
            <a:rect l="l" t="t" r="r" b="b"/>
            <a:pathLst>
              <a:path w="190974" h="394779">
                <a:moveTo>
                  <a:pt x="0" y="0"/>
                </a:moveTo>
                <a:lnTo>
                  <a:pt x="190975" y="0"/>
                </a:lnTo>
                <a:lnTo>
                  <a:pt x="190975" y="394779"/>
                </a:lnTo>
                <a:lnTo>
                  <a:pt x="0" y="3947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04377" y="6325742"/>
            <a:ext cx="355965" cy="365262"/>
          </a:xfrm>
          <a:custGeom>
            <a:avLst/>
            <a:gdLst/>
            <a:ahLst/>
            <a:cxnLst/>
            <a:rect l="l" t="t" r="r" b="b"/>
            <a:pathLst>
              <a:path w="355965" h="365262">
                <a:moveTo>
                  <a:pt x="0" y="0"/>
                </a:moveTo>
                <a:lnTo>
                  <a:pt x="355965" y="0"/>
                </a:lnTo>
                <a:lnTo>
                  <a:pt x="355965" y="365263"/>
                </a:lnTo>
                <a:lnTo>
                  <a:pt x="0" y="365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028792" y="421581"/>
            <a:ext cx="1949909" cy="1257844"/>
          </a:xfrm>
          <a:custGeom>
            <a:avLst/>
            <a:gdLst/>
            <a:ahLst/>
            <a:cxnLst/>
            <a:rect l="l" t="t" r="r" b="b"/>
            <a:pathLst>
              <a:path w="1615844" h="872976">
                <a:moveTo>
                  <a:pt x="0" y="0"/>
                </a:moveTo>
                <a:lnTo>
                  <a:pt x="1615844" y="0"/>
                </a:lnTo>
                <a:lnTo>
                  <a:pt x="1615844" y="872976"/>
                </a:lnTo>
                <a:lnTo>
                  <a:pt x="0" y="8729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77799" y="765525"/>
            <a:ext cx="4450993" cy="53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3554" spc="-17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SUPER 40 WINTER INTERNSHIP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7799" y="421581"/>
            <a:ext cx="5379711" cy="20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3"/>
              </a:lnSpc>
            </a:pPr>
            <a:r>
              <a:rPr lang="en-US" sz="1299" spc="20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IEM RESEARCH FOUNDATION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28792" y="2077953"/>
            <a:ext cx="15375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573708" y="3812208"/>
            <a:ext cx="2433559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indent="-171450">
              <a:lnSpc>
                <a:spcPts val="1415"/>
              </a:lnSpc>
              <a:buFont typeface="Arial"/>
              <a:buChar char="•"/>
            </a:pPr>
            <a:r>
              <a:rPr lang="en-US" sz="1100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The Chrysalis internship blends </a:t>
            </a:r>
            <a:r>
              <a:rPr lang="en-US" sz="1100" b="1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embedded technology, sustainable materials, and design thinking</a:t>
            </a:r>
            <a:endParaRPr lang="en-US" sz="1100">
              <a:solidFill>
                <a:srgbClr val="000000"/>
              </a:solidFill>
              <a:latin typeface="Questrial"/>
              <a:ea typeface="+mn-lt"/>
              <a:cs typeface="+mn-lt"/>
            </a:endParaRPr>
          </a:p>
          <a:p>
            <a:pPr marL="171450" indent="-171450">
              <a:lnSpc>
                <a:spcPts val="1415"/>
              </a:lnSpc>
              <a:buFont typeface="Arial"/>
              <a:buChar char="•"/>
            </a:pPr>
            <a:r>
              <a:rPr lang="en-US" sz="1100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Students learn to transform </a:t>
            </a:r>
            <a:r>
              <a:rPr lang="en-US" sz="1100" b="1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theoretical concepts into functional prototypes</a:t>
            </a:r>
            <a:r>
              <a:rPr lang="en-US" sz="1100" spc="56">
                <a:solidFill>
                  <a:srgbClr val="000000"/>
                </a:solidFill>
                <a:latin typeface="Questrial"/>
                <a:ea typeface="+mn-lt"/>
                <a:cs typeface="+mn-lt"/>
                <a:sym typeface="Questrial"/>
              </a:rPr>
              <a:t>, bringing ideas to life through creativity and practical execution</a:t>
            </a:r>
            <a:endParaRPr lang="en-US" sz="1100">
              <a:latin typeface="Questrial"/>
              <a:ea typeface="+mn-lt"/>
              <a:cs typeface="+mn-lt"/>
            </a:endParaRPr>
          </a:p>
          <a:p>
            <a:pPr marL="171450" indent="-171450" algn="l">
              <a:lnSpc>
                <a:spcPts val="1415"/>
              </a:lnSpc>
              <a:buFont typeface="Arial"/>
              <a:buChar char="•"/>
            </a:pPr>
            <a:endParaRPr lang="en-US" sz="1199" spc="56">
              <a:solidFill>
                <a:srgbClr val="000000"/>
              </a:solidFill>
              <a:latin typeface="Questrial"/>
              <a:ea typeface="Questrial"/>
              <a:cs typeface="Quest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22536" y="3480110"/>
            <a:ext cx="2433559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RESEARCH AND IDEATION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79615" y="5215657"/>
            <a:ext cx="2883890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0195" lvl="1" indent="-171450">
              <a:lnSpc>
                <a:spcPts val="1364"/>
              </a:lnSpc>
              <a:spcAft>
                <a:spcPts val="600"/>
              </a:spcAft>
              <a:buFont typeface="Arial"/>
              <a:buChar char="•"/>
            </a:pPr>
            <a:r>
              <a:rPr lang="en-US" sz="1100">
                <a:latin typeface="Questrial"/>
                <a:ea typeface="Questrial"/>
                <a:cs typeface="Questrial"/>
              </a:rPr>
              <a:t>Chrysalis offers souvenirs that merge smart sensing, eco-materials, and refined aesthetics.</a:t>
            </a:r>
            <a:endParaRPr lang="en-US" sz="1100">
              <a:latin typeface="+mn-ea"/>
            </a:endParaRPr>
          </a:p>
          <a:p>
            <a:pPr marL="290195" lvl="1" indent="-171450">
              <a:lnSpc>
                <a:spcPts val="1364"/>
              </a:lnSpc>
              <a:spcAft>
                <a:spcPts val="600"/>
              </a:spcAft>
              <a:buFont typeface="Arial"/>
              <a:buChar char="•"/>
            </a:pPr>
            <a:r>
              <a:rPr lang="en-US" sz="1100">
                <a:latin typeface="Questrial"/>
                <a:ea typeface="Questrial"/>
                <a:cs typeface="Questrial"/>
              </a:rPr>
              <a:t>Each prototype reflects institutional values of innovation, sustainability, and thoughtful craftsmanship.</a:t>
            </a:r>
            <a:endParaRPr lang="en-US">
              <a:ea typeface="Calibri"/>
              <a:cs typeface="Calibri"/>
            </a:endParaRPr>
          </a:p>
          <a:p>
            <a:pPr algn="l">
              <a:lnSpc>
                <a:spcPts val="1298"/>
              </a:lnSpc>
            </a:pPr>
            <a:endParaRPr lang="en-US" sz="1100" spc="51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298"/>
              </a:lnSpc>
            </a:pPr>
            <a:endParaRPr lang="en-US" sz="1100" spc="51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298"/>
              </a:lnSpc>
            </a:pPr>
            <a:endParaRPr lang="en-US" sz="1100" spc="51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441117" y="4734671"/>
            <a:ext cx="2807690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VALUE PROPOSITION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7662" y="4861163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59445" y="6384345"/>
            <a:ext cx="220459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PROPOSED SOLUTION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225880" y="6699220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468016" y="6941247"/>
            <a:ext cx="4542454" cy="2477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8650" indent="-171450">
              <a:buFont typeface="Arial"/>
              <a:buChar char="•"/>
            </a:pPr>
            <a:r>
              <a:rPr lang="en-US" sz="1100" b="1">
                <a:solidFill>
                  <a:srgbClr val="FF0000"/>
                </a:solidFill>
                <a:latin typeface="Questrial"/>
                <a:ea typeface="Questrial"/>
                <a:cs typeface="Questrial"/>
              </a:rPr>
              <a:t>Lumina-Sensing Lamp</a:t>
            </a:r>
            <a:r>
              <a:rPr lang="en-US" sz="1100">
                <a:latin typeface="Questrial"/>
                <a:ea typeface="Questrial"/>
                <a:cs typeface="Questrial"/>
              </a:rPr>
              <a:t> – Light-responsive symbolic lamp</a:t>
            </a:r>
            <a:endParaRPr lang="en-US">
              <a:latin typeface="Calibri"/>
              <a:ea typeface="Calibri"/>
              <a:cs typeface="Calibri"/>
            </a:endParaRPr>
          </a:p>
          <a:p>
            <a:pPr marL="628650" indent="-171450">
              <a:buFont typeface="Arial"/>
              <a:buChar char="•"/>
            </a:pPr>
            <a:r>
              <a:rPr lang="en-US" sz="1100" b="1">
                <a:solidFill>
                  <a:srgbClr val="FF0000"/>
                </a:solidFill>
                <a:latin typeface="Questrial"/>
                <a:ea typeface="Questrial"/>
                <a:cs typeface="Questrial"/>
              </a:rPr>
              <a:t>Good Morning Lamp </a:t>
            </a:r>
            <a:r>
              <a:rPr lang="en-US" sz="1100">
                <a:latin typeface="Questrial"/>
                <a:ea typeface="Questrial"/>
                <a:cs typeface="Questrial"/>
              </a:rPr>
              <a:t>– Natural-light activated notifier</a:t>
            </a:r>
          </a:p>
          <a:p>
            <a:pPr marL="628650" indent="-171450">
              <a:buFont typeface="Arial"/>
              <a:buChar char="•"/>
            </a:pPr>
            <a:r>
              <a:rPr lang="en-US" sz="1100" b="1">
                <a:solidFill>
                  <a:srgbClr val="FF0000"/>
                </a:solidFill>
                <a:latin typeface="Questrial"/>
                <a:ea typeface="Questrial"/>
                <a:cs typeface="Questrial"/>
              </a:rPr>
              <a:t>Eco Tree Souvenir</a:t>
            </a:r>
            <a:r>
              <a:rPr lang="en-US" sz="1100">
                <a:latin typeface="Questrial"/>
                <a:ea typeface="Questrial"/>
                <a:cs typeface="Questrial"/>
              </a:rPr>
              <a:t> – Soil-moisture sensing mini pot.</a:t>
            </a:r>
          </a:p>
          <a:p>
            <a:pPr marL="628650" lvl="1" indent="-171450">
              <a:buFont typeface="Arial,Sans-Serif"/>
              <a:buChar char="•"/>
            </a:pPr>
            <a:r>
              <a:rPr lang="en-US" sz="1100" b="1">
                <a:solidFill>
                  <a:srgbClr val="FF0000"/>
                </a:solidFill>
                <a:latin typeface="Questrial"/>
                <a:ea typeface="Questrial"/>
                <a:cs typeface="Questrial"/>
              </a:rPr>
              <a:t>Green Guardian</a:t>
            </a:r>
            <a:r>
              <a:rPr lang="en-US" sz="1100">
                <a:latin typeface="Questrial"/>
                <a:ea typeface="Questrial"/>
                <a:cs typeface="Questrial"/>
              </a:rPr>
              <a:t> – RGB-based ambient air indicator</a:t>
            </a:r>
            <a:endParaRPr lang="en-US"/>
          </a:p>
          <a:p>
            <a:pPr marL="628650" lvl="1" indent="-171450">
              <a:buFont typeface="Arial,Sans-Serif"/>
              <a:buChar char="•"/>
            </a:pPr>
            <a:r>
              <a:rPr lang="en-US" sz="1100" b="1">
                <a:solidFill>
                  <a:srgbClr val="FF0000"/>
                </a:solidFill>
                <a:latin typeface="Questrial"/>
                <a:ea typeface="Questrial"/>
                <a:cs typeface="Questrial"/>
              </a:rPr>
              <a:t>Smart Adaptive Photo Frame</a:t>
            </a:r>
            <a:r>
              <a:rPr lang="en-US" sz="1100">
                <a:latin typeface="Questrial"/>
                <a:ea typeface="Questrial"/>
                <a:cs typeface="Questrial"/>
              </a:rPr>
              <a:t> – ESP32-CAM interactive frame</a:t>
            </a:r>
          </a:p>
          <a:p>
            <a:pPr marL="628650" indent="-171450">
              <a:buFont typeface="Arial"/>
              <a:buChar char="•"/>
            </a:pPr>
            <a:endParaRPr lang="en-US" sz="1100">
              <a:latin typeface="Questrial"/>
              <a:ea typeface="Questrial"/>
              <a:cs typeface="Questrial"/>
            </a:endParaRPr>
          </a:p>
          <a:p>
            <a:pPr marL="628650" indent="-171450">
              <a:buFont typeface="Arial"/>
              <a:buChar char="•"/>
            </a:pPr>
            <a:endParaRPr lang="en-US" sz="1100">
              <a:latin typeface="Questrial"/>
              <a:ea typeface="Questrial"/>
              <a:cs typeface="Questrial"/>
            </a:endParaRPr>
          </a:p>
          <a:p>
            <a:pPr marL="628650" indent="-171450">
              <a:buFont typeface="Arial"/>
              <a:buChar char="•"/>
            </a:pPr>
            <a:endParaRPr lang="en-US" sz="1100">
              <a:latin typeface="Questrial"/>
              <a:ea typeface="Questrial"/>
              <a:cs typeface="Questrial"/>
            </a:endParaRPr>
          </a:p>
          <a:p>
            <a:pPr marL="628650" indent="-171450">
              <a:buFont typeface="Arial"/>
              <a:buChar char="•"/>
            </a:pPr>
            <a:endParaRPr lang="en-US" sz="1100">
              <a:latin typeface="Questrial"/>
              <a:ea typeface="Questrial"/>
              <a:cs typeface="Questrial"/>
            </a:endParaRPr>
          </a:p>
          <a:p>
            <a:r>
              <a:rPr lang="en-US" sz="1100">
                <a:latin typeface="Questrial"/>
                <a:ea typeface="Questrial"/>
                <a:cs typeface="Questrial"/>
              </a:rPr>
              <a:t>  </a:t>
            </a:r>
          </a:p>
          <a:p>
            <a:pPr marL="628650" lvl="1" indent="-171450">
              <a:buFont typeface="Arial"/>
              <a:buChar char="•"/>
            </a:pPr>
            <a:endParaRPr lang="en-US" sz="1100">
              <a:latin typeface="Questrial"/>
              <a:ea typeface="Questrial"/>
              <a:cs typeface="Questrial"/>
            </a:endParaRPr>
          </a:p>
          <a:p>
            <a:pPr marL="259080" lvl="1" indent="-129540">
              <a:lnSpc>
                <a:spcPts val="1415"/>
              </a:lnSpc>
              <a:spcAft>
                <a:spcPts val="600"/>
              </a:spcAft>
              <a:buFont typeface="Arial"/>
              <a:buChar char="•"/>
            </a:pPr>
            <a:endParaRPr lang="en-US" sz="1150" u="none" strike="noStrike" spc="56">
              <a:solidFill>
                <a:srgbClr val="000000"/>
              </a:solidFill>
              <a:latin typeface="Questrial"/>
              <a:ea typeface="Questrial"/>
              <a:cs typeface="Questrial"/>
            </a:endParaRPr>
          </a:p>
          <a:p>
            <a:pPr marL="0" lvl="0" indent="0">
              <a:lnSpc>
                <a:spcPts val="1415"/>
              </a:lnSpc>
              <a:spcBef>
                <a:spcPct val="0"/>
              </a:spcBef>
            </a:pPr>
            <a:endParaRPr lang="en-US" sz="1199" u="none" strike="noStrike" spc="56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lnSpc>
                <a:spcPts val="1415"/>
              </a:lnSpc>
              <a:spcBef>
                <a:spcPct val="0"/>
              </a:spcBef>
            </a:pPr>
            <a:endParaRPr lang="en-US" sz="1199" u="none" strike="noStrike" spc="56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67213" y="8986997"/>
            <a:ext cx="4371490" cy="1055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1150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Fosters a </a:t>
            </a:r>
            <a:r>
              <a:rPr lang="en-US" sz="1150" b="1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culture of innovation</a:t>
            </a:r>
            <a:r>
              <a:rPr lang="en-US" sz="1150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 among students.</a:t>
            </a:r>
            <a:endParaRPr lang="en-US" sz="1150" spc="56">
              <a:solidFill>
                <a:srgbClr val="000000"/>
              </a:solidFill>
              <a:latin typeface="Questrial"/>
              <a:ea typeface="Questrial"/>
              <a:cs typeface="Questrial"/>
            </a:endParaRPr>
          </a:p>
          <a:p>
            <a:pPr>
              <a:buFont typeface="Arial"/>
              <a:buChar char="•"/>
            </a:pPr>
            <a:r>
              <a:rPr lang="en-US" sz="1150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Encourages </a:t>
            </a:r>
            <a:r>
              <a:rPr lang="en-US" sz="1150" b="1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sustainable practices</a:t>
            </a:r>
            <a:r>
              <a:rPr lang="en-US" sz="1150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 in academic gifting.</a:t>
            </a:r>
            <a:endParaRPr lang="en-US">
              <a:latin typeface="Questrial"/>
              <a:ea typeface="Questrial"/>
              <a:cs typeface="Questrial"/>
            </a:endParaRPr>
          </a:p>
          <a:p>
            <a:pPr>
              <a:buFont typeface="Arial"/>
              <a:buChar char="•"/>
            </a:pPr>
            <a:r>
              <a:rPr lang="en-US" sz="1150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Enhances </a:t>
            </a:r>
            <a:r>
              <a:rPr lang="en-US" sz="1150" b="1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institutional identity</a:t>
            </a:r>
            <a:r>
              <a:rPr lang="en-US" sz="1150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 trough purposeful design.</a:t>
            </a:r>
            <a:endParaRPr lang="en-US">
              <a:latin typeface="Questrial"/>
              <a:ea typeface="Questrial"/>
              <a:cs typeface="Questrial"/>
            </a:endParaRPr>
          </a:p>
          <a:p>
            <a:pPr>
              <a:buFont typeface="Arial"/>
              <a:buChar char="•"/>
            </a:pPr>
            <a:r>
              <a:rPr lang="en-US" sz="1150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Builds </a:t>
            </a:r>
            <a:r>
              <a:rPr lang="en-US" sz="1150" b="1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hands-on learning</a:t>
            </a:r>
            <a:r>
              <a:rPr lang="en-US" sz="1150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 in product development.</a:t>
            </a:r>
            <a:endParaRPr lang="en-US">
              <a:latin typeface="Questrial"/>
              <a:ea typeface="Questrial"/>
              <a:cs typeface="Questrial"/>
            </a:endParaRPr>
          </a:p>
          <a:p>
            <a:pPr>
              <a:buFont typeface="Arial"/>
              <a:buChar char="•"/>
            </a:pPr>
            <a:r>
              <a:rPr lang="en-US" sz="1150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Lays groundwork for </a:t>
            </a:r>
            <a:r>
              <a:rPr lang="en-US" sz="1150" b="1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future scalable products</a:t>
            </a:r>
            <a:r>
              <a:rPr lang="en-US" sz="1150" spc="56">
                <a:solidFill>
                  <a:srgbClr val="000000"/>
                </a:solidFill>
                <a:latin typeface="Questrial"/>
                <a:ea typeface="+mn-lt"/>
                <a:cs typeface="+mn-lt"/>
              </a:rPr>
              <a:t>.</a:t>
            </a:r>
            <a:endParaRPr lang="en-US">
              <a:latin typeface="Questrial"/>
            </a:endParaRPr>
          </a:p>
          <a:p>
            <a:pPr marL="259080" lvl="1" indent="-129540" algn="l">
              <a:lnSpc>
                <a:spcPts val="1415"/>
              </a:lnSpc>
              <a:spcAft>
                <a:spcPts val="600"/>
              </a:spcAft>
              <a:buFont typeface="Arial"/>
              <a:buChar char="•"/>
            </a:pPr>
            <a:endParaRPr lang="en-US" sz="1150" u="none" strike="noStrike" spc="56">
              <a:solidFill>
                <a:srgbClr val="000000"/>
              </a:solidFill>
              <a:latin typeface="Questrial"/>
              <a:ea typeface="Questrial"/>
              <a:cs typeface="Questrial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782359" y="8517310"/>
            <a:ext cx="2485295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POTENTIAL IMPACT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07025" y="1279435"/>
            <a:ext cx="5015866" cy="913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>
                <a:sym typeface="Somber"/>
              </a:rPr>
              <a:t>       CHRYSALIS -Smart Souvenir Prototype Series 1.0</a:t>
            </a:r>
            <a:endParaRPr lang="en-US" sz="2450" spc="-12">
              <a:solidFill>
                <a:srgbClr val="000000"/>
              </a:solidFill>
              <a:latin typeface="Somber"/>
              <a:ea typeface="Somber"/>
              <a:cs typeface="Somber"/>
            </a:endParaRPr>
          </a:p>
          <a:p>
            <a:r>
              <a:rPr lang="en-US" i="1">
                <a:sym typeface="Somber"/>
              </a:rPr>
              <a:t>               Smart • Sustainable • Sensory</a:t>
            </a:r>
            <a:endParaRPr lang="en-US">
              <a:sym typeface="Somber"/>
            </a:endParaRPr>
          </a:p>
          <a:p>
            <a:pPr>
              <a:lnSpc>
                <a:spcPts val="2798"/>
              </a:lnSpc>
            </a:pPr>
            <a:endParaRPr lang="en-US" sz="2450" spc="-12">
              <a:solidFill>
                <a:srgbClr val="000000"/>
              </a:solidFill>
              <a:latin typeface="Somber"/>
              <a:ea typeface="Somber"/>
              <a:cs typeface="Sombe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275F88-3984-8FF1-73AC-60ED5A42E73F}"/>
              </a:ext>
            </a:extLst>
          </p:cNvPr>
          <p:cNvSpPr txBox="1"/>
          <p:nvPr/>
        </p:nvSpPr>
        <p:spPr>
          <a:xfrm>
            <a:off x="524215" y="10265811"/>
            <a:ext cx="6312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spc="56">
                <a:solidFill>
                  <a:srgbClr val="000000"/>
                </a:solidFill>
                <a:latin typeface="Questrial"/>
              </a:rPr>
              <a:t>Godrej Genesis Building, 15th Floor, Unit No. 1502, Sector V, Block EP &amp; GP, Salt Lake City, Kolkata – 700091, West Bengal, India.</a:t>
            </a:r>
            <a:endParaRPr lang="en-IN" sz="1100" b="1" spc="56">
              <a:solidFill>
                <a:srgbClr val="000000"/>
              </a:solidFill>
              <a:latin typeface="Questrial"/>
            </a:endParaRPr>
          </a:p>
        </p:txBody>
      </p:sp>
      <p:pic>
        <p:nvPicPr>
          <p:cNvPr id="58" name="Picture 57" descr="A butterfly with a circuit board&#10;&#10;AI-generated content may be incorrect.">
            <a:extLst>
              <a:ext uri="{FF2B5EF4-FFF2-40B4-BE49-F238E27FC236}">
                <a16:creationId xmlns:a16="http://schemas.microsoft.com/office/drawing/2014/main" id="{FC1F7E98-C49B-37E5-67D0-60691D7E81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3724" y="9158379"/>
            <a:ext cx="1010052" cy="742950"/>
          </a:xfrm>
          <a:prstGeom prst="rect">
            <a:avLst/>
          </a:prstGeom>
        </p:spPr>
      </p:pic>
      <p:pic>
        <p:nvPicPr>
          <p:cNvPr id="59" name="Picture 58" descr="A butterfly with a circuit board&#10;&#10;AI-generated content may be incorrect.">
            <a:extLst>
              <a:ext uri="{FF2B5EF4-FFF2-40B4-BE49-F238E27FC236}">
                <a16:creationId xmlns:a16="http://schemas.microsoft.com/office/drawing/2014/main" id="{2449281C-FD4E-3B45-C3FD-8FCB43EB33B9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10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294" t="14877" r="12835" b="17345"/>
          <a:stretch>
            <a:fillRect/>
          </a:stretch>
        </p:blipFill>
        <p:spPr>
          <a:xfrm>
            <a:off x="718070" y="2558093"/>
            <a:ext cx="6193056" cy="58967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Corporate Business Design Roadmap A4 Document</dc:title>
  <dc:creator>Biswajit</dc:creator>
  <cp:revision>2</cp:revision>
  <dcterms:created xsi:type="dcterms:W3CDTF">2006-08-16T00:00:00Z</dcterms:created>
  <dcterms:modified xsi:type="dcterms:W3CDTF">2025-12-01T13:44:56Z</dcterms:modified>
  <dc:identifier>DAG5rlQpufs</dc:identifier>
</cp:coreProperties>
</file>