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58" r:id="rId3"/>
    <p:sldId id="259" r:id="rId4"/>
    <p:sldId id="260" r:id="rId5"/>
    <p:sldId id="261" r:id="rId6"/>
    <p:sldId id="262" r:id="rId7"/>
    <p:sldId id="263" r:id="rId8"/>
  </p:sldIdLst>
  <p:sldSz cx="7556500" cy="10693400"/>
  <p:notesSz cx="6858000" cy="9144000"/>
  <p:embeddedFontLst>
    <p:embeddedFont>
      <p:font typeface="Arial Black" panose="020B0A04020102020204" pitchFamily="34" charset="0"/>
      <p:bold r:id="rId9"/>
    </p:embeddedFont>
    <p:embeddedFont>
      <p:font typeface="Calibri" panose="020F0502020204030204" pitchFamily="34" charset="0"/>
      <p:regular r:id="rId10"/>
      <p:bold r:id="rId11"/>
      <p:italic r:id="rId12"/>
      <p:boldItalic r:id="rId13"/>
    </p:embeddedFont>
    <p:embeddedFont>
      <p:font typeface="Oswald Bold" panose="020B0604020202020204" charset="0"/>
      <p:regular r:id="rId14"/>
    </p:embeddedFont>
    <p:embeddedFont>
      <p:font typeface="Questrial" panose="020B0604020202020204" charset="0"/>
      <p:regular r:id="rId15"/>
    </p:embeddedFont>
    <p:embeddedFont>
      <p:font typeface="Somber"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3" d="100"/>
          <a:sy n="43" d="100"/>
        </p:scale>
        <p:origin x="237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29-Nov-25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29-Nov-25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29-Nov-25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29-Nov-25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29-Nov-25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29-Nov-25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29-Nov-25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560000" cy="1887452"/>
            <a:chOff x="0" y="0"/>
            <a:chExt cx="2709333" cy="793641"/>
          </a:xfrm>
        </p:grpSpPr>
        <p:sp>
          <p:nvSpPr>
            <p:cNvPr id="3" name="Freeform 3"/>
            <p:cNvSpPr/>
            <p:nvPr/>
          </p:nvSpPr>
          <p:spPr>
            <a:xfrm>
              <a:off x="0" y="0"/>
              <a:ext cx="2709333" cy="793641"/>
            </a:xfrm>
            <a:custGeom>
              <a:avLst/>
              <a:gdLst/>
              <a:ahLst/>
              <a:cxnLst/>
              <a:rect l="l" t="t" r="r" b="b"/>
              <a:pathLst>
                <a:path w="2709333" h="793641">
                  <a:moveTo>
                    <a:pt x="0" y="0"/>
                  </a:moveTo>
                  <a:lnTo>
                    <a:pt x="2709333" y="0"/>
                  </a:lnTo>
                  <a:lnTo>
                    <a:pt x="2709333" y="793641"/>
                  </a:lnTo>
                  <a:lnTo>
                    <a:pt x="0" y="793641"/>
                  </a:lnTo>
                  <a:close/>
                </a:path>
              </a:pathLst>
            </a:custGeom>
            <a:solidFill>
              <a:srgbClr val="FFD67F"/>
            </a:solidFill>
          </p:spPr>
        </p:sp>
        <p:sp>
          <p:nvSpPr>
            <p:cNvPr id="4" name="TextBox 4"/>
            <p:cNvSpPr txBox="1"/>
            <p:nvPr/>
          </p:nvSpPr>
          <p:spPr>
            <a:xfrm>
              <a:off x="0" y="-28575"/>
              <a:ext cx="2709333" cy="822216"/>
            </a:xfrm>
            <a:prstGeom prst="rect">
              <a:avLst/>
            </a:prstGeom>
          </p:spPr>
          <p:txBody>
            <a:bodyPr lIns="50800" tIns="50800" rIns="50800" bIns="50800" rtlCol="0" anchor="ctr"/>
            <a:lstStyle/>
            <a:p>
              <a:pPr algn="ctr">
                <a:lnSpc>
                  <a:spcPts val="1960"/>
                </a:lnSpc>
                <a:spcBef>
                  <a:spcPct val="0"/>
                </a:spcBef>
              </a:pPr>
              <a:endParaRPr/>
            </a:p>
          </p:txBody>
        </p:sp>
      </p:grpSp>
      <p:sp>
        <p:nvSpPr>
          <p:cNvPr id="5" name="AutoShape 5"/>
          <p:cNvSpPr/>
          <p:nvPr/>
        </p:nvSpPr>
        <p:spPr>
          <a:xfrm>
            <a:off x="685843" y="3012417"/>
            <a:ext cx="4763" cy="1420577"/>
          </a:xfrm>
          <a:prstGeom prst="line">
            <a:avLst/>
          </a:prstGeom>
          <a:ln w="9525" cap="flat">
            <a:solidFill>
              <a:srgbClr val="45A6B0"/>
            </a:solidFill>
            <a:prstDash val="solid"/>
            <a:headEnd type="none" w="sm" len="sm"/>
            <a:tailEnd type="none" w="sm" len="sm"/>
          </a:ln>
        </p:spPr>
      </p:sp>
      <p:sp>
        <p:nvSpPr>
          <p:cNvPr id="6" name="Freeform 6"/>
          <p:cNvSpPr/>
          <p:nvPr/>
        </p:nvSpPr>
        <p:spPr>
          <a:xfrm>
            <a:off x="473897" y="2451100"/>
            <a:ext cx="423893" cy="423893"/>
          </a:xfrm>
          <a:custGeom>
            <a:avLst/>
            <a:gdLst/>
            <a:ahLst/>
            <a:cxnLst/>
            <a:rect l="l" t="t" r="r" b="b"/>
            <a:pathLst>
              <a:path w="423893" h="423893">
                <a:moveTo>
                  <a:pt x="0" y="0"/>
                </a:moveTo>
                <a:lnTo>
                  <a:pt x="423893" y="0"/>
                </a:lnTo>
                <a:lnTo>
                  <a:pt x="423893" y="423893"/>
                </a:lnTo>
                <a:lnTo>
                  <a:pt x="0" y="4238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972310" y="2509671"/>
            <a:ext cx="2807690" cy="341376"/>
          </a:xfrm>
          <a:prstGeom prst="rect">
            <a:avLst/>
          </a:prstGeom>
        </p:spPr>
        <p:txBody>
          <a:bodyPr lIns="0" tIns="0" rIns="0" bIns="0" rtlCol="0" anchor="t">
            <a:spAutoFit/>
          </a:bodyPr>
          <a:lstStyle/>
          <a:p>
            <a:pPr algn="l">
              <a:lnSpc>
                <a:spcPts val="2621"/>
              </a:lnSpc>
            </a:pPr>
            <a:r>
              <a:rPr lang="en-US" sz="2299" dirty="0">
                <a:solidFill>
                  <a:srgbClr val="000000"/>
                </a:solidFill>
                <a:latin typeface="Somber"/>
                <a:ea typeface="Somber"/>
                <a:cs typeface="Somber"/>
                <a:sym typeface="Somber"/>
              </a:rPr>
              <a:t>PROBLEM STATEMENT</a:t>
            </a:r>
          </a:p>
        </p:txBody>
      </p:sp>
      <p:sp>
        <p:nvSpPr>
          <p:cNvPr id="9" name="AutoShape 9"/>
          <p:cNvSpPr/>
          <p:nvPr/>
        </p:nvSpPr>
        <p:spPr>
          <a:xfrm>
            <a:off x="695368" y="2016040"/>
            <a:ext cx="5681744" cy="0"/>
          </a:xfrm>
          <a:prstGeom prst="line">
            <a:avLst/>
          </a:prstGeom>
          <a:ln w="9525" cap="flat">
            <a:solidFill>
              <a:srgbClr val="45A6B0"/>
            </a:solidFill>
            <a:prstDash val="solid"/>
            <a:headEnd type="none" w="sm" len="sm"/>
            <a:tailEnd type="none" w="sm" len="sm"/>
          </a:ln>
        </p:spPr>
      </p:sp>
      <p:sp>
        <p:nvSpPr>
          <p:cNvPr id="10" name="TextBox 10"/>
          <p:cNvSpPr txBox="1"/>
          <p:nvPr/>
        </p:nvSpPr>
        <p:spPr>
          <a:xfrm>
            <a:off x="1103375" y="2948123"/>
            <a:ext cx="1431866" cy="1372171"/>
          </a:xfrm>
          <a:prstGeom prst="rect">
            <a:avLst/>
          </a:prstGeom>
        </p:spPr>
        <p:txBody>
          <a:bodyPr wrap="square" lIns="0" tIns="0" rIns="0" bIns="0" rtlCol="0" anchor="t">
            <a:spAutoFit/>
          </a:bodyPr>
          <a:lstStyle/>
          <a:p>
            <a:pPr algn="ctr">
              <a:lnSpc>
                <a:spcPts val="10653"/>
              </a:lnSpc>
            </a:pPr>
            <a:r>
              <a:rPr lang="en-US" sz="9344" b="1" dirty="0">
                <a:solidFill>
                  <a:srgbClr val="FFD67F"/>
                </a:solidFill>
                <a:latin typeface="Oswald Bold"/>
                <a:ea typeface="Oswald Bold"/>
                <a:cs typeface="Oswald Bold"/>
                <a:sym typeface="Oswald Bold"/>
              </a:rPr>
              <a:t>1</a:t>
            </a:r>
          </a:p>
        </p:txBody>
      </p:sp>
      <p:sp>
        <p:nvSpPr>
          <p:cNvPr id="11" name="AutoShape 11"/>
          <p:cNvSpPr/>
          <p:nvPr/>
        </p:nvSpPr>
        <p:spPr>
          <a:xfrm>
            <a:off x="685843" y="4428232"/>
            <a:ext cx="3761353" cy="0"/>
          </a:xfrm>
          <a:prstGeom prst="line">
            <a:avLst/>
          </a:prstGeom>
          <a:ln w="9525" cap="flat">
            <a:solidFill>
              <a:srgbClr val="45A6B0"/>
            </a:solidFill>
            <a:prstDash val="solid"/>
            <a:headEnd type="none" w="sm" len="sm"/>
            <a:tailEnd type="none" w="sm" len="sm"/>
          </a:ln>
        </p:spPr>
      </p:sp>
      <p:sp>
        <p:nvSpPr>
          <p:cNvPr id="12" name="AutoShape 12"/>
          <p:cNvSpPr/>
          <p:nvPr/>
        </p:nvSpPr>
        <p:spPr>
          <a:xfrm>
            <a:off x="4444070" y="2626679"/>
            <a:ext cx="0" cy="1807446"/>
          </a:xfrm>
          <a:prstGeom prst="line">
            <a:avLst/>
          </a:prstGeom>
          <a:ln w="9525" cap="flat">
            <a:solidFill>
              <a:srgbClr val="45A6B0"/>
            </a:solidFill>
            <a:prstDash val="solid"/>
            <a:headEnd type="none" w="sm" len="sm"/>
            <a:tailEnd type="none" w="sm" len="sm"/>
          </a:ln>
        </p:spPr>
      </p:sp>
      <p:sp>
        <p:nvSpPr>
          <p:cNvPr id="13" name="AutoShape 13"/>
          <p:cNvSpPr/>
          <p:nvPr/>
        </p:nvSpPr>
        <p:spPr>
          <a:xfrm flipV="1">
            <a:off x="4439307" y="2631442"/>
            <a:ext cx="878024" cy="0"/>
          </a:xfrm>
          <a:prstGeom prst="line">
            <a:avLst/>
          </a:prstGeom>
          <a:ln w="9525" cap="flat">
            <a:solidFill>
              <a:srgbClr val="45A6B0"/>
            </a:solidFill>
            <a:prstDash val="solid"/>
            <a:headEnd type="none" w="sm" len="sm"/>
            <a:tailEnd type="none" w="sm" len="sm"/>
          </a:ln>
        </p:spPr>
      </p:sp>
      <p:sp>
        <p:nvSpPr>
          <p:cNvPr id="14" name="AutoShape 14"/>
          <p:cNvSpPr/>
          <p:nvPr/>
        </p:nvSpPr>
        <p:spPr>
          <a:xfrm flipV="1">
            <a:off x="6283585" y="2640967"/>
            <a:ext cx="878024" cy="0"/>
          </a:xfrm>
          <a:prstGeom prst="line">
            <a:avLst/>
          </a:prstGeom>
          <a:ln w="9525" cap="flat">
            <a:solidFill>
              <a:srgbClr val="45A6B0"/>
            </a:solidFill>
            <a:prstDash val="solid"/>
            <a:headEnd type="none" w="sm" len="sm"/>
            <a:tailEnd type="none" w="sm" len="sm"/>
          </a:ln>
        </p:spPr>
      </p:sp>
      <p:sp>
        <p:nvSpPr>
          <p:cNvPr id="15" name="AutoShape 15"/>
          <p:cNvSpPr/>
          <p:nvPr/>
        </p:nvSpPr>
        <p:spPr>
          <a:xfrm>
            <a:off x="7166372" y="2645729"/>
            <a:ext cx="0" cy="3050123"/>
          </a:xfrm>
          <a:prstGeom prst="line">
            <a:avLst/>
          </a:prstGeom>
          <a:ln w="9525" cap="flat">
            <a:solidFill>
              <a:srgbClr val="45A6B0"/>
            </a:solidFill>
            <a:prstDash val="solid"/>
            <a:headEnd type="none" w="sm" len="sm"/>
            <a:tailEnd type="none" w="sm" len="sm"/>
          </a:ln>
        </p:spPr>
      </p:sp>
      <p:sp>
        <p:nvSpPr>
          <p:cNvPr id="16" name="AutoShape 16"/>
          <p:cNvSpPr/>
          <p:nvPr/>
        </p:nvSpPr>
        <p:spPr>
          <a:xfrm flipV="1">
            <a:off x="4434545" y="5695852"/>
            <a:ext cx="1240035" cy="9525"/>
          </a:xfrm>
          <a:prstGeom prst="line">
            <a:avLst/>
          </a:prstGeom>
          <a:ln w="9525" cap="flat">
            <a:solidFill>
              <a:srgbClr val="45A6B0"/>
            </a:solidFill>
            <a:prstDash val="solid"/>
            <a:headEnd type="none" w="sm" len="sm"/>
            <a:tailEnd type="none" w="sm" len="sm"/>
          </a:ln>
        </p:spPr>
      </p:sp>
      <p:sp>
        <p:nvSpPr>
          <p:cNvPr id="17" name="AutoShape 17"/>
          <p:cNvSpPr/>
          <p:nvPr/>
        </p:nvSpPr>
        <p:spPr>
          <a:xfrm>
            <a:off x="4434545" y="4661138"/>
            <a:ext cx="0" cy="1052819"/>
          </a:xfrm>
          <a:prstGeom prst="line">
            <a:avLst/>
          </a:prstGeom>
          <a:ln w="9525" cap="flat">
            <a:solidFill>
              <a:srgbClr val="45A6B0"/>
            </a:solidFill>
            <a:prstDash val="solid"/>
            <a:headEnd type="none" w="sm" len="sm"/>
            <a:tailEnd type="none" w="sm" len="sm"/>
          </a:ln>
        </p:spPr>
      </p:sp>
      <p:sp>
        <p:nvSpPr>
          <p:cNvPr id="18" name="AutoShape 18"/>
          <p:cNvSpPr/>
          <p:nvPr/>
        </p:nvSpPr>
        <p:spPr>
          <a:xfrm>
            <a:off x="645779" y="4661138"/>
            <a:ext cx="3784003" cy="4762"/>
          </a:xfrm>
          <a:prstGeom prst="line">
            <a:avLst/>
          </a:prstGeom>
          <a:ln w="9525" cap="flat">
            <a:solidFill>
              <a:srgbClr val="45A6B0"/>
            </a:solidFill>
            <a:prstDash val="solid"/>
            <a:headEnd type="none" w="sm" len="sm"/>
            <a:tailEnd type="none" w="sm" len="sm"/>
          </a:ln>
        </p:spPr>
      </p:sp>
      <p:sp>
        <p:nvSpPr>
          <p:cNvPr id="19" name="Freeform 19"/>
          <p:cNvSpPr/>
          <p:nvPr/>
        </p:nvSpPr>
        <p:spPr>
          <a:xfrm>
            <a:off x="5674580" y="5485998"/>
            <a:ext cx="329471" cy="419708"/>
          </a:xfrm>
          <a:custGeom>
            <a:avLst/>
            <a:gdLst/>
            <a:ahLst/>
            <a:cxnLst/>
            <a:rect l="l" t="t" r="r" b="b"/>
            <a:pathLst>
              <a:path w="329471" h="419708">
                <a:moveTo>
                  <a:pt x="0" y="0"/>
                </a:moveTo>
                <a:lnTo>
                  <a:pt x="329471" y="0"/>
                </a:lnTo>
                <a:lnTo>
                  <a:pt x="329471" y="419708"/>
                </a:lnTo>
                <a:lnTo>
                  <a:pt x="0" y="4197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AutoShape 20"/>
          <p:cNvSpPr/>
          <p:nvPr/>
        </p:nvSpPr>
        <p:spPr>
          <a:xfrm flipV="1">
            <a:off x="6004051" y="5686328"/>
            <a:ext cx="1174852" cy="9525"/>
          </a:xfrm>
          <a:prstGeom prst="line">
            <a:avLst/>
          </a:prstGeom>
          <a:ln w="9525" cap="flat">
            <a:solidFill>
              <a:srgbClr val="45A6B0"/>
            </a:solidFill>
            <a:prstDash val="solid"/>
            <a:headEnd type="none" w="sm" len="sm"/>
            <a:tailEnd type="none" w="sm" len="sm"/>
          </a:ln>
        </p:spPr>
      </p:sp>
      <p:sp>
        <p:nvSpPr>
          <p:cNvPr id="21" name="AutoShape 21"/>
          <p:cNvSpPr/>
          <p:nvPr/>
        </p:nvSpPr>
        <p:spPr>
          <a:xfrm flipH="1">
            <a:off x="685843" y="2022522"/>
            <a:ext cx="14287" cy="566002"/>
          </a:xfrm>
          <a:prstGeom prst="line">
            <a:avLst/>
          </a:prstGeom>
          <a:ln w="9525" cap="flat">
            <a:solidFill>
              <a:srgbClr val="45A6B0"/>
            </a:solidFill>
            <a:prstDash val="solid"/>
            <a:headEnd type="none" w="sm" len="sm"/>
            <a:tailEnd type="none" w="sm" len="sm"/>
          </a:ln>
        </p:spPr>
      </p:sp>
      <p:sp>
        <p:nvSpPr>
          <p:cNvPr id="22" name="AutoShape 22"/>
          <p:cNvSpPr/>
          <p:nvPr/>
        </p:nvSpPr>
        <p:spPr>
          <a:xfrm>
            <a:off x="650541" y="4658543"/>
            <a:ext cx="0" cy="1912910"/>
          </a:xfrm>
          <a:prstGeom prst="line">
            <a:avLst/>
          </a:prstGeom>
          <a:ln w="9525" cap="flat">
            <a:solidFill>
              <a:srgbClr val="45A6B0"/>
            </a:solidFill>
            <a:prstDash val="solid"/>
            <a:headEnd type="none" w="sm" len="sm"/>
            <a:tailEnd type="none" w="sm" len="sm"/>
          </a:ln>
        </p:spPr>
      </p:sp>
      <p:sp>
        <p:nvSpPr>
          <p:cNvPr id="23" name="AutoShape 23"/>
          <p:cNvSpPr/>
          <p:nvPr/>
        </p:nvSpPr>
        <p:spPr>
          <a:xfrm>
            <a:off x="650541" y="6556835"/>
            <a:ext cx="4216134" cy="0"/>
          </a:xfrm>
          <a:prstGeom prst="line">
            <a:avLst/>
          </a:prstGeom>
          <a:ln w="9525" cap="flat">
            <a:solidFill>
              <a:srgbClr val="45A6B0"/>
            </a:solidFill>
            <a:prstDash val="solid"/>
            <a:headEnd type="none" w="sm" len="sm"/>
            <a:tailEnd type="none" w="sm" len="sm"/>
          </a:ln>
        </p:spPr>
      </p:sp>
      <p:sp>
        <p:nvSpPr>
          <p:cNvPr id="24" name="AutoShape 24"/>
          <p:cNvSpPr/>
          <p:nvPr/>
        </p:nvSpPr>
        <p:spPr>
          <a:xfrm>
            <a:off x="6654592" y="6570609"/>
            <a:ext cx="503983" cy="0"/>
          </a:xfrm>
          <a:prstGeom prst="line">
            <a:avLst/>
          </a:prstGeom>
          <a:ln w="9525" cap="flat">
            <a:solidFill>
              <a:srgbClr val="45A6B0"/>
            </a:solidFill>
            <a:prstDash val="solid"/>
            <a:headEnd type="none" w="sm" len="sm"/>
            <a:tailEnd type="none" w="sm" len="sm"/>
          </a:ln>
        </p:spPr>
      </p:sp>
      <p:sp>
        <p:nvSpPr>
          <p:cNvPr id="25" name="AutoShape 25"/>
          <p:cNvSpPr/>
          <p:nvPr/>
        </p:nvSpPr>
        <p:spPr>
          <a:xfrm flipH="1">
            <a:off x="7145450" y="6575392"/>
            <a:ext cx="0" cy="1609810"/>
          </a:xfrm>
          <a:prstGeom prst="line">
            <a:avLst/>
          </a:prstGeom>
          <a:ln w="9525" cap="flat">
            <a:solidFill>
              <a:srgbClr val="45A6B0"/>
            </a:solidFill>
            <a:prstDash val="solid"/>
            <a:headEnd type="none" w="sm" len="sm"/>
            <a:tailEnd type="none" w="sm" len="sm"/>
          </a:ln>
        </p:spPr>
      </p:sp>
      <p:sp>
        <p:nvSpPr>
          <p:cNvPr id="26" name="AutoShape 26"/>
          <p:cNvSpPr/>
          <p:nvPr/>
        </p:nvSpPr>
        <p:spPr>
          <a:xfrm>
            <a:off x="2130392" y="8394700"/>
            <a:ext cx="4430646" cy="0"/>
          </a:xfrm>
          <a:prstGeom prst="line">
            <a:avLst/>
          </a:prstGeom>
          <a:ln w="9525" cap="flat">
            <a:solidFill>
              <a:srgbClr val="45A6B0"/>
            </a:solidFill>
            <a:prstDash val="solid"/>
            <a:headEnd type="none" w="sm" len="sm"/>
            <a:tailEnd type="none" w="sm" len="sm"/>
          </a:ln>
        </p:spPr>
      </p:sp>
      <p:sp>
        <p:nvSpPr>
          <p:cNvPr id="27" name="AutoShape 27"/>
          <p:cNvSpPr/>
          <p:nvPr/>
        </p:nvSpPr>
        <p:spPr>
          <a:xfrm flipH="1">
            <a:off x="2125627" y="7149408"/>
            <a:ext cx="0" cy="1034248"/>
          </a:xfrm>
          <a:prstGeom prst="line">
            <a:avLst/>
          </a:prstGeom>
          <a:ln w="9525" cap="flat">
            <a:solidFill>
              <a:srgbClr val="45A6B0"/>
            </a:solidFill>
            <a:prstDash val="solid"/>
            <a:headEnd type="none" w="sm" len="sm"/>
            <a:tailEnd type="none" w="sm" len="sm"/>
          </a:ln>
        </p:spPr>
      </p:sp>
      <p:sp>
        <p:nvSpPr>
          <p:cNvPr id="28" name="TextBox 28"/>
          <p:cNvSpPr txBox="1"/>
          <p:nvPr/>
        </p:nvSpPr>
        <p:spPr>
          <a:xfrm>
            <a:off x="1103375" y="7133098"/>
            <a:ext cx="552480" cy="1365162"/>
          </a:xfrm>
          <a:prstGeom prst="rect">
            <a:avLst/>
          </a:prstGeom>
        </p:spPr>
        <p:txBody>
          <a:bodyPr wrap="square" lIns="0" tIns="0" rIns="0" bIns="0" rtlCol="0" anchor="t">
            <a:spAutoFit/>
          </a:bodyPr>
          <a:lstStyle/>
          <a:p>
            <a:pPr algn="ctr">
              <a:lnSpc>
                <a:spcPts val="10653"/>
              </a:lnSpc>
            </a:pPr>
            <a:r>
              <a:rPr lang="en-US" sz="9344" b="1" dirty="0">
                <a:solidFill>
                  <a:srgbClr val="FFD67F"/>
                </a:solidFill>
                <a:latin typeface="Oswald Bold"/>
                <a:ea typeface="Oswald Bold"/>
                <a:cs typeface="Oswald Bold"/>
                <a:sym typeface="Oswald Bold"/>
              </a:rPr>
              <a:t>5</a:t>
            </a:r>
          </a:p>
        </p:txBody>
      </p:sp>
      <p:sp>
        <p:nvSpPr>
          <p:cNvPr id="29" name="AutoShape 29"/>
          <p:cNvSpPr/>
          <p:nvPr/>
        </p:nvSpPr>
        <p:spPr>
          <a:xfrm>
            <a:off x="638371" y="7144646"/>
            <a:ext cx="1482487" cy="0"/>
          </a:xfrm>
          <a:prstGeom prst="line">
            <a:avLst/>
          </a:prstGeom>
          <a:ln w="9525" cap="flat">
            <a:solidFill>
              <a:srgbClr val="45A6B0"/>
            </a:solidFill>
            <a:prstDash val="solid"/>
            <a:headEnd type="none" w="sm" len="sm"/>
            <a:tailEnd type="none" w="sm" len="sm"/>
          </a:ln>
        </p:spPr>
      </p:sp>
      <p:sp>
        <p:nvSpPr>
          <p:cNvPr id="30" name="AutoShape 30"/>
          <p:cNvSpPr/>
          <p:nvPr/>
        </p:nvSpPr>
        <p:spPr>
          <a:xfrm>
            <a:off x="655304" y="7139883"/>
            <a:ext cx="35302" cy="2787992"/>
          </a:xfrm>
          <a:prstGeom prst="line">
            <a:avLst/>
          </a:prstGeom>
          <a:ln w="9525" cap="flat">
            <a:solidFill>
              <a:srgbClr val="45A6B0"/>
            </a:solidFill>
            <a:prstDash val="solid"/>
            <a:headEnd type="none" w="sm" len="sm"/>
            <a:tailEnd type="none" w="sm" len="sm"/>
          </a:ln>
        </p:spPr>
      </p:sp>
      <p:sp>
        <p:nvSpPr>
          <p:cNvPr id="31" name="AutoShape 31"/>
          <p:cNvSpPr/>
          <p:nvPr/>
        </p:nvSpPr>
        <p:spPr>
          <a:xfrm>
            <a:off x="682625" y="9933289"/>
            <a:ext cx="6628145" cy="23511"/>
          </a:xfrm>
          <a:prstGeom prst="line">
            <a:avLst/>
          </a:prstGeom>
          <a:ln w="9525" cap="flat">
            <a:solidFill>
              <a:srgbClr val="45A6B0"/>
            </a:solidFill>
            <a:prstDash val="solid"/>
            <a:headEnd type="none" w="sm" len="sm"/>
            <a:tailEnd type="none" w="sm" len="sm"/>
          </a:ln>
        </p:spPr>
      </p:sp>
      <p:grpSp>
        <p:nvGrpSpPr>
          <p:cNvPr id="32" name="Group 32"/>
          <p:cNvGrpSpPr/>
          <p:nvPr/>
        </p:nvGrpSpPr>
        <p:grpSpPr>
          <a:xfrm>
            <a:off x="0" y="10141752"/>
            <a:ext cx="7560000" cy="676005"/>
            <a:chOff x="0" y="0"/>
            <a:chExt cx="2709333" cy="782249"/>
          </a:xfrm>
        </p:grpSpPr>
        <p:sp>
          <p:nvSpPr>
            <p:cNvPr id="33" name="Freeform 33"/>
            <p:cNvSpPr/>
            <p:nvPr/>
          </p:nvSpPr>
          <p:spPr>
            <a:xfrm>
              <a:off x="0" y="0"/>
              <a:ext cx="2709333" cy="782249"/>
            </a:xfrm>
            <a:custGeom>
              <a:avLst/>
              <a:gdLst/>
              <a:ahLst/>
              <a:cxnLst/>
              <a:rect l="l" t="t" r="r" b="b"/>
              <a:pathLst>
                <a:path w="2709333" h="782249">
                  <a:moveTo>
                    <a:pt x="0" y="0"/>
                  </a:moveTo>
                  <a:lnTo>
                    <a:pt x="2709333" y="0"/>
                  </a:lnTo>
                  <a:lnTo>
                    <a:pt x="2709333" y="782249"/>
                  </a:lnTo>
                  <a:lnTo>
                    <a:pt x="0" y="782249"/>
                  </a:lnTo>
                  <a:close/>
                </a:path>
              </a:pathLst>
            </a:custGeom>
            <a:solidFill>
              <a:srgbClr val="FFD67F"/>
            </a:solidFill>
          </p:spPr>
        </p:sp>
        <p:sp>
          <p:nvSpPr>
            <p:cNvPr id="34" name="TextBox 34"/>
            <p:cNvSpPr txBox="1"/>
            <p:nvPr/>
          </p:nvSpPr>
          <p:spPr>
            <a:xfrm>
              <a:off x="0" y="-28575"/>
              <a:ext cx="2709333" cy="810824"/>
            </a:xfrm>
            <a:prstGeom prst="rect">
              <a:avLst/>
            </a:prstGeom>
          </p:spPr>
          <p:txBody>
            <a:bodyPr lIns="50800" tIns="50800" rIns="50800" bIns="50800" rtlCol="0" anchor="ctr"/>
            <a:lstStyle/>
            <a:p>
              <a:pPr algn="ctr">
                <a:lnSpc>
                  <a:spcPts val="1960"/>
                </a:lnSpc>
                <a:spcBef>
                  <a:spcPct val="0"/>
                </a:spcBef>
              </a:pPr>
              <a:endParaRPr/>
            </a:p>
          </p:txBody>
        </p:sp>
      </p:grpSp>
      <p:sp>
        <p:nvSpPr>
          <p:cNvPr id="35" name="Freeform 35"/>
          <p:cNvSpPr/>
          <p:nvPr/>
        </p:nvSpPr>
        <p:spPr>
          <a:xfrm>
            <a:off x="6709140" y="8106304"/>
            <a:ext cx="384112" cy="384112"/>
          </a:xfrm>
          <a:custGeom>
            <a:avLst/>
            <a:gdLst/>
            <a:ahLst/>
            <a:cxnLst/>
            <a:rect l="l" t="t" r="r" b="b"/>
            <a:pathLst>
              <a:path w="384112" h="384112">
                <a:moveTo>
                  <a:pt x="0" y="0"/>
                </a:moveTo>
                <a:lnTo>
                  <a:pt x="384111" y="0"/>
                </a:lnTo>
                <a:lnTo>
                  <a:pt x="384111" y="384112"/>
                </a:lnTo>
                <a:lnTo>
                  <a:pt x="0" y="38411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6" name="Freeform 36"/>
          <p:cNvSpPr/>
          <p:nvPr/>
        </p:nvSpPr>
        <p:spPr>
          <a:xfrm>
            <a:off x="2034905" y="8000343"/>
            <a:ext cx="190974" cy="394779"/>
          </a:xfrm>
          <a:custGeom>
            <a:avLst/>
            <a:gdLst/>
            <a:ahLst/>
            <a:cxnLst/>
            <a:rect l="l" t="t" r="r" b="b"/>
            <a:pathLst>
              <a:path w="190974" h="394779">
                <a:moveTo>
                  <a:pt x="0" y="0"/>
                </a:moveTo>
                <a:lnTo>
                  <a:pt x="190975" y="0"/>
                </a:lnTo>
                <a:lnTo>
                  <a:pt x="190975" y="394779"/>
                </a:lnTo>
                <a:lnTo>
                  <a:pt x="0" y="3947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7" name="Freeform 37"/>
          <p:cNvSpPr/>
          <p:nvPr/>
        </p:nvSpPr>
        <p:spPr>
          <a:xfrm>
            <a:off x="604377" y="6325742"/>
            <a:ext cx="355965" cy="365262"/>
          </a:xfrm>
          <a:custGeom>
            <a:avLst/>
            <a:gdLst/>
            <a:ahLst/>
            <a:cxnLst/>
            <a:rect l="l" t="t" r="r" b="b"/>
            <a:pathLst>
              <a:path w="355965" h="365262">
                <a:moveTo>
                  <a:pt x="0" y="0"/>
                </a:moveTo>
                <a:lnTo>
                  <a:pt x="355965" y="0"/>
                </a:lnTo>
                <a:lnTo>
                  <a:pt x="355965" y="365263"/>
                </a:lnTo>
                <a:lnTo>
                  <a:pt x="0" y="36526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8" name="Freeform 38"/>
          <p:cNvSpPr/>
          <p:nvPr/>
        </p:nvSpPr>
        <p:spPr>
          <a:xfrm>
            <a:off x="5028792" y="421581"/>
            <a:ext cx="1949909" cy="1257844"/>
          </a:xfrm>
          <a:custGeom>
            <a:avLst/>
            <a:gdLst/>
            <a:ahLst/>
            <a:cxnLst/>
            <a:rect l="l" t="t" r="r" b="b"/>
            <a:pathLst>
              <a:path w="1615844" h="872976">
                <a:moveTo>
                  <a:pt x="0" y="0"/>
                </a:moveTo>
                <a:lnTo>
                  <a:pt x="1615844" y="0"/>
                </a:lnTo>
                <a:lnTo>
                  <a:pt x="1615844" y="872976"/>
                </a:lnTo>
                <a:lnTo>
                  <a:pt x="0" y="872976"/>
                </a:lnTo>
                <a:lnTo>
                  <a:pt x="0" y="0"/>
                </a:lnTo>
                <a:close/>
              </a:path>
            </a:pathLst>
          </a:custGeom>
          <a:blipFill>
            <a:blip r:embed="rId12"/>
            <a:stretch>
              <a:fillRect/>
            </a:stretch>
          </a:blipFill>
        </p:spPr>
      </p:sp>
      <p:sp>
        <p:nvSpPr>
          <p:cNvPr id="39" name="TextBox 39"/>
          <p:cNvSpPr txBox="1"/>
          <p:nvPr/>
        </p:nvSpPr>
        <p:spPr>
          <a:xfrm>
            <a:off x="577799" y="765525"/>
            <a:ext cx="4450993" cy="531910"/>
          </a:xfrm>
          <a:prstGeom prst="rect">
            <a:avLst/>
          </a:prstGeom>
        </p:spPr>
        <p:txBody>
          <a:bodyPr lIns="0" tIns="0" rIns="0" bIns="0" rtlCol="0" anchor="t">
            <a:spAutoFit/>
          </a:bodyPr>
          <a:lstStyle/>
          <a:p>
            <a:pPr algn="l">
              <a:lnSpc>
                <a:spcPts val="4052"/>
              </a:lnSpc>
            </a:pPr>
            <a:r>
              <a:rPr lang="en-US" sz="3554" spc="-17">
                <a:solidFill>
                  <a:srgbClr val="000000"/>
                </a:solidFill>
                <a:latin typeface="Somber"/>
                <a:ea typeface="Somber"/>
                <a:cs typeface="Somber"/>
                <a:sym typeface="Somber"/>
              </a:rPr>
              <a:t>SUPER 40 WINTER INTERNSHIP</a:t>
            </a:r>
          </a:p>
        </p:txBody>
      </p:sp>
      <p:sp>
        <p:nvSpPr>
          <p:cNvPr id="40" name="TextBox 40"/>
          <p:cNvSpPr txBox="1"/>
          <p:nvPr/>
        </p:nvSpPr>
        <p:spPr>
          <a:xfrm>
            <a:off x="577799" y="421581"/>
            <a:ext cx="5379711" cy="203327"/>
          </a:xfrm>
          <a:prstGeom prst="rect">
            <a:avLst/>
          </a:prstGeom>
        </p:spPr>
        <p:txBody>
          <a:bodyPr lIns="0" tIns="0" rIns="0" bIns="0" rtlCol="0" anchor="t">
            <a:spAutoFit/>
          </a:bodyPr>
          <a:lstStyle/>
          <a:p>
            <a:pPr algn="l">
              <a:lnSpc>
                <a:spcPts val="1533"/>
              </a:lnSpc>
            </a:pPr>
            <a:r>
              <a:rPr lang="en-US" sz="1299" spc="201">
                <a:solidFill>
                  <a:srgbClr val="000000"/>
                </a:solidFill>
                <a:latin typeface="Questrial"/>
                <a:ea typeface="Questrial"/>
                <a:cs typeface="Questrial"/>
                <a:sym typeface="Questrial"/>
              </a:rPr>
              <a:t>IEM RESEARCH FOUNDATION</a:t>
            </a:r>
          </a:p>
        </p:txBody>
      </p:sp>
      <p:sp>
        <p:nvSpPr>
          <p:cNvPr id="41" name="TextBox 41"/>
          <p:cNvSpPr txBox="1"/>
          <p:nvPr/>
        </p:nvSpPr>
        <p:spPr>
          <a:xfrm>
            <a:off x="5028792" y="2077952"/>
            <a:ext cx="1257904" cy="2744341"/>
          </a:xfrm>
          <a:prstGeom prst="rect">
            <a:avLst/>
          </a:prstGeom>
        </p:spPr>
        <p:txBody>
          <a:bodyPr wrap="square" lIns="0" tIns="0" rIns="0" bIns="0" rtlCol="0" anchor="t">
            <a:spAutoFit/>
          </a:bodyPr>
          <a:lstStyle/>
          <a:p>
            <a:pPr algn="ctr">
              <a:lnSpc>
                <a:spcPts val="10653"/>
              </a:lnSpc>
            </a:pPr>
            <a:endParaRPr lang="en-US" sz="9344" b="1" dirty="0">
              <a:solidFill>
                <a:srgbClr val="FFD67F"/>
              </a:solidFill>
              <a:latin typeface="Oswald Bold"/>
              <a:ea typeface="Oswald Bold"/>
              <a:cs typeface="Oswald Bold"/>
              <a:sym typeface="Oswald Bold"/>
            </a:endParaRPr>
          </a:p>
          <a:p>
            <a:pPr algn="ctr">
              <a:lnSpc>
                <a:spcPts val="10653"/>
              </a:lnSpc>
            </a:pPr>
            <a:r>
              <a:rPr lang="en-US" sz="9344" b="1" dirty="0">
                <a:solidFill>
                  <a:srgbClr val="FFD67F"/>
                </a:solidFill>
                <a:latin typeface="Oswald Bold"/>
                <a:ea typeface="Oswald Bold"/>
                <a:cs typeface="Oswald Bold"/>
                <a:sym typeface="Oswald Bold"/>
              </a:rPr>
              <a:t>2</a:t>
            </a:r>
          </a:p>
        </p:txBody>
      </p:sp>
      <p:sp>
        <p:nvSpPr>
          <p:cNvPr id="43" name="TextBox 43"/>
          <p:cNvSpPr txBox="1"/>
          <p:nvPr/>
        </p:nvSpPr>
        <p:spPr>
          <a:xfrm>
            <a:off x="4622554" y="3110082"/>
            <a:ext cx="2433541" cy="333425"/>
          </a:xfrm>
          <a:prstGeom prst="rect">
            <a:avLst/>
          </a:prstGeom>
        </p:spPr>
        <p:txBody>
          <a:bodyPr wrap="square" lIns="0" tIns="0" rIns="0" bIns="0" rtlCol="0" anchor="t">
            <a:spAutoFit/>
          </a:bodyPr>
          <a:lstStyle/>
          <a:p>
            <a:pPr algn="l">
              <a:lnSpc>
                <a:spcPts val="2621"/>
              </a:lnSpc>
            </a:pPr>
            <a:r>
              <a:rPr lang="en-US" sz="2299" dirty="0">
                <a:solidFill>
                  <a:srgbClr val="000000"/>
                </a:solidFill>
                <a:latin typeface="Somber"/>
                <a:ea typeface="Somber"/>
                <a:cs typeface="Somber"/>
                <a:sym typeface="Somber"/>
              </a:rPr>
              <a:t>RESEARCH AND IDEATION</a:t>
            </a:r>
          </a:p>
        </p:txBody>
      </p:sp>
      <p:sp>
        <p:nvSpPr>
          <p:cNvPr id="45" name="TextBox 45"/>
          <p:cNvSpPr txBox="1"/>
          <p:nvPr/>
        </p:nvSpPr>
        <p:spPr>
          <a:xfrm>
            <a:off x="1441117" y="4734671"/>
            <a:ext cx="2807690" cy="341376"/>
          </a:xfrm>
          <a:prstGeom prst="rect">
            <a:avLst/>
          </a:prstGeom>
        </p:spPr>
        <p:txBody>
          <a:bodyPr lIns="0" tIns="0" rIns="0" bIns="0" rtlCol="0" anchor="t">
            <a:spAutoFit/>
          </a:bodyPr>
          <a:lstStyle/>
          <a:p>
            <a:pPr algn="l">
              <a:lnSpc>
                <a:spcPts val="2621"/>
              </a:lnSpc>
            </a:pPr>
            <a:r>
              <a:rPr lang="en-US" sz="2299">
                <a:solidFill>
                  <a:srgbClr val="000000"/>
                </a:solidFill>
                <a:latin typeface="Somber"/>
                <a:ea typeface="Somber"/>
                <a:cs typeface="Somber"/>
                <a:sym typeface="Somber"/>
              </a:rPr>
              <a:t>VALUE PROPOSITION</a:t>
            </a:r>
          </a:p>
        </p:txBody>
      </p:sp>
      <p:sp>
        <p:nvSpPr>
          <p:cNvPr id="46" name="TextBox 46"/>
          <p:cNvSpPr txBox="1"/>
          <p:nvPr/>
        </p:nvSpPr>
        <p:spPr>
          <a:xfrm>
            <a:off x="846871" y="4996217"/>
            <a:ext cx="2668475" cy="1372171"/>
          </a:xfrm>
          <a:prstGeom prst="rect">
            <a:avLst/>
          </a:prstGeom>
        </p:spPr>
        <p:txBody>
          <a:bodyPr wrap="square" lIns="0" tIns="0" rIns="0" bIns="0" rtlCol="0" anchor="t">
            <a:spAutoFit/>
          </a:bodyPr>
          <a:lstStyle/>
          <a:p>
            <a:pPr algn="ctr">
              <a:lnSpc>
                <a:spcPts val="10653"/>
              </a:lnSpc>
            </a:pPr>
            <a:r>
              <a:rPr lang="en-US" sz="9344" b="1" dirty="0">
                <a:solidFill>
                  <a:srgbClr val="FFD67F"/>
                </a:solidFill>
                <a:latin typeface="Oswald Bold"/>
                <a:ea typeface="Oswald Bold"/>
                <a:cs typeface="Oswald Bold"/>
                <a:sym typeface="Oswald Bold"/>
              </a:rPr>
              <a:t>3</a:t>
            </a:r>
          </a:p>
        </p:txBody>
      </p:sp>
      <p:sp>
        <p:nvSpPr>
          <p:cNvPr id="47" name="TextBox 47"/>
          <p:cNvSpPr txBox="1"/>
          <p:nvPr/>
        </p:nvSpPr>
        <p:spPr>
          <a:xfrm>
            <a:off x="4659445" y="6384345"/>
            <a:ext cx="2204594" cy="333425"/>
          </a:xfrm>
          <a:prstGeom prst="rect">
            <a:avLst/>
          </a:prstGeom>
        </p:spPr>
        <p:txBody>
          <a:bodyPr wrap="square" lIns="0" tIns="0" rIns="0" bIns="0" rtlCol="0" anchor="t">
            <a:spAutoFit/>
          </a:bodyPr>
          <a:lstStyle/>
          <a:p>
            <a:pPr algn="ctr">
              <a:lnSpc>
                <a:spcPts val="2621"/>
              </a:lnSpc>
              <a:spcBef>
                <a:spcPct val="0"/>
              </a:spcBef>
            </a:pPr>
            <a:r>
              <a:rPr lang="en-US" sz="2299" dirty="0">
                <a:solidFill>
                  <a:srgbClr val="000000"/>
                </a:solidFill>
                <a:latin typeface="Somber"/>
                <a:ea typeface="Somber"/>
                <a:cs typeface="Somber"/>
                <a:sym typeface="Somber"/>
              </a:rPr>
              <a:t>PROPOSED SOLUTION</a:t>
            </a:r>
          </a:p>
        </p:txBody>
      </p:sp>
      <p:sp>
        <p:nvSpPr>
          <p:cNvPr id="48" name="TextBox 48"/>
          <p:cNvSpPr txBox="1"/>
          <p:nvPr/>
        </p:nvSpPr>
        <p:spPr>
          <a:xfrm>
            <a:off x="4439306" y="6699220"/>
            <a:ext cx="2693019" cy="1365162"/>
          </a:xfrm>
          <a:prstGeom prst="rect">
            <a:avLst/>
          </a:prstGeom>
        </p:spPr>
        <p:txBody>
          <a:bodyPr wrap="square" lIns="0" tIns="0" rIns="0" bIns="0" rtlCol="0" anchor="t">
            <a:spAutoFit/>
          </a:bodyPr>
          <a:lstStyle/>
          <a:p>
            <a:pPr algn="ctr">
              <a:lnSpc>
                <a:spcPts val="10653"/>
              </a:lnSpc>
            </a:pPr>
            <a:r>
              <a:rPr lang="en-US" sz="9344" b="1" dirty="0">
                <a:solidFill>
                  <a:srgbClr val="FFD67F"/>
                </a:solidFill>
                <a:latin typeface="Oswald Bold"/>
                <a:ea typeface="Oswald Bold"/>
                <a:cs typeface="Oswald Bold"/>
                <a:sym typeface="Oswald Bold"/>
              </a:rPr>
              <a:t>4</a:t>
            </a:r>
          </a:p>
        </p:txBody>
      </p:sp>
      <p:sp>
        <p:nvSpPr>
          <p:cNvPr id="51" name="TextBox 51"/>
          <p:cNvSpPr txBox="1"/>
          <p:nvPr/>
        </p:nvSpPr>
        <p:spPr>
          <a:xfrm>
            <a:off x="782359" y="8517309"/>
            <a:ext cx="3506215" cy="666849"/>
          </a:xfrm>
          <a:prstGeom prst="rect">
            <a:avLst/>
          </a:prstGeom>
        </p:spPr>
        <p:txBody>
          <a:bodyPr wrap="square" lIns="0" tIns="0" rIns="0" bIns="0" rtlCol="0" anchor="t">
            <a:spAutoFit/>
          </a:bodyPr>
          <a:lstStyle/>
          <a:p>
            <a:pPr algn="l">
              <a:lnSpc>
                <a:spcPts val="2621"/>
              </a:lnSpc>
              <a:spcBef>
                <a:spcPct val="0"/>
              </a:spcBef>
            </a:pPr>
            <a:r>
              <a:rPr lang="en-US" sz="2299" dirty="0">
                <a:solidFill>
                  <a:srgbClr val="000000"/>
                </a:solidFill>
                <a:latin typeface="Somber"/>
                <a:ea typeface="Somber"/>
                <a:cs typeface="Somber"/>
                <a:sym typeface="Somber"/>
              </a:rPr>
              <a:t>  </a:t>
            </a:r>
          </a:p>
          <a:p>
            <a:pPr algn="l">
              <a:lnSpc>
                <a:spcPts val="2621"/>
              </a:lnSpc>
              <a:spcBef>
                <a:spcPct val="0"/>
              </a:spcBef>
            </a:pPr>
            <a:r>
              <a:rPr lang="en-US" sz="2299" dirty="0">
                <a:solidFill>
                  <a:srgbClr val="000000"/>
                </a:solidFill>
                <a:latin typeface="Somber"/>
                <a:ea typeface="Somber"/>
                <a:cs typeface="Somber"/>
                <a:sym typeface="Somber"/>
              </a:rPr>
              <a:t>   POTENTIAL IMPACT</a:t>
            </a:r>
          </a:p>
        </p:txBody>
      </p:sp>
      <p:sp>
        <p:nvSpPr>
          <p:cNvPr id="52" name="TextBox 52"/>
          <p:cNvSpPr txBox="1"/>
          <p:nvPr/>
        </p:nvSpPr>
        <p:spPr>
          <a:xfrm>
            <a:off x="577799" y="1345445"/>
            <a:ext cx="4450993" cy="361604"/>
          </a:xfrm>
          <a:prstGeom prst="rect">
            <a:avLst/>
          </a:prstGeom>
        </p:spPr>
        <p:txBody>
          <a:bodyPr lIns="0" tIns="0" rIns="0" bIns="0" rtlCol="0" anchor="t">
            <a:spAutoFit/>
          </a:bodyPr>
          <a:lstStyle/>
          <a:p>
            <a:pPr>
              <a:lnSpc>
                <a:spcPts val="2798"/>
              </a:lnSpc>
            </a:pPr>
            <a:r>
              <a:rPr lang="en-US" sz="2454" spc="-12" dirty="0">
                <a:solidFill>
                  <a:srgbClr val="000000"/>
                </a:solidFill>
                <a:latin typeface="Somber"/>
                <a:ea typeface="Somber"/>
                <a:cs typeface="Somber"/>
                <a:sym typeface="Somber"/>
              </a:rPr>
              <a:t>Project - Northern Lights </a:t>
            </a:r>
          </a:p>
        </p:txBody>
      </p:sp>
      <p:sp>
        <p:nvSpPr>
          <p:cNvPr id="54" name="TextBox 53">
            <a:extLst>
              <a:ext uri="{FF2B5EF4-FFF2-40B4-BE49-F238E27FC236}">
                <a16:creationId xmlns:a16="http://schemas.microsoft.com/office/drawing/2014/main" id="{37275F88-3984-8FF1-73AC-60ED5A42E73F}"/>
              </a:ext>
            </a:extLst>
          </p:cNvPr>
          <p:cNvSpPr txBox="1"/>
          <p:nvPr/>
        </p:nvSpPr>
        <p:spPr>
          <a:xfrm>
            <a:off x="524215" y="10265811"/>
            <a:ext cx="6312768" cy="430887"/>
          </a:xfrm>
          <a:prstGeom prst="rect">
            <a:avLst/>
          </a:prstGeom>
          <a:noFill/>
        </p:spPr>
        <p:txBody>
          <a:bodyPr wrap="square">
            <a:spAutoFit/>
          </a:bodyPr>
          <a:lstStyle/>
          <a:p>
            <a:pPr algn="ctr"/>
            <a:r>
              <a:rPr lang="en-US" sz="1100" b="1" spc="56" dirty="0">
                <a:solidFill>
                  <a:srgbClr val="000000"/>
                </a:solidFill>
                <a:latin typeface="Questrial"/>
              </a:rPr>
              <a:t>Godrej Genesis Building, 15th Floor, Unit No. 1502, Sector V, Block EP &amp; GP, Salt Lake City, Kolkata – 700091, West Bengal, India.</a:t>
            </a:r>
            <a:endParaRPr lang="en-IN" sz="1100" b="1" spc="56" dirty="0">
              <a:solidFill>
                <a:srgbClr val="000000"/>
              </a:solidFill>
              <a:latin typeface="Questrial"/>
            </a:endParaRPr>
          </a:p>
        </p:txBody>
      </p:sp>
    </p:spTree>
    <p:extLst>
      <p:ext uri="{BB962C8B-B14F-4D97-AF65-F5344CB8AC3E}">
        <p14:creationId xmlns:p14="http://schemas.microsoft.com/office/powerpoint/2010/main" val="3151561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560000" cy="1887452"/>
            <a:chOff x="0" y="0"/>
            <a:chExt cx="2709333" cy="793641"/>
          </a:xfrm>
        </p:grpSpPr>
        <p:sp>
          <p:nvSpPr>
            <p:cNvPr id="3" name="Freeform 3"/>
            <p:cNvSpPr/>
            <p:nvPr/>
          </p:nvSpPr>
          <p:spPr>
            <a:xfrm>
              <a:off x="0" y="0"/>
              <a:ext cx="2709333" cy="793641"/>
            </a:xfrm>
            <a:custGeom>
              <a:avLst/>
              <a:gdLst/>
              <a:ahLst/>
              <a:cxnLst/>
              <a:rect l="l" t="t" r="r" b="b"/>
              <a:pathLst>
                <a:path w="2709333" h="793641">
                  <a:moveTo>
                    <a:pt x="0" y="0"/>
                  </a:moveTo>
                  <a:lnTo>
                    <a:pt x="2709333" y="0"/>
                  </a:lnTo>
                  <a:lnTo>
                    <a:pt x="2709333" y="793641"/>
                  </a:lnTo>
                  <a:lnTo>
                    <a:pt x="0" y="793641"/>
                  </a:lnTo>
                  <a:close/>
                </a:path>
              </a:pathLst>
            </a:custGeom>
            <a:solidFill>
              <a:srgbClr val="FFD67F"/>
            </a:solidFill>
          </p:spPr>
        </p:sp>
        <p:sp>
          <p:nvSpPr>
            <p:cNvPr id="4" name="TextBox 4"/>
            <p:cNvSpPr txBox="1"/>
            <p:nvPr/>
          </p:nvSpPr>
          <p:spPr>
            <a:xfrm>
              <a:off x="0" y="-28575"/>
              <a:ext cx="2709333" cy="822216"/>
            </a:xfrm>
            <a:prstGeom prst="rect">
              <a:avLst/>
            </a:prstGeom>
          </p:spPr>
          <p:txBody>
            <a:bodyPr lIns="50800" tIns="50800" rIns="50800" bIns="50800" rtlCol="0" anchor="ctr"/>
            <a:lstStyle/>
            <a:p>
              <a:pPr algn="ctr">
                <a:lnSpc>
                  <a:spcPts val="1960"/>
                </a:lnSpc>
                <a:spcBef>
                  <a:spcPct val="0"/>
                </a:spcBef>
              </a:pPr>
              <a:endParaRPr/>
            </a:p>
          </p:txBody>
        </p:sp>
      </p:grpSp>
      <p:sp>
        <p:nvSpPr>
          <p:cNvPr id="31" name="AutoShape 31"/>
          <p:cNvSpPr/>
          <p:nvPr/>
        </p:nvSpPr>
        <p:spPr>
          <a:xfrm>
            <a:off x="682625" y="9933289"/>
            <a:ext cx="6628145" cy="23511"/>
          </a:xfrm>
          <a:prstGeom prst="line">
            <a:avLst/>
          </a:prstGeom>
          <a:ln w="9525" cap="flat">
            <a:solidFill>
              <a:srgbClr val="45A6B0"/>
            </a:solidFill>
            <a:prstDash val="solid"/>
            <a:headEnd type="none" w="sm" len="sm"/>
            <a:tailEnd type="none" w="sm" len="sm"/>
          </a:ln>
        </p:spPr>
      </p:sp>
      <p:grpSp>
        <p:nvGrpSpPr>
          <p:cNvPr id="32" name="Group 32"/>
          <p:cNvGrpSpPr/>
          <p:nvPr/>
        </p:nvGrpSpPr>
        <p:grpSpPr>
          <a:xfrm>
            <a:off x="0" y="10141752"/>
            <a:ext cx="7560000" cy="676005"/>
            <a:chOff x="0" y="0"/>
            <a:chExt cx="2709333" cy="782249"/>
          </a:xfrm>
        </p:grpSpPr>
        <p:sp>
          <p:nvSpPr>
            <p:cNvPr id="33" name="Freeform 33"/>
            <p:cNvSpPr/>
            <p:nvPr/>
          </p:nvSpPr>
          <p:spPr>
            <a:xfrm>
              <a:off x="0" y="0"/>
              <a:ext cx="2709333" cy="782249"/>
            </a:xfrm>
            <a:custGeom>
              <a:avLst/>
              <a:gdLst/>
              <a:ahLst/>
              <a:cxnLst/>
              <a:rect l="l" t="t" r="r" b="b"/>
              <a:pathLst>
                <a:path w="2709333" h="782249">
                  <a:moveTo>
                    <a:pt x="0" y="0"/>
                  </a:moveTo>
                  <a:lnTo>
                    <a:pt x="2709333" y="0"/>
                  </a:lnTo>
                  <a:lnTo>
                    <a:pt x="2709333" y="782249"/>
                  </a:lnTo>
                  <a:lnTo>
                    <a:pt x="0" y="782249"/>
                  </a:lnTo>
                  <a:close/>
                </a:path>
              </a:pathLst>
            </a:custGeom>
            <a:solidFill>
              <a:srgbClr val="FFD67F"/>
            </a:solidFill>
          </p:spPr>
        </p:sp>
        <p:sp>
          <p:nvSpPr>
            <p:cNvPr id="34" name="TextBox 34"/>
            <p:cNvSpPr txBox="1"/>
            <p:nvPr/>
          </p:nvSpPr>
          <p:spPr>
            <a:xfrm>
              <a:off x="0" y="-28575"/>
              <a:ext cx="2709333" cy="810824"/>
            </a:xfrm>
            <a:prstGeom prst="rect">
              <a:avLst/>
            </a:prstGeom>
          </p:spPr>
          <p:txBody>
            <a:bodyPr lIns="50800" tIns="50800" rIns="50800" bIns="50800" rtlCol="0" anchor="ctr"/>
            <a:lstStyle/>
            <a:p>
              <a:pPr algn="ctr">
                <a:lnSpc>
                  <a:spcPts val="1960"/>
                </a:lnSpc>
                <a:spcBef>
                  <a:spcPct val="0"/>
                </a:spcBef>
              </a:pPr>
              <a:endParaRPr/>
            </a:p>
          </p:txBody>
        </p:sp>
      </p:grpSp>
      <p:sp>
        <p:nvSpPr>
          <p:cNvPr id="38" name="Freeform 38"/>
          <p:cNvSpPr/>
          <p:nvPr/>
        </p:nvSpPr>
        <p:spPr>
          <a:xfrm>
            <a:off x="5028792" y="421581"/>
            <a:ext cx="1949909" cy="1257844"/>
          </a:xfrm>
          <a:custGeom>
            <a:avLst/>
            <a:gdLst/>
            <a:ahLst/>
            <a:cxnLst/>
            <a:rect l="l" t="t" r="r" b="b"/>
            <a:pathLst>
              <a:path w="1615844" h="872976">
                <a:moveTo>
                  <a:pt x="0" y="0"/>
                </a:moveTo>
                <a:lnTo>
                  <a:pt x="1615844" y="0"/>
                </a:lnTo>
                <a:lnTo>
                  <a:pt x="1615844" y="872976"/>
                </a:lnTo>
                <a:lnTo>
                  <a:pt x="0" y="872976"/>
                </a:lnTo>
                <a:lnTo>
                  <a:pt x="0" y="0"/>
                </a:lnTo>
                <a:close/>
              </a:path>
            </a:pathLst>
          </a:custGeom>
          <a:blipFill>
            <a:blip r:embed="rId2"/>
            <a:stretch>
              <a:fillRect/>
            </a:stretch>
          </a:blipFill>
        </p:spPr>
      </p:sp>
      <p:sp>
        <p:nvSpPr>
          <p:cNvPr id="39" name="TextBox 39"/>
          <p:cNvSpPr txBox="1"/>
          <p:nvPr/>
        </p:nvSpPr>
        <p:spPr>
          <a:xfrm>
            <a:off x="577799" y="765525"/>
            <a:ext cx="4450993" cy="531910"/>
          </a:xfrm>
          <a:prstGeom prst="rect">
            <a:avLst/>
          </a:prstGeom>
        </p:spPr>
        <p:txBody>
          <a:bodyPr lIns="0" tIns="0" rIns="0" bIns="0" rtlCol="0" anchor="t">
            <a:spAutoFit/>
          </a:bodyPr>
          <a:lstStyle/>
          <a:p>
            <a:pPr algn="l">
              <a:lnSpc>
                <a:spcPts val="4052"/>
              </a:lnSpc>
            </a:pPr>
            <a:r>
              <a:rPr lang="en-US" sz="3554" spc="-17">
                <a:solidFill>
                  <a:srgbClr val="000000"/>
                </a:solidFill>
                <a:latin typeface="Somber"/>
                <a:ea typeface="Somber"/>
                <a:cs typeface="Somber"/>
                <a:sym typeface="Somber"/>
              </a:rPr>
              <a:t>SUPER 40 WINTER INTERNSHIP</a:t>
            </a:r>
          </a:p>
        </p:txBody>
      </p:sp>
      <p:sp>
        <p:nvSpPr>
          <p:cNvPr id="40" name="TextBox 40"/>
          <p:cNvSpPr txBox="1"/>
          <p:nvPr/>
        </p:nvSpPr>
        <p:spPr>
          <a:xfrm>
            <a:off x="577799" y="421581"/>
            <a:ext cx="5379711" cy="203327"/>
          </a:xfrm>
          <a:prstGeom prst="rect">
            <a:avLst/>
          </a:prstGeom>
        </p:spPr>
        <p:txBody>
          <a:bodyPr lIns="0" tIns="0" rIns="0" bIns="0" rtlCol="0" anchor="t">
            <a:spAutoFit/>
          </a:bodyPr>
          <a:lstStyle/>
          <a:p>
            <a:pPr algn="l">
              <a:lnSpc>
                <a:spcPts val="1533"/>
              </a:lnSpc>
            </a:pPr>
            <a:r>
              <a:rPr lang="en-US" sz="1299" spc="201">
                <a:solidFill>
                  <a:srgbClr val="000000"/>
                </a:solidFill>
                <a:latin typeface="Questrial"/>
                <a:ea typeface="Questrial"/>
                <a:cs typeface="Questrial"/>
                <a:sym typeface="Questrial"/>
              </a:rPr>
              <a:t>IEM RESEARCH FOUNDATION</a:t>
            </a:r>
          </a:p>
        </p:txBody>
      </p:sp>
      <p:sp>
        <p:nvSpPr>
          <p:cNvPr id="52" name="TextBox 52"/>
          <p:cNvSpPr txBox="1"/>
          <p:nvPr/>
        </p:nvSpPr>
        <p:spPr>
          <a:xfrm>
            <a:off x="577799" y="1345445"/>
            <a:ext cx="4450993" cy="361604"/>
          </a:xfrm>
          <a:prstGeom prst="rect">
            <a:avLst/>
          </a:prstGeom>
        </p:spPr>
        <p:txBody>
          <a:bodyPr lIns="0" tIns="0" rIns="0" bIns="0" rtlCol="0" anchor="t">
            <a:spAutoFit/>
          </a:bodyPr>
          <a:lstStyle/>
          <a:p>
            <a:pPr>
              <a:lnSpc>
                <a:spcPts val="2798"/>
              </a:lnSpc>
            </a:pPr>
            <a:r>
              <a:rPr lang="en-US" sz="2454" spc="-12" dirty="0">
                <a:solidFill>
                  <a:srgbClr val="000000"/>
                </a:solidFill>
                <a:latin typeface="Somber"/>
                <a:ea typeface="Somber"/>
                <a:cs typeface="Somber"/>
                <a:sym typeface="Somber"/>
              </a:rPr>
              <a:t>Project - Northern Lights </a:t>
            </a:r>
          </a:p>
        </p:txBody>
      </p:sp>
      <p:sp>
        <p:nvSpPr>
          <p:cNvPr id="54" name="TextBox 53">
            <a:extLst>
              <a:ext uri="{FF2B5EF4-FFF2-40B4-BE49-F238E27FC236}">
                <a16:creationId xmlns:a16="http://schemas.microsoft.com/office/drawing/2014/main" id="{37275F88-3984-8FF1-73AC-60ED5A42E73F}"/>
              </a:ext>
            </a:extLst>
          </p:cNvPr>
          <p:cNvSpPr txBox="1"/>
          <p:nvPr/>
        </p:nvSpPr>
        <p:spPr>
          <a:xfrm>
            <a:off x="524215" y="10265811"/>
            <a:ext cx="6312768" cy="430887"/>
          </a:xfrm>
          <a:prstGeom prst="rect">
            <a:avLst/>
          </a:prstGeom>
          <a:noFill/>
        </p:spPr>
        <p:txBody>
          <a:bodyPr wrap="square">
            <a:spAutoFit/>
          </a:bodyPr>
          <a:lstStyle/>
          <a:p>
            <a:pPr algn="ctr"/>
            <a:r>
              <a:rPr lang="en-US" sz="1100" b="1" spc="56" dirty="0">
                <a:solidFill>
                  <a:srgbClr val="000000"/>
                </a:solidFill>
                <a:latin typeface="Questrial"/>
              </a:rPr>
              <a:t>Godrej Genesis Building, 15th Floor, Unit No. 1502, Sector V, Block EP &amp; GP, Salt Lake City, Kolkata – 700091, West Bengal, India.</a:t>
            </a:r>
            <a:endParaRPr lang="en-IN" sz="1100" b="1" spc="56" dirty="0">
              <a:solidFill>
                <a:srgbClr val="000000"/>
              </a:solidFill>
              <a:latin typeface="Questrial"/>
            </a:endParaRPr>
          </a:p>
        </p:txBody>
      </p:sp>
      <p:sp>
        <p:nvSpPr>
          <p:cNvPr id="42" name="Rectangle 41">
            <a:extLst>
              <a:ext uri="{FF2B5EF4-FFF2-40B4-BE49-F238E27FC236}">
                <a16:creationId xmlns:a16="http://schemas.microsoft.com/office/drawing/2014/main" id="{BD50668A-BDFF-4B97-9804-C9755E223507}"/>
              </a:ext>
            </a:extLst>
          </p:cNvPr>
          <p:cNvSpPr/>
          <p:nvPr/>
        </p:nvSpPr>
        <p:spPr>
          <a:xfrm>
            <a:off x="196850" y="2521629"/>
            <a:ext cx="7113920" cy="5126212"/>
          </a:xfrm>
          <a:prstGeom prst="rect">
            <a:avLst/>
          </a:prstGeom>
        </p:spPr>
        <p:txBody>
          <a:bodyPr wrap="square">
            <a:spAutoFit/>
          </a:bodyPr>
          <a:lstStyle/>
          <a:p>
            <a:pPr>
              <a:lnSpc>
                <a:spcPct val="150000"/>
              </a:lnSpc>
            </a:pPr>
            <a:r>
              <a:rPr lang="en-IN" sz="4000" b="1" dirty="0">
                <a:latin typeface="Arial Black" panose="020B0A04020102020204" pitchFamily="34" charset="0"/>
                <a:ea typeface="Times New Roman" panose="02020603050405020304" pitchFamily="18" charset="0"/>
                <a:cs typeface="Times New Roman" panose="02020603050405020304" pitchFamily="18" charset="0"/>
              </a:rPr>
              <a:t>1. Problem Statement</a:t>
            </a:r>
            <a:endParaRPr lang="en-US" sz="4000" dirty="0">
              <a:latin typeface="Arial Black" panose="020B0A04020102020204" pitchFamily="34" charset="0"/>
              <a:ea typeface="Calibri" panose="020F0502020204030204" pitchFamily="34" charset="0"/>
              <a:cs typeface="Times New Roman" panose="02020603050405020304" pitchFamily="18" charset="0"/>
            </a:endParaRPr>
          </a:p>
          <a:p>
            <a:pPr algn="just">
              <a:lnSpc>
                <a:spcPct val="150000"/>
              </a:lnSpc>
            </a:pPr>
            <a:r>
              <a:rPr lang="en-IN" dirty="0">
                <a:latin typeface="Times New Roman" panose="02020603050405020304" pitchFamily="18" charset="0"/>
                <a:ea typeface="Times New Roman" panose="02020603050405020304" pitchFamily="18" charset="0"/>
                <a:cs typeface="Times New Roman" panose="02020603050405020304" pitchFamily="18" charset="0"/>
              </a:rPr>
              <a:t>Despite the widespread adoption of LED tube lights as energy efficient lighting solutions, many installations still suffer from reduced efficiency, premature failures, flickering, and increased operational heat. A key contributor is the choice of LED driver design specifically constant current (CC) versus constant voltage (CV) drivers. Limited research exists comparing their real-world performance in terms of power factor, thermal behaviour, lumen output, and long term reliability. This creates uncertainty for manufacturers, facility managers, and sustainability planners when selecting the most efficient and durable driver system for commercial lighting.</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42222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560000" cy="1887452"/>
            <a:chOff x="0" y="0"/>
            <a:chExt cx="2709333" cy="793641"/>
          </a:xfrm>
        </p:grpSpPr>
        <p:sp>
          <p:nvSpPr>
            <p:cNvPr id="3" name="Freeform 3"/>
            <p:cNvSpPr/>
            <p:nvPr/>
          </p:nvSpPr>
          <p:spPr>
            <a:xfrm>
              <a:off x="0" y="0"/>
              <a:ext cx="2709333" cy="793641"/>
            </a:xfrm>
            <a:custGeom>
              <a:avLst/>
              <a:gdLst/>
              <a:ahLst/>
              <a:cxnLst/>
              <a:rect l="l" t="t" r="r" b="b"/>
              <a:pathLst>
                <a:path w="2709333" h="793641">
                  <a:moveTo>
                    <a:pt x="0" y="0"/>
                  </a:moveTo>
                  <a:lnTo>
                    <a:pt x="2709333" y="0"/>
                  </a:lnTo>
                  <a:lnTo>
                    <a:pt x="2709333" y="793641"/>
                  </a:lnTo>
                  <a:lnTo>
                    <a:pt x="0" y="793641"/>
                  </a:lnTo>
                  <a:close/>
                </a:path>
              </a:pathLst>
            </a:custGeom>
            <a:solidFill>
              <a:srgbClr val="FFD67F"/>
            </a:solidFill>
          </p:spPr>
        </p:sp>
        <p:sp>
          <p:nvSpPr>
            <p:cNvPr id="4" name="TextBox 4"/>
            <p:cNvSpPr txBox="1"/>
            <p:nvPr/>
          </p:nvSpPr>
          <p:spPr>
            <a:xfrm>
              <a:off x="0" y="-28575"/>
              <a:ext cx="2709333" cy="822216"/>
            </a:xfrm>
            <a:prstGeom prst="rect">
              <a:avLst/>
            </a:prstGeom>
          </p:spPr>
          <p:txBody>
            <a:bodyPr lIns="50800" tIns="50800" rIns="50800" bIns="50800" rtlCol="0" anchor="ctr"/>
            <a:lstStyle/>
            <a:p>
              <a:pPr algn="ctr">
                <a:lnSpc>
                  <a:spcPts val="1960"/>
                </a:lnSpc>
                <a:spcBef>
                  <a:spcPct val="0"/>
                </a:spcBef>
              </a:pPr>
              <a:endParaRPr/>
            </a:p>
          </p:txBody>
        </p:sp>
      </p:grpSp>
      <p:sp>
        <p:nvSpPr>
          <p:cNvPr id="31" name="AutoShape 31"/>
          <p:cNvSpPr/>
          <p:nvPr/>
        </p:nvSpPr>
        <p:spPr>
          <a:xfrm>
            <a:off x="682625" y="9933289"/>
            <a:ext cx="6628145" cy="23511"/>
          </a:xfrm>
          <a:prstGeom prst="line">
            <a:avLst/>
          </a:prstGeom>
          <a:ln w="9525" cap="flat">
            <a:solidFill>
              <a:srgbClr val="45A6B0"/>
            </a:solidFill>
            <a:prstDash val="solid"/>
            <a:headEnd type="none" w="sm" len="sm"/>
            <a:tailEnd type="none" w="sm" len="sm"/>
          </a:ln>
        </p:spPr>
      </p:sp>
      <p:grpSp>
        <p:nvGrpSpPr>
          <p:cNvPr id="32" name="Group 32"/>
          <p:cNvGrpSpPr/>
          <p:nvPr/>
        </p:nvGrpSpPr>
        <p:grpSpPr>
          <a:xfrm>
            <a:off x="0" y="10141752"/>
            <a:ext cx="7560000" cy="676005"/>
            <a:chOff x="0" y="0"/>
            <a:chExt cx="2709333" cy="782249"/>
          </a:xfrm>
        </p:grpSpPr>
        <p:sp>
          <p:nvSpPr>
            <p:cNvPr id="33" name="Freeform 33"/>
            <p:cNvSpPr/>
            <p:nvPr/>
          </p:nvSpPr>
          <p:spPr>
            <a:xfrm>
              <a:off x="0" y="0"/>
              <a:ext cx="2709333" cy="782249"/>
            </a:xfrm>
            <a:custGeom>
              <a:avLst/>
              <a:gdLst/>
              <a:ahLst/>
              <a:cxnLst/>
              <a:rect l="l" t="t" r="r" b="b"/>
              <a:pathLst>
                <a:path w="2709333" h="782249">
                  <a:moveTo>
                    <a:pt x="0" y="0"/>
                  </a:moveTo>
                  <a:lnTo>
                    <a:pt x="2709333" y="0"/>
                  </a:lnTo>
                  <a:lnTo>
                    <a:pt x="2709333" y="782249"/>
                  </a:lnTo>
                  <a:lnTo>
                    <a:pt x="0" y="782249"/>
                  </a:lnTo>
                  <a:close/>
                </a:path>
              </a:pathLst>
            </a:custGeom>
            <a:solidFill>
              <a:srgbClr val="FFD67F"/>
            </a:solidFill>
          </p:spPr>
        </p:sp>
        <p:sp>
          <p:nvSpPr>
            <p:cNvPr id="34" name="TextBox 34"/>
            <p:cNvSpPr txBox="1"/>
            <p:nvPr/>
          </p:nvSpPr>
          <p:spPr>
            <a:xfrm>
              <a:off x="0" y="-28575"/>
              <a:ext cx="2709333" cy="810824"/>
            </a:xfrm>
            <a:prstGeom prst="rect">
              <a:avLst/>
            </a:prstGeom>
          </p:spPr>
          <p:txBody>
            <a:bodyPr lIns="50800" tIns="50800" rIns="50800" bIns="50800" rtlCol="0" anchor="ctr"/>
            <a:lstStyle/>
            <a:p>
              <a:pPr algn="ctr">
                <a:lnSpc>
                  <a:spcPts val="1960"/>
                </a:lnSpc>
                <a:spcBef>
                  <a:spcPct val="0"/>
                </a:spcBef>
              </a:pPr>
              <a:endParaRPr/>
            </a:p>
          </p:txBody>
        </p:sp>
      </p:grpSp>
      <p:sp>
        <p:nvSpPr>
          <p:cNvPr id="38" name="Freeform 38"/>
          <p:cNvSpPr/>
          <p:nvPr/>
        </p:nvSpPr>
        <p:spPr>
          <a:xfrm>
            <a:off x="5028792" y="421581"/>
            <a:ext cx="1949909" cy="1257844"/>
          </a:xfrm>
          <a:custGeom>
            <a:avLst/>
            <a:gdLst/>
            <a:ahLst/>
            <a:cxnLst/>
            <a:rect l="l" t="t" r="r" b="b"/>
            <a:pathLst>
              <a:path w="1615844" h="872976">
                <a:moveTo>
                  <a:pt x="0" y="0"/>
                </a:moveTo>
                <a:lnTo>
                  <a:pt x="1615844" y="0"/>
                </a:lnTo>
                <a:lnTo>
                  <a:pt x="1615844" y="872976"/>
                </a:lnTo>
                <a:lnTo>
                  <a:pt x="0" y="872976"/>
                </a:lnTo>
                <a:lnTo>
                  <a:pt x="0" y="0"/>
                </a:lnTo>
                <a:close/>
              </a:path>
            </a:pathLst>
          </a:custGeom>
          <a:blipFill>
            <a:blip r:embed="rId2"/>
            <a:stretch>
              <a:fillRect/>
            </a:stretch>
          </a:blipFill>
        </p:spPr>
      </p:sp>
      <p:sp>
        <p:nvSpPr>
          <p:cNvPr id="39" name="TextBox 39"/>
          <p:cNvSpPr txBox="1"/>
          <p:nvPr/>
        </p:nvSpPr>
        <p:spPr>
          <a:xfrm>
            <a:off x="577799" y="765525"/>
            <a:ext cx="4450993" cy="531910"/>
          </a:xfrm>
          <a:prstGeom prst="rect">
            <a:avLst/>
          </a:prstGeom>
        </p:spPr>
        <p:txBody>
          <a:bodyPr lIns="0" tIns="0" rIns="0" bIns="0" rtlCol="0" anchor="t">
            <a:spAutoFit/>
          </a:bodyPr>
          <a:lstStyle/>
          <a:p>
            <a:pPr algn="l">
              <a:lnSpc>
                <a:spcPts val="4052"/>
              </a:lnSpc>
            </a:pPr>
            <a:r>
              <a:rPr lang="en-US" sz="3554" spc="-17">
                <a:solidFill>
                  <a:srgbClr val="000000"/>
                </a:solidFill>
                <a:latin typeface="Somber"/>
                <a:ea typeface="Somber"/>
                <a:cs typeface="Somber"/>
                <a:sym typeface="Somber"/>
              </a:rPr>
              <a:t>SUPER 40 WINTER INTERNSHIP</a:t>
            </a:r>
          </a:p>
        </p:txBody>
      </p:sp>
      <p:sp>
        <p:nvSpPr>
          <p:cNvPr id="40" name="TextBox 40"/>
          <p:cNvSpPr txBox="1"/>
          <p:nvPr/>
        </p:nvSpPr>
        <p:spPr>
          <a:xfrm>
            <a:off x="577799" y="421581"/>
            <a:ext cx="5379711" cy="203327"/>
          </a:xfrm>
          <a:prstGeom prst="rect">
            <a:avLst/>
          </a:prstGeom>
        </p:spPr>
        <p:txBody>
          <a:bodyPr lIns="0" tIns="0" rIns="0" bIns="0" rtlCol="0" anchor="t">
            <a:spAutoFit/>
          </a:bodyPr>
          <a:lstStyle/>
          <a:p>
            <a:pPr algn="l">
              <a:lnSpc>
                <a:spcPts val="1533"/>
              </a:lnSpc>
            </a:pPr>
            <a:r>
              <a:rPr lang="en-US" sz="1299" spc="201">
                <a:solidFill>
                  <a:srgbClr val="000000"/>
                </a:solidFill>
                <a:latin typeface="Questrial"/>
                <a:ea typeface="Questrial"/>
                <a:cs typeface="Questrial"/>
                <a:sym typeface="Questrial"/>
              </a:rPr>
              <a:t>IEM RESEARCH FOUNDATION</a:t>
            </a:r>
          </a:p>
        </p:txBody>
      </p:sp>
      <p:sp>
        <p:nvSpPr>
          <p:cNvPr id="52" name="TextBox 52"/>
          <p:cNvSpPr txBox="1"/>
          <p:nvPr/>
        </p:nvSpPr>
        <p:spPr>
          <a:xfrm>
            <a:off x="577799" y="1345445"/>
            <a:ext cx="4450993" cy="361604"/>
          </a:xfrm>
          <a:prstGeom prst="rect">
            <a:avLst/>
          </a:prstGeom>
        </p:spPr>
        <p:txBody>
          <a:bodyPr lIns="0" tIns="0" rIns="0" bIns="0" rtlCol="0" anchor="t">
            <a:spAutoFit/>
          </a:bodyPr>
          <a:lstStyle/>
          <a:p>
            <a:pPr>
              <a:lnSpc>
                <a:spcPts val="2798"/>
              </a:lnSpc>
            </a:pPr>
            <a:r>
              <a:rPr lang="en-US" sz="2454" spc="-12" dirty="0">
                <a:solidFill>
                  <a:srgbClr val="000000"/>
                </a:solidFill>
                <a:latin typeface="Somber"/>
                <a:ea typeface="Somber"/>
                <a:cs typeface="Somber"/>
                <a:sym typeface="Somber"/>
              </a:rPr>
              <a:t>Project - Northern Lights </a:t>
            </a:r>
          </a:p>
        </p:txBody>
      </p:sp>
      <p:sp>
        <p:nvSpPr>
          <p:cNvPr id="54" name="TextBox 53">
            <a:extLst>
              <a:ext uri="{FF2B5EF4-FFF2-40B4-BE49-F238E27FC236}">
                <a16:creationId xmlns:a16="http://schemas.microsoft.com/office/drawing/2014/main" id="{37275F88-3984-8FF1-73AC-60ED5A42E73F}"/>
              </a:ext>
            </a:extLst>
          </p:cNvPr>
          <p:cNvSpPr txBox="1"/>
          <p:nvPr/>
        </p:nvSpPr>
        <p:spPr>
          <a:xfrm>
            <a:off x="524215" y="10265811"/>
            <a:ext cx="6312768" cy="430887"/>
          </a:xfrm>
          <a:prstGeom prst="rect">
            <a:avLst/>
          </a:prstGeom>
          <a:noFill/>
        </p:spPr>
        <p:txBody>
          <a:bodyPr wrap="square">
            <a:spAutoFit/>
          </a:bodyPr>
          <a:lstStyle/>
          <a:p>
            <a:pPr algn="ctr"/>
            <a:r>
              <a:rPr lang="en-US" sz="1100" b="1" spc="56" dirty="0">
                <a:solidFill>
                  <a:srgbClr val="000000"/>
                </a:solidFill>
                <a:latin typeface="Questrial"/>
              </a:rPr>
              <a:t>Godrej Genesis Building, 15th Floor, Unit No. 1502, Sector V, Block EP &amp; GP, Salt Lake City, Kolkata – 700091, West Bengal, India.</a:t>
            </a:r>
            <a:endParaRPr lang="en-IN" sz="1100" b="1" spc="56" dirty="0">
              <a:solidFill>
                <a:srgbClr val="000000"/>
              </a:solidFill>
              <a:latin typeface="Questrial"/>
            </a:endParaRPr>
          </a:p>
        </p:txBody>
      </p:sp>
      <p:sp>
        <p:nvSpPr>
          <p:cNvPr id="42" name="Rectangle 41">
            <a:extLst>
              <a:ext uri="{FF2B5EF4-FFF2-40B4-BE49-F238E27FC236}">
                <a16:creationId xmlns:a16="http://schemas.microsoft.com/office/drawing/2014/main" id="{BD50668A-BDFF-4B97-9804-C9755E223507}"/>
              </a:ext>
            </a:extLst>
          </p:cNvPr>
          <p:cNvSpPr/>
          <p:nvPr/>
        </p:nvSpPr>
        <p:spPr>
          <a:xfrm>
            <a:off x="196850" y="2521629"/>
            <a:ext cx="7113920" cy="4031873"/>
          </a:xfrm>
          <a:prstGeom prst="rect">
            <a:avLst/>
          </a:prstGeom>
        </p:spPr>
        <p:txBody>
          <a:bodyPr wrap="square">
            <a:spAutoFit/>
          </a:bodyPr>
          <a:lstStyle/>
          <a:p>
            <a:r>
              <a:rPr lang="en-IN" sz="4000" b="1" dirty="0">
                <a:latin typeface="Arial Black" panose="020B0A04020102020204" pitchFamily="34" charset="0"/>
              </a:rPr>
              <a:t>2. Research and Ideation</a:t>
            </a:r>
            <a:endParaRPr lang="en-US" sz="4000" dirty="0">
              <a:latin typeface="Arial Black" panose="020B0A04020102020204" pitchFamily="34" charset="0"/>
            </a:endParaRPr>
          </a:p>
          <a:p>
            <a:r>
              <a:rPr lang="en-IN" dirty="0"/>
              <a:t>The research aims to:</a:t>
            </a:r>
            <a:endParaRPr lang="en-US" dirty="0"/>
          </a:p>
          <a:p>
            <a:r>
              <a:rPr lang="en-IN" dirty="0"/>
              <a:t>● Review literature on LED driver topologies, energy efficiency, and      </a:t>
            </a:r>
          </a:p>
          <a:p>
            <a:r>
              <a:rPr lang="en-IN" dirty="0"/>
              <a:t>    lighting standards.</a:t>
            </a:r>
            <a:endParaRPr lang="en-US" dirty="0"/>
          </a:p>
          <a:p>
            <a:r>
              <a:rPr lang="en-IN" dirty="0"/>
              <a:t>● Experimentally compare CC and CV drivers powering identical LED tube    </a:t>
            </a:r>
          </a:p>
          <a:p>
            <a:r>
              <a:rPr lang="en-IN" dirty="0"/>
              <a:t>    assemblies.</a:t>
            </a:r>
            <a:endParaRPr lang="en-US" dirty="0"/>
          </a:p>
          <a:p>
            <a:r>
              <a:rPr lang="en-IN" dirty="0"/>
              <a:t>● Measure and analyse:</a:t>
            </a:r>
            <a:endParaRPr lang="en-US" dirty="0"/>
          </a:p>
          <a:p>
            <a:r>
              <a:rPr lang="en-IN" dirty="0"/>
              <a:t>   Input power, output power, Power factor, Heat generation, thermal  </a:t>
            </a:r>
          </a:p>
          <a:p>
            <a:r>
              <a:rPr lang="en-IN" dirty="0"/>
              <a:t>   dissipation, Lumen output, flicker index, driver efficiency, Lifespan  </a:t>
            </a:r>
          </a:p>
          <a:p>
            <a:r>
              <a:rPr lang="en-IN" dirty="0"/>
              <a:t>    prediction and light quality.</a:t>
            </a:r>
            <a:endParaRPr lang="en-US" dirty="0"/>
          </a:p>
          <a:p>
            <a:r>
              <a:rPr lang="en-IN" dirty="0"/>
              <a:t>● Explore additional smart driver concepts such as dimming control, and   </a:t>
            </a:r>
          </a:p>
          <a:p>
            <a:r>
              <a:rPr lang="en-IN" dirty="0"/>
              <a:t>   thermal protection. The ideation phase will encourage low-cost,  </a:t>
            </a:r>
          </a:p>
          <a:p>
            <a:r>
              <a:rPr lang="en-IN" dirty="0"/>
              <a:t>    scalable, and manufacturable driver improvements.</a:t>
            </a:r>
            <a:endParaRPr lang="en-US" dirty="0"/>
          </a:p>
        </p:txBody>
      </p:sp>
    </p:spTree>
    <p:extLst>
      <p:ext uri="{BB962C8B-B14F-4D97-AF65-F5344CB8AC3E}">
        <p14:creationId xmlns:p14="http://schemas.microsoft.com/office/powerpoint/2010/main" val="871963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560000" cy="1887452"/>
            <a:chOff x="0" y="0"/>
            <a:chExt cx="2709333" cy="793641"/>
          </a:xfrm>
        </p:grpSpPr>
        <p:sp>
          <p:nvSpPr>
            <p:cNvPr id="3" name="Freeform 3"/>
            <p:cNvSpPr/>
            <p:nvPr/>
          </p:nvSpPr>
          <p:spPr>
            <a:xfrm>
              <a:off x="0" y="0"/>
              <a:ext cx="2709333" cy="793641"/>
            </a:xfrm>
            <a:custGeom>
              <a:avLst/>
              <a:gdLst/>
              <a:ahLst/>
              <a:cxnLst/>
              <a:rect l="l" t="t" r="r" b="b"/>
              <a:pathLst>
                <a:path w="2709333" h="793641">
                  <a:moveTo>
                    <a:pt x="0" y="0"/>
                  </a:moveTo>
                  <a:lnTo>
                    <a:pt x="2709333" y="0"/>
                  </a:lnTo>
                  <a:lnTo>
                    <a:pt x="2709333" y="793641"/>
                  </a:lnTo>
                  <a:lnTo>
                    <a:pt x="0" y="793641"/>
                  </a:lnTo>
                  <a:close/>
                </a:path>
              </a:pathLst>
            </a:custGeom>
            <a:solidFill>
              <a:srgbClr val="FFD67F"/>
            </a:solidFill>
          </p:spPr>
        </p:sp>
        <p:sp>
          <p:nvSpPr>
            <p:cNvPr id="4" name="TextBox 4"/>
            <p:cNvSpPr txBox="1"/>
            <p:nvPr/>
          </p:nvSpPr>
          <p:spPr>
            <a:xfrm>
              <a:off x="0" y="-28575"/>
              <a:ext cx="2709333" cy="822216"/>
            </a:xfrm>
            <a:prstGeom prst="rect">
              <a:avLst/>
            </a:prstGeom>
          </p:spPr>
          <p:txBody>
            <a:bodyPr lIns="50800" tIns="50800" rIns="50800" bIns="50800" rtlCol="0" anchor="ctr"/>
            <a:lstStyle/>
            <a:p>
              <a:pPr algn="ctr">
                <a:lnSpc>
                  <a:spcPts val="1960"/>
                </a:lnSpc>
                <a:spcBef>
                  <a:spcPct val="0"/>
                </a:spcBef>
              </a:pPr>
              <a:endParaRPr/>
            </a:p>
          </p:txBody>
        </p:sp>
      </p:grpSp>
      <p:sp>
        <p:nvSpPr>
          <p:cNvPr id="31" name="AutoShape 31"/>
          <p:cNvSpPr/>
          <p:nvPr/>
        </p:nvSpPr>
        <p:spPr>
          <a:xfrm>
            <a:off x="682625" y="9933289"/>
            <a:ext cx="6628145" cy="23511"/>
          </a:xfrm>
          <a:prstGeom prst="line">
            <a:avLst/>
          </a:prstGeom>
          <a:ln w="9525" cap="flat">
            <a:solidFill>
              <a:srgbClr val="45A6B0"/>
            </a:solidFill>
            <a:prstDash val="solid"/>
            <a:headEnd type="none" w="sm" len="sm"/>
            <a:tailEnd type="none" w="sm" len="sm"/>
          </a:ln>
        </p:spPr>
      </p:sp>
      <p:grpSp>
        <p:nvGrpSpPr>
          <p:cNvPr id="32" name="Group 32"/>
          <p:cNvGrpSpPr/>
          <p:nvPr/>
        </p:nvGrpSpPr>
        <p:grpSpPr>
          <a:xfrm>
            <a:off x="0" y="10141752"/>
            <a:ext cx="7560000" cy="676005"/>
            <a:chOff x="0" y="0"/>
            <a:chExt cx="2709333" cy="782249"/>
          </a:xfrm>
        </p:grpSpPr>
        <p:sp>
          <p:nvSpPr>
            <p:cNvPr id="33" name="Freeform 33"/>
            <p:cNvSpPr/>
            <p:nvPr/>
          </p:nvSpPr>
          <p:spPr>
            <a:xfrm>
              <a:off x="0" y="0"/>
              <a:ext cx="2709333" cy="782249"/>
            </a:xfrm>
            <a:custGeom>
              <a:avLst/>
              <a:gdLst/>
              <a:ahLst/>
              <a:cxnLst/>
              <a:rect l="l" t="t" r="r" b="b"/>
              <a:pathLst>
                <a:path w="2709333" h="782249">
                  <a:moveTo>
                    <a:pt x="0" y="0"/>
                  </a:moveTo>
                  <a:lnTo>
                    <a:pt x="2709333" y="0"/>
                  </a:lnTo>
                  <a:lnTo>
                    <a:pt x="2709333" y="782249"/>
                  </a:lnTo>
                  <a:lnTo>
                    <a:pt x="0" y="782249"/>
                  </a:lnTo>
                  <a:close/>
                </a:path>
              </a:pathLst>
            </a:custGeom>
            <a:solidFill>
              <a:srgbClr val="FFD67F"/>
            </a:solidFill>
          </p:spPr>
        </p:sp>
        <p:sp>
          <p:nvSpPr>
            <p:cNvPr id="34" name="TextBox 34"/>
            <p:cNvSpPr txBox="1"/>
            <p:nvPr/>
          </p:nvSpPr>
          <p:spPr>
            <a:xfrm>
              <a:off x="0" y="-28575"/>
              <a:ext cx="2709333" cy="810824"/>
            </a:xfrm>
            <a:prstGeom prst="rect">
              <a:avLst/>
            </a:prstGeom>
          </p:spPr>
          <p:txBody>
            <a:bodyPr lIns="50800" tIns="50800" rIns="50800" bIns="50800" rtlCol="0" anchor="ctr"/>
            <a:lstStyle/>
            <a:p>
              <a:pPr algn="ctr">
                <a:lnSpc>
                  <a:spcPts val="1960"/>
                </a:lnSpc>
                <a:spcBef>
                  <a:spcPct val="0"/>
                </a:spcBef>
              </a:pPr>
              <a:endParaRPr/>
            </a:p>
          </p:txBody>
        </p:sp>
      </p:grpSp>
      <p:sp>
        <p:nvSpPr>
          <p:cNvPr id="38" name="Freeform 38"/>
          <p:cNvSpPr/>
          <p:nvPr/>
        </p:nvSpPr>
        <p:spPr>
          <a:xfrm>
            <a:off x="5028792" y="421581"/>
            <a:ext cx="1949909" cy="1257844"/>
          </a:xfrm>
          <a:custGeom>
            <a:avLst/>
            <a:gdLst/>
            <a:ahLst/>
            <a:cxnLst/>
            <a:rect l="l" t="t" r="r" b="b"/>
            <a:pathLst>
              <a:path w="1615844" h="872976">
                <a:moveTo>
                  <a:pt x="0" y="0"/>
                </a:moveTo>
                <a:lnTo>
                  <a:pt x="1615844" y="0"/>
                </a:lnTo>
                <a:lnTo>
                  <a:pt x="1615844" y="872976"/>
                </a:lnTo>
                <a:lnTo>
                  <a:pt x="0" y="872976"/>
                </a:lnTo>
                <a:lnTo>
                  <a:pt x="0" y="0"/>
                </a:lnTo>
                <a:close/>
              </a:path>
            </a:pathLst>
          </a:custGeom>
          <a:blipFill>
            <a:blip r:embed="rId2"/>
            <a:stretch>
              <a:fillRect/>
            </a:stretch>
          </a:blipFill>
        </p:spPr>
      </p:sp>
      <p:sp>
        <p:nvSpPr>
          <p:cNvPr id="39" name="TextBox 39"/>
          <p:cNvSpPr txBox="1"/>
          <p:nvPr/>
        </p:nvSpPr>
        <p:spPr>
          <a:xfrm>
            <a:off x="577799" y="765525"/>
            <a:ext cx="4450993" cy="531910"/>
          </a:xfrm>
          <a:prstGeom prst="rect">
            <a:avLst/>
          </a:prstGeom>
        </p:spPr>
        <p:txBody>
          <a:bodyPr lIns="0" tIns="0" rIns="0" bIns="0" rtlCol="0" anchor="t">
            <a:spAutoFit/>
          </a:bodyPr>
          <a:lstStyle/>
          <a:p>
            <a:pPr algn="l">
              <a:lnSpc>
                <a:spcPts val="4052"/>
              </a:lnSpc>
            </a:pPr>
            <a:r>
              <a:rPr lang="en-US" sz="3554" spc="-17">
                <a:solidFill>
                  <a:srgbClr val="000000"/>
                </a:solidFill>
                <a:latin typeface="Somber"/>
                <a:ea typeface="Somber"/>
                <a:cs typeface="Somber"/>
                <a:sym typeface="Somber"/>
              </a:rPr>
              <a:t>SUPER 40 WINTER INTERNSHIP</a:t>
            </a:r>
          </a:p>
        </p:txBody>
      </p:sp>
      <p:sp>
        <p:nvSpPr>
          <p:cNvPr id="40" name="TextBox 40"/>
          <p:cNvSpPr txBox="1"/>
          <p:nvPr/>
        </p:nvSpPr>
        <p:spPr>
          <a:xfrm>
            <a:off x="577799" y="421581"/>
            <a:ext cx="5379711" cy="203327"/>
          </a:xfrm>
          <a:prstGeom prst="rect">
            <a:avLst/>
          </a:prstGeom>
        </p:spPr>
        <p:txBody>
          <a:bodyPr lIns="0" tIns="0" rIns="0" bIns="0" rtlCol="0" anchor="t">
            <a:spAutoFit/>
          </a:bodyPr>
          <a:lstStyle/>
          <a:p>
            <a:pPr algn="l">
              <a:lnSpc>
                <a:spcPts val="1533"/>
              </a:lnSpc>
            </a:pPr>
            <a:r>
              <a:rPr lang="en-US" sz="1299" spc="201">
                <a:solidFill>
                  <a:srgbClr val="000000"/>
                </a:solidFill>
                <a:latin typeface="Questrial"/>
                <a:ea typeface="Questrial"/>
                <a:cs typeface="Questrial"/>
                <a:sym typeface="Questrial"/>
              </a:rPr>
              <a:t>IEM RESEARCH FOUNDATION</a:t>
            </a:r>
          </a:p>
        </p:txBody>
      </p:sp>
      <p:sp>
        <p:nvSpPr>
          <p:cNvPr id="52" name="TextBox 52"/>
          <p:cNvSpPr txBox="1"/>
          <p:nvPr/>
        </p:nvSpPr>
        <p:spPr>
          <a:xfrm>
            <a:off x="577799" y="1345445"/>
            <a:ext cx="4450993" cy="361604"/>
          </a:xfrm>
          <a:prstGeom prst="rect">
            <a:avLst/>
          </a:prstGeom>
        </p:spPr>
        <p:txBody>
          <a:bodyPr lIns="0" tIns="0" rIns="0" bIns="0" rtlCol="0" anchor="t">
            <a:spAutoFit/>
          </a:bodyPr>
          <a:lstStyle/>
          <a:p>
            <a:pPr>
              <a:lnSpc>
                <a:spcPts val="2798"/>
              </a:lnSpc>
            </a:pPr>
            <a:r>
              <a:rPr lang="en-US" sz="2454" spc="-12" dirty="0">
                <a:solidFill>
                  <a:srgbClr val="000000"/>
                </a:solidFill>
                <a:latin typeface="Somber"/>
                <a:ea typeface="Somber"/>
                <a:cs typeface="Somber"/>
                <a:sym typeface="Somber"/>
              </a:rPr>
              <a:t>Project - Northern Lights </a:t>
            </a:r>
          </a:p>
        </p:txBody>
      </p:sp>
      <p:sp>
        <p:nvSpPr>
          <p:cNvPr id="54" name="TextBox 53">
            <a:extLst>
              <a:ext uri="{FF2B5EF4-FFF2-40B4-BE49-F238E27FC236}">
                <a16:creationId xmlns:a16="http://schemas.microsoft.com/office/drawing/2014/main" id="{37275F88-3984-8FF1-73AC-60ED5A42E73F}"/>
              </a:ext>
            </a:extLst>
          </p:cNvPr>
          <p:cNvSpPr txBox="1"/>
          <p:nvPr/>
        </p:nvSpPr>
        <p:spPr>
          <a:xfrm>
            <a:off x="524215" y="10265811"/>
            <a:ext cx="6312768" cy="430887"/>
          </a:xfrm>
          <a:prstGeom prst="rect">
            <a:avLst/>
          </a:prstGeom>
          <a:noFill/>
        </p:spPr>
        <p:txBody>
          <a:bodyPr wrap="square">
            <a:spAutoFit/>
          </a:bodyPr>
          <a:lstStyle/>
          <a:p>
            <a:pPr algn="ctr"/>
            <a:r>
              <a:rPr lang="en-US" sz="1100" b="1" spc="56" dirty="0">
                <a:solidFill>
                  <a:srgbClr val="000000"/>
                </a:solidFill>
                <a:latin typeface="Questrial"/>
              </a:rPr>
              <a:t>Godrej Genesis Building, 15th Floor, Unit No. 1502, Sector V, Block EP &amp; GP, Salt Lake City, Kolkata – 700091, West Bengal, India.</a:t>
            </a:r>
            <a:endParaRPr lang="en-IN" sz="1100" b="1" spc="56" dirty="0">
              <a:solidFill>
                <a:srgbClr val="000000"/>
              </a:solidFill>
              <a:latin typeface="Questrial"/>
            </a:endParaRPr>
          </a:p>
        </p:txBody>
      </p:sp>
      <p:sp>
        <p:nvSpPr>
          <p:cNvPr id="42" name="Rectangle 41">
            <a:extLst>
              <a:ext uri="{FF2B5EF4-FFF2-40B4-BE49-F238E27FC236}">
                <a16:creationId xmlns:a16="http://schemas.microsoft.com/office/drawing/2014/main" id="{BD50668A-BDFF-4B97-9804-C9755E223507}"/>
              </a:ext>
            </a:extLst>
          </p:cNvPr>
          <p:cNvSpPr/>
          <p:nvPr/>
        </p:nvSpPr>
        <p:spPr>
          <a:xfrm>
            <a:off x="196850" y="2521629"/>
            <a:ext cx="7113920" cy="2923877"/>
          </a:xfrm>
          <a:prstGeom prst="rect">
            <a:avLst/>
          </a:prstGeom>
        </p:spPr>
        <p:txBody>
          <a:bodyPr wrap="square">
            <a:spAutoFit/>
          </a:bodyPr>
          <a:lstStyle/>
          <a:p>
            <a:r>
              <a:rPr lang="en-IN" sz="4000" b="1" dirty="0">
                <a:latin typeface="Arial Black" panose="020B0A04020102020204" pitchFamily="34" charset="0"/>
              </a:rPr>
              <a:t>3. Value Proposition</a:t>
            </a:r>
            <a:endParaRPr lang="en-US" sz="4000" dirty="0">
              <a:latin typeface="Arial Black" panose="020B0A04020102020204" pitchFamily="34" charset="0"/>
            </a:endParaRPr>
          </a:p>
          <a:p>
            <a:r>
              <a:rPr lang="en-IN" dirty="0"/>
              <a:t>● </a:t>
            </a:r>
            <a:r>
              <a:rPr lang="en-IN" b="1" dirty="0"/>
              <a:t>For manufacturers:</a:t>
            </a:r>
            <a:r>
              <a:rPr lang="en-IN" dirty="0"/>
              <a:t> Data driven guidance to design higher efficiency  </a:t>
            </a:r>
          </a:p>
          <a:p>
            <a:r>
              <a:rPr lang="en-IN" dirty="0"/>
              <a:t>   drivers.</a:t>
            </a:r>
            <a:endParaRPr lang="en-US" dirty="0"/>
          </a:p>
          <a:p>
            <a:r>
              <a:rPr lang="en-IN" dirty="0"/>
              <a:t>● </a:t>
            </a:r>
            <a:r>
              <a:rPr lang="en-IN" b="1" dirty="0"/>
              <a:t>For organizations &amp; buildings:</a:t>
            </a:r>
            <a:r>
              <a:rPr lang="en-IN" dirty="0"/>
              <a:t> Reduced electricity bills, longer lighting   </a:t>
            </a:r>
          </a:p>
          <a:p>
            <a:r>
              <a:rPr lang="en-IN" dirty="0"/>
              <a:t>   lifespan, and lower maintenance.</a:t>
            </a:r>
            <a:endParaRPr lang="en-US" dirty="0"/>
          </a:p>
          <a:p>
            <a:r>
              <a:rPr lang="en-IN" dirty="0"/>
              <a:t>● </a:t>
            </a:r>
            <a:r>
              <a:rPr lang="en-IN" b="1" dirty="0"/>
              <a:t>For sustainability initiatives:</a:t>
            </a:r>
            <a:r>
              <a:rPr lang="en-IN" dirty="0"/>
              <a:t> Lower carbon footprint through reduced </a:t>
            </a:r>
          </a:p>
          <a:p>
            <a:r>
              <a:rPr lang="en-IN" dirty="0"/>
              <a:t>   energy consumption and extended product life.</a:t>
            </a:r>
            <a:endParaRPr lang="en-US" dirty="0"/>
          </a:p>
          <a:p>
            <a:r>
              <a:rPr lang="en-IN" dirty="0"/>
              <a:t>● </a:t>
            </a:r>
            <a:r>
              <a:rPr lang="en-IN" b="1" dirty="0"/>
              <a:t>For consumers:</a:t>
            </a:r>
            <a:r>
              <a:rPr lang="en-IN" dirty="0"/>
              <a:t> Better light quality, improved safety, and fewer     </a:t>
            </a:r>
          </a:p>
          <a:p>
            <a:r>
              <a:rPr lang="en-IN" dirty="0"/>
              <a:t>    replacements.</a:t>
            </a:r>
            <a:endParaRPr lang="en-US" dirty="0"/>
          </a:p>
        </p:txBody>
      </p:sp>
    </p:spTree>
    <p:extLst>
      <p:ext uri="{BB962C8B-B14F-4D97-AF65-F5344CB8AC3E}">
        <p14:creationId xmlns:p14="http://schemas.microsoft.com/office/powerpoint/2010/main" val="2512637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560000" cy="1887452"/>
            <a:chOff x="0" y="0"/>
            <a:chExt cx="2709333" cy="793641"/>
          </a:xfrm>
        </p:grpSpPr>
        <p:sp>
          <p:nvSpPr>
            <p:cNvPr id="3" name="Freeform 3"/>
            <p:cNvSpPr/>
            <p:nvPr/>
          </p:nvSpPr>
          <p:spPr>
            <a:xfrm>
              <a:off x="0" y="0"/>
              <a:ext cx="2709333" cy="793641"/>
            </a:xfrm>
            <a:custGeom>
              <a:avLst/>
              <a:gdLst/>
              <a:ahLst/>
              <a:cxnLst/>
              <a:rect l="l" t="t" r="r" b="b"/>
              <a:pathLst>
                <a:path w="2709333" h="793641">
                  <a:moveTo>
                    <a:pt x="0" y="0"/>
                  </a:moveTo>
                  <a:lnTo>
                    <a:pt x="2709333" y="0"/>
                  </a:lnTo>
                  <a:lnTo>
                    <a:pt x="2709333" y="793641"/>
                  </a:lnTo>
                  <a:lnTo>
                    <a:pt x="0" y="793641"/>
                  </a:lnTo>
                  <a:close/>
                </a:path>
              </a:pathLst>
            </a:custGeom>
            <a:solidFill>
              <a:srgbClr val="FFD67F"/>
            </a:solidFill>
          </p:spPr>
        </p:sp>
        <p:sp>
          <p:nvSpPr>
            <p:cNvPr id="4" name="TextBox 4"/>
            <p:cNvSpPr txBox="1"/>
            <p:nvPr/>
          </p:nvSpPr>
          <p:spPr>
            <a:xfrm>
              <a:off x="0" y="-28575"/>
              <a:ext cx="2709333" cy="822216"/>
            </a:xfrm>
            <a:prstGeom prst="rect">
              <a:avLst/>
            </a:prstGeom>
          </p:spPr>
          <p:txBody>
            <a:bodyPr lIns="50800" tIns="50800" rIns="50800" bIns="50800" rtlCol="0" anchor="ctr"/>
            <a:lstStyle/>
            <a:p>
              <a:pPr algn="ctr">
                <a:lnSpc>
                  <a:spcPts val="1960"/>
                </a:lnSpc>
                <a:spcBef>
                  <a:spcPct val="0"/>
                </a:spcBef>
              </a:pPr>
              <a:endParaRPr/>
            </a:p>
          </p:txBody>
        </p:sp>
      </p:grpSp>
      <p:sp>
        <p:nvSpPr>
          <p:cNvPr id="31" name="AutoShape 31"/>
          <p:cNvSpPr/>
          <p:nvPr/>
        </p:nvSpPr>
        <p:spPr>
          <a:xfrm>
            <a:off x="682625" y="9933289"/>
            <a:ext cx="6628145" cy="23511"/>
          </a:xfrm>
          <a:prstGeom prst="line">
            <a:avLst/>
          </a:prstGeom>
          <a:ln w="9525" cap="flat">
            <a:solidFill>
              <a:srgbClr val="45A6B0"/>
            </a:solidFill>
            <a:prstDash val="solid"/>
            <a:headEnd type="none" w="sm" len="sm"/>
            <a:tailEnd type="none" w="sm" len="sm"/>
          </a:ln>
        </p:spPr>
      </p:sp>
      <p:grpSp>
        <p:nvGrpSpPr>
          <p:cNvPr id="32" name="Group 32"/>
          <p:cNvGrpSpPr/>
          <p:nvPr/>
        </p:nvGrpSpPr>
        <p:grpSpPr>
          <a:xfrm>
            <a:off x="0" y="10141752"/>
            <a:ext cx="7560000" cy="676005"/>
            <a:chOff x="0" y="0"/>
            <a:chExt cx="2709333" cy="782249"/>
          </a:xfrm>
        </p:grpSpPr>
        <p:sp>
          <p:nvSpPr>
            <p:cNvPr id="33" name="Freeform 33"/>
            <p:cNvSpPr/>
            <p:nvPr/>
          </p:nvSpPr>
          <p:spPr>
            <a:xfrm>
              <a:off x="0" y="0"/>
              <a:ext cx="2709333" cy="782249"/>
            </a:xfrm>
            <a:custGeom>
              <a:avLst/>
              <a:gdLst/>
              <a:ahLst/>
              <a:cxnLst/>
              <a:rect l="l" t="t" r="r" b="b"/>
              <a:pathLst>
                <a:path w="2709333" h="782249">
                  <a:moveTo>
                    <a:pt x="0" y="0"/>
                  </a:moveTo>
                  <a:lnTo>
                    <a:pt x="2709333" y="0"/>
                  </a:lnTo>
                  <a:lnTo>
                    <a:pt x="2709333" y="782249"/>
                  </a:lnTo>
                  <a:lnTo>
                    <a:pt x="0" y="782249"/>
                  </a:lnTo>
                  <a:close/>
                </a:path>
              </a:pathLst>
            </a:custGeom>
            <a:solidFill>
              <a:srgbClr val="FFD67F"/>
            </a:solidFill>
          </p:spPr>
        </p:sp>
        <p:sp>
          <p:nvSpPr>
            <p:cNvPr id="34" name="TextBox 34"/>
            <p:cNvSpPr txBox="1"/>
            <p:nvPr/>
          </p:nvSpPr>
          <p:spPr>
            <a:xfrm>
              <a:off x="0" y="-28575"/>
              <a:ext cx="2709333" cy="810824"/>
            </a:xfrm>
            <a:prstGeom prst="rect">
              <a:avLst/>
            </a:prstGeom>
          </p:spPr>
          <p:txBody>
            <a:bodyPr lIns="50800" tIns="50800" rIns="50800" bIns="50800" rtlCol="0" anchor="ctr"/>
            <a:lstStyle/>
            <a:p>
              <a:pPr algn="ctr">
                <a:lnSpc>
                  <a:spcPts val="1960"/>
                </a:lnSpc>
                <a:spcBef>
                  <a:spcPct val="0"/>
                </a:spcBef>
              </a:pPr>
              <a:endParaRPr/>
            </a:p>
          </p:txBody>
        </p:sp>
      </p:grpSp>
      <p:sp>
        <p:nvSpPr>
          <p:cNvPr id="38" name="Freeform 38"/>
          <p:cNvSpPr/>
          <p:nvPr/>
        </p:nvSpPr>
        <p:spPr>
          <a:xfrm>
            <a:off x="5028792" y="421581"/>
            <a:ext cx="1949909" cy="1257844"/>
          </a:xfrm>
          <a:custGeom>
            <a:avLst/>
            <a:gdLst/>
            <a:ahLst/>
            <a:cxnLst/>
            <a:rect l="l" t="t" r="r" b="b"/>
            <a:pathLst>
              <a:path w="1615844" h="872976">
                <a:moveTo>
                  <a:pt x="0" y="0"/>
                </a:moveTo>
                <a:lnTo>
                  <a:pt x="1615844" y="0"/>
                </a:lnTo>
                <a:lnTo>
                  <a:pt x="1615844" y="872976"/>
                </a:lnTo>
                <a:lnTo>
                  <a:pt x="0" y="872976"/>
                </a:lnTo>
                <a:lnTo>
                  <a:pt x="0" y="0"/>
                </a:lnTo>
                <a:close/>
              </a:path>
            </a:pathLst>
          </a:custGeom>
          <a:blipFill>
            <a:blip r:embed="rId2"/>
            <a:stretch>
              <a:fillRect/>
            </a:stretch>
          </a:blipFill>
        </p:spPr>
      </p:sp>
      <p:sp>
        <p:nvSpPr>
          <p:cNvPr id="39" name="TextBox 39"/>
          <p:cNvSpPr txBox="1"/>
          <p:nvPr/>
        </p:nvSpPr>
        <p:spPr>
          <a:xfrm>
            <a:off x="577799" y="765525"/>
            <a:ext cx="4450993" cy="531910"/>
          </a:xfrm>
          <a:prstGeom prst="rect">
            <a:avLst/>
          </a:prstGeom>
        </p:spPr>
        <p:txBody>
          <a:bodyPr lIns="0" tIns="0" rIns="0" bIns="0" rtlCol="0" anchor="t">
            <a:spAutoFit/>
          </a:bodyPr>
          <a:lstStyle/>
          <a:p>
            <a:pPr algn="l">
              <a:lnSpc>
                <a:spcPts val="4052"/>
              </a:lnSpc>
            </a:pPr>
            <a:r>
              <a:rPr lang="en-US" sz="3554" spc="-17">
                <a:solidFill>
                  <a:srgbClr val="000000"/>
                </a:solidFill>
                <a:latin typeface="Somber"/>
                <a:ea typeface="Somber"/>
                <a:cs typeface="Somber"/>
                <a:sym typeface="Somber"/>
              </a:rPr>
              <a:t>SUPER 40 WINTER INTERNSHIP</a:t>
            </a:r>
          </a:p>
        </p:txBody>
      </p:sp>
      <p:sp>
        <p:nvSpPr>
          <p:cNvPr id="40" name="TextBox 40"/>
          <p:cNvSpPr txBox="1"/>
          <p:nvPr/>
        </p:nvSpPr>
        <p:spPr>
          <a:xfrm>
            <a:off x="577799" y="421581"/>
            <a:ext cx="5379711" cy="203327"/>
          </a:xfrm>
          <a:prstGeom prst="rect">
            <a:avLst/>
          </a:prstGeom>
        </p:spPr>
        <p:txBody>
          <a:bodyPr lIns="0" tIns="0" rIns="0" bIns="0" rtlCol="0" anchor="t">
            <a:spAutoFit/>
          </a:bodyPr>
          <a:lstStyle/>
          <a:p>
            <a:pPr algn="l">
              <a:lnSpc>
                <a:spcPts val="1533"/>
              </a:lnSpc>
            </a:pPr>
            <a:r>
              <a:rPr lang="en-US" sz="1299" spc="201">
                <a:solidFill>
                  <a:srgbClr val="000000"/>
                </a:solidFill>
                <a:latin typeface="Questrial"/>
                <a:ea typeface="Questrial"/>
                <a:cs typeface="Questrial"/>
                <a:sym typeface="Questrial"/>
              </a:rPr>
              <a:t>IEM RESEARCH FOUNDATION</a:t>
            </a:r>
          </a:p>
        </p:txBody>
      </p:sp>
      <p:sp>
        <p:nvSpPr>
          <p:cNvPr id="52" name="TextBox 52"/>
          <p:cNvSpPr txBox="1"/>
          <p:nvPr/>
        </p:nvSpPr>
        <p:spPr>
          <a:xfrm>
            <a:off x="577799" y="1345445"/>
            <a:ext cx="4450993" cy="361604"/>
          </a:xfrm>
          <a:prstGeom prst="rect">
            <a:avLst/>
          </a:prstGeom>
        </p:spPr>
        <p:txBody>
          <a:bodyPr lIns="0" tIns="0" rIns="0" bIns="0" rtlCol="0" anchor="t">
            <a:spAutoFit/>
          </a:bodyPr>
          <a:lstStyle/>
          <a:p>
            <a:pPr>
              <a:lnSpc>
                <a:spcPts val="2798"/>
              </a:lnSpc>
            </a:pPr>
            <a:r>
              <a:rPr lang="en-US" sz="2454" spc="-12" dirty="0">
                <a:solidFill>
                  <a:srgbClr val="000000"/>
                </a:solidFill>
                <a:latin typeface="Somber"/>
                <a:ea typeface="Somber"/>
                <a:cs typeface="Somber"/>
                <a:sym typeface="Somber"/>
              </a:rPr>
              <a:t>Project - Northern Light s</a:t>
            </a:r>
          </a:p>
        </p:txBody>
      </p:sp>
      <p:sp>
        <p:nvSpPr>
          <p:cNvPr id="54" name="TextBox 53">
            <a:extLst>
              <a:ext uri="{FF2B5EF4-FFF2-40B4-BE49-F238E27FC236}">
                <a16:creationId xmlns:a16="http://schemas.microsoft.com/office/drawing/2014/main" id="{37275F88-3984-8FF1-73AC-60ED5A42E73F}"/>
              </a:ext>
            </a:extLst>
          </p:cNvPr>
          <p:cNvSpPr txBox="1"/>
          <p:nvPr/>
        </p:nvSpPr>
        <p:spPr>
          <a:xfrm>
            <a:off x="524215" y="10265811"/>
            <a:ext cx="6312768" cy="430887"/>
          </a:xfrm>
          <a:prstGeom prst="rect">
            <a:avLst/>
          </a:prstGeom>
          <a:noFill/>
        </p:spPr>
        <p:txBody>
          <a:bodyPr wrap="square">
            <a:spAutoFit/>
          </a:bodyPr>
          <a:lstStyle/>
          <a:p>
            <a:pPr algn="ctr"/>
            <a:r>
              <a:rPr lang="en-US" sz="1100" b="1" spc="56" dirty="0">
                <a:solidFill>
                  <a:srgbClr val="000000"/>
                </a:solidFill>
                <a:latin typeface="Questrial"/>
              </a:rPr>
              <a:t>Godrej Genesis Building, 15th Floor, Unit No. 1502, Sector V, Block EP &amp; GP, Salt Lake City, Kolkata – 700091, West Bengal, India.</a:t>
            </a:r>
            <a:endParaRPr lang="en-IN" sz="1100" b="1" spc="56" dirty="0">
              <a:solidFill>
                <a:srgbClr val="000000"/>
              </a:solidFill>
              <a:latin typeface="Questrial"/>
            </a:endParaRPr>
          </a:p>
        </p:txBody>
      </p:sp>
      <p:sp>
        <p:nvSpPr>
          <p:cNvPr id="42" name="Rectangle 41">
            <a:extLst>
              <a:ext uri="{FF2B5EF4-FFF2-40B4-BE49-F238E27FC236}">
                <a16:creationId xmlns:a16="http://schemas.microsoft.com/office/drawing/2014/main" id="{BD50668A-BDFF-4B97-9804-C9755E223507}"/>
              </a:ext>
            </a:extLst>
          </p:cNvPr>
          <p:cNvSpPr/>
          <p:nvPr/>
        </p:nvSpPr>
        <p:spPr>
          <a:xfrm>
            <a:off x="196850" y="2521629"/>
            <a:ext cx="7113920" cy="3477875"/>
          </a:xfrm>
          <a:prstGeom prst="rect">
            <a:avLst/>
          </a:prstGeom>
        </p:spPr>
        <p:txBody>
          <a:bodyPr wrap="square">
            <a:spAutoFit/>
          </a:bodyPr>
          <a:lstStyle/>
          <a:p>
            <a:r>
              <a:rPr lang="en-IN" sz="4000" b="1" dirty="0">
                <a:latin typeface="Arial Black" panose="020B0A04020102020204" pitchFamily="34" charset="0"/>
              </a:rPr>
              <a:t>4. Proposed Solution</a:t>
            </a:r>
            <a:endParaRPr lang="en-US" sz="4000" b="1" dirty="0">
              <a:latin typeface="Arial Black" panose="020B0A04020102020204" pitchFamily="34" charset="0"/>
            </a:endParaRPr>
          </a:p>
          <a:p>
            <a:r>
              <a:rPr lang="en-IN" dirty="0"/>
              <a:t> Develop and evaluate an optimized constant-current LED driver    </a:t>
            </a:r>
          </a:p>
          <a:p>
            <a:r>
              <a:rPr lang="en-IN" dirty="0"/>
              <a:t> architecture featuring:</a:t>
            </a:r>
            <a:endParaRPr lang="en-US" dirty="0"/>
          </a:p>
          <a:p>
            <a:r>
              <a:rPr lang="en-IN" dirty="0"/>
              <a:t> ● High power factor (&gt;0.95) through active PFC circuitry.</a:t>
            </a:r>
            <a:endParaRPr lang="en-US" dirty="0"/>
          </a:p>
          <a:p>
            <a:r>
              <a:rPr lang="en-IN" dirty="0"/>
              <a:t> ● Low thermal resistance and improved heat sink design. </a:t>
            </a:r>
            <a:endParaRPr lang="en-US" dirty="0"/>
          </a:p>
          <a:p>
            <a:r>
              <a:rPr lang="en-IN" dirty="0"/>
              <a:t> ● Over voltage, over current, and thermal protection. </a:t>
            </a:r>
            <a:endParaRPr lang="en-US" dirty="0"/>
          </a:p>
          <a:p>
            <a:r>
              <a:rPr lang="en-IN" dirty="0"/>
              <a:t> ● Stable lumen output with reduced flicker. </a:t>
            </a:r>
            <a:endParaRPr lang="en-US" dirty="0"/>
          </a:p>
          <a:p>
            <a:r>
              <a:rPr lang="en-IN" dirty="0"/>
              <a:t> ● Optional integration with sensors or smart control systems for adaptive  </a:t>
            </a:r>
          </a:p>
          <a:p>
            <a:r>
              <a:rPr lang="en-IN" dirty="0"/>
              <a:t>    lighting .The solution will be validated through laboratory testing,  </a:t>
            </a:r>
          </a:p>
          <a:p>
            <a:r>
              <a:rPr lang="en-IN" dirty="0"/>
              <a:t>     simulation, and real world operational environments.</a:t>
            </a:r>
            <a:endParaRPr lang="en-US" dirty="0"/>
          </a:p>
          <a:p>
            <a:r>
              <a:rPr lang="en-IN" dirty="0"/>
              <a:t> ● Developing and marketing strategies.</a:t>
            </a:r>
            <a:endParaRPr lang="en-US" dirty="0"/>
          </a:p>
        </p:txBody>
      </p:sp>
    </p:spTree>
    <p:extLst>
      <p:ext uri="{BB962C8B-B14F-4D97-AF65-F5344CB8AC3E}">
        <p14:creationId xmlns:p14="http://schemas.microsoft.com/office/powerpoint/2010/main" val="564613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560000" cy="1887452"/>
            <a:chOff x="0" y="0"/>
            <a:chExt cx="2709333" cy="793641"/>
          </a:xfrm>
        </p:grpSpPr>
        <p:sp>
          <p:nvSpPr>
            <p:cNvPr id="3" name="Freeform 3"/>
            <p:cNvSpPr/>
            <p:nvPr/>
          </p:nvSpPr>
          <p:spPr>
            <a:xfrm>
              <a:off x="0" y="0"/>
              <a:ext cx="2709333" cy="793641"/>
            </a:xfrm>
            <a:custGeom>
              <a:avLst/>
              <a:gdLst/>
              <a:ahLst/>
              <a:cxnLst/>
              <a:rect l="l" t="t" r="r" b="b"/>
              <a:pathLst>
                <a:path w="2709333" h="793641">
                  <a:moveTo>
                    <a:pt x="0" y="0"/>
                  </a:moveTo>
                  <a:lnTo>
                    <a:pt x="2709333" y="0"/>
                  </a:lnTo>
                  <a:lnTo>
                    <a:pt x="2709333" y="793641"/>
                  </a:lnTo>
                  <a:lnTo>
                    <a:pt x="0" y="793641"/>
                  </a:lnTo>
                  <a:close/>
                </a:path>
              </a:pathLst>
            </a:custGeom>
            <a:solidFill>
              <a:srgbClr val="FFD67F"/>
            </a:solidFill>
          </p:spPr>
        </p:sp>
        <p:sp>
          <p:nvSpPr>
            <p:cNvPr id="4" name="TextBox 4"/>
            <p:cNvSpPr txBox="1"/>
            <p:nvPr/>
          </p:nvSpPr>
          <p:spPr>
            <a:xfrm>
              <a:off x="0" y="-28575"/>
              <a:ext cx="2709333" cy="822216"/>
            </a:xfrm>
            <a:prstGeom prst="rect">
              <a:avLst/>
            </a:prstGeom>
          </p:spPr>
          <p:txBody>
            <a:bodyPr lIns="50800" tIns="50800" rIns="50800" bIns="50800" rtlCol="0" anchor="ctr"/>
            <a:lstStyle/>
            <a:p>
              <a:pPr algn="ctr">
                <a:lnSpc>
                  <a:spcPts val="1960"/>
                </a:lnSpc>
                <a:spcBef>
                  <a:spcPct val="0"/>
                </a:spcBef>
              </a:pPr>
              <a:endParaRPr/>
            </a:p>
          </p:txBody>
        </p:sp>
      </p:grpSp>
      <p:sp>
        <p:nvSpPr>
          <p:cNvPr id="31" name="AutoShape 31"/>
          <p:cNvSpPr/>
          <p:nvPr/>
        </p:nvSpPr>
        <p:spPr>
          <a:xfrm>
            <a:off x="682625" y="9933289"/>
            <a:ext cx="6628145" cy="23511"/>
          </a:xfrm>
          <a:prstGeom prst="line">
            <a:avLst/>
          </a:prstGeom>
          <a:ln w="9525" cap="flat">
            <a:solidFill>
              <a:srgbClr val="45A6B0"/>
            </a:solidFill>
            <a:prstDash val="solid"/>
            <a:headEnd type="none" w="sm" len="sm"/>
            <a:tailEnd type="none" w="sm" len="sm"/>
          </a:ln>
        </p:spPr>
      </p:sp>
      <p:grpSp>
        <p:nvGrpSpPr>
          <p:cNvPr id="32" name="Group 32"/>
          <p:cNvGrpSpPr/>
          <p:nvPr/>
        </p:nvGrpSpPr>
        <p:grpSpPr>
          <a:xfrm>
            <a:off x="0" y="10141752"/>
            <a:ext cx="7560000" cy="676005"/>
            <a:chOff x="0" y="0"/>
            <a:chExt cx="2709333" cy="782249"/>
          </a:xfrm>
        </p:grpSpPr>
        <p:sp>
          <p:nvSpPr>
            <p:cNvPr id="33" name="Freeform 33"/>
            <p:cNvSpPr/>
            <p:nvPr/>
          </p:nvSpPr>
          <p:spPr>
            <a:xfrm>
              <a:off x="0" y="0"/>
              <a:ext cx="2709333" cy="782249"/>
            </a:xfrm>
            <a:custGeom>
              <a:avLst/>
              <a:gdLst/>
              <a:ahLst/>
              <a:cxnLst/>
              <a:rect l="l" t="t" r="r" b="b"/>
              <a:pathLst>
                <a:path w="2709333" h="782249">
                  <a:moveTo>
                    <a:pt x="0" y="0"/>
                  </a:moveTo>
                  <a:lnTo>
                    <a:pt x="2709333" y="0"/>
                  </a:lnTo>
                  <a:lnTo>
                    <a:pt x="2709333" y="782249"/>
                  </a:lnTo>
                  <a:lnTo>
                    <a:pt x="0" y="782249"/>
                  </a:lnTo>
                  <a:close/>
                </a:path>
              </a:pathLst>
            </a:custGeom>
            <a:solidFill>
              <a:srgbClr val="FFD67F"/>
            </a:solidFill>
          </p:spPr>
        </p:sp>
        <p:sp>
          <p:nvSpPr>
            <p:cNvPr id="34" name="TextBox 34"/>
            <p:cNvSpPr txBox="1"/>
            <p:nvPr/>
          </p:nvSpPr>
          <p:spPr>
            <a:xfrm>
              <a:off x="0" y="-28575"/>
              <a:ext cx="2709333" cy="810824"/>
            </a:xfrm>
            <a:prstGeom prst="rect">
              <a:avLst/>
            </a:prstGeom>
          </p:spPr>
          <p:txBody>
            <a:bodyPr lIns="50800" tIns="50800" rIns="50800" bIns="50800" rtlCol="0" anchor="ctr"/>
            <a:lstStyle/>
            <a:p>
              <a:pPr algn="ctr">
                <a:lnSpc>
                  <a:spcPts val="1960"/>
                </a:lnSpc>
                <a:spcBef>
                  <a:spcPct val="0"/>
                </a:spcBef>
              </a:pPr>
              <a:endParaRPr/>
            </a:p>
          </p:txBody>
        </p:sp>
      </p:grpSp>
      <p:sp>
        <p:nvSpPr>
          <p:cNvPr id="38" name="Freeform 38"/>
          <p:cNvSpPr/>
          <p:nvPr/>
        </p:nvSpPr>
        <p:spPr>
          <a:xfrm>
            <a:off x="5028792" y="421581"/>
            <a:ext cx="1949909" cy="1257844"/>
          </a:xfrm>
          <a:custGeom>
            <a:avLst/>
            <a:gdLst/>
            <a:ahLst/>
            <a:cxnLst/>
            <a:rect l="l" t="t" r="r" b="b"/>
            <a:pathLst>
              <a:path w="1615844" h="872976">
                <a:moveTo>
                  <a:pt x="0" y="0"/>
                </a:moveTo>
                <a:lnTo>
                  <a:pt x="1615844" y="0"/>
                </a:lnTo>
                <a:lnTo>
                  <a:pt x="1615844" y="872976"/>
                </a:lnTo>
                <a:lnTo>
                  <a:pt x="0" y="872976"/>
                </a:lnTo>
                <a:lnTo>
                  <a:pt x="0" y="0"/>
                </a:lnTo>
                <a:close/>
              </a:path>
            </a:pathLst>
          </a:custGeom>
          <a:blipFill>
            <a:blip r:embed="rId2"/>
            <a:stretch>
              <a:fillRect/>
            </a:stretch>
          </a:blipFill>
        </p:spPr>
      </p:sp>
      <p:sp>
        <p:nvSpPr>
          <p:cNvPr id="39" name="TextBox 39"/>
          <p:cNvSpPr txBox="1"/>
          <p:nvPr/>
        </p:nvSpPr>
        <p:spPr>
          <a:xfrm>
            <a:off x="577799" y="765525"/>
            <a:ext cx="4450993" cy="531910"/>
          </a:xfrm>
          <a:prstGeom prst="rect">
            <a:avLst/>
          </a:prstGeom>
        </p:spPr>
        <p:txBody>
          <a:bodyPr lIns="0" tIns="0" rIns="0" bIns="0" rtlCol="0" anchor="t">
            <a:spAutoFit/>
          </a:bodyPr>
          <a:lstStyle/>
          <a:p>
            <a:pPr algn="l">
              <a:lnSpc>
                <a:spcPts val="4052"/>
              </a:lnSpc>
            </a:pPr>
            <a:r>
              <a:rPr lang="en-US" sz="3554" spc="-17">
                <a:solidFill>
                  <a:srgbClr val="000000"/>
                </a:solidFill>
                <a:latin typeface="Somber"/>
                <a:ea typeface="Somber"/>
                <a:cs typeface="Somber"/>
                <a:sym typeface="Somber"/>
              </a:rPr>
              <a:t>SUPER 40 WINTER INTERNSHIP</a:t>
            </a:r>
          </a:p>
        </p:txBody>
      </p:sp>
      <p:sp>
        <p:nvSpPr>
          <p:cNvPr id="40" name="TextBox 40"/>
          <p:cNvSpPr txBox="1"/>
          <p:nvPr/>
        </p:nvSpPr>
        <p:spPr>
          <a:xfrm>
            <a:off x="577799" y="421581"/>
            <a:ext cx="5379711" cy="203327"/>
          </a:xfrm>
          <a:prstGeom prst="rect">
            <a:avLst/>
          </a:prstGeom>
        </p:spPr>
        <p:txBody>
          <a:bodyPr lIns="0" tIns="0" rIns="0" bIns="0" rtlCol="0" anchor="t">
            <a:spAutoFit/>
          </a:bodyPr>
          <a:lstStyle/>
          <a:p>
            <a:pPr algn="l">
              <a:lnSpc>
                <a:spcPts val="1533"/>
              </a:lnSpc>
            </a:pPr>
            <a:r>
              <a:rPr lang="en-US" sz="1299" spc="201">
                <a:solidFill>
                  <a:srgbClr val="000000"/>
                </a:solidFill>
                <a:latin typeface="Questrial"/>
                <a:ea typeface="Questrial"/>
                <a:cs typeface="Questrial"/>
                <a:sym typeface="Questrial"/>
              </a:rPr>
              <a:t>IEM RESEARCH FOUNDATION</a:t>
            </a:r>
          </a:p>
        </p:txBody>
      </p:sp>
      <p:sp>
        <p:nvSpPr>
          <p:cNvPr id="52" name="TextBox 52"/>
          <p:cNvSpPr txBox="1"/>
          <p:nvPr/>
        </p:nvSpPr>
        <p:spPr>
          <a:xfrm>
            <a:off x="577799" y="1345445"/>
            <a:ext cx="4450993" cy="361604"/>
          </a:xfrm>
          <a:prstGeom prst="rect">
            <a:avLst/>
          </a:prstGeom>
        </p:spPr>
        <p:txBody>
          <a:bodyPr lIns="0" tIns="0" rIns="0" bIns="0" rtlCol="0" anchor="t">
            <a:spAutoFit/>
          </a:bodyPr>
          <a:lstStyle/>
          <a:p>
            <a:pPr>
              <a:lnSpc>
                <a:spcPts val="2798"/>
              </a:lnSpc>
            </a:pPr>
            <a:r>
              <a:rPr lang="en-US" sz="2454" spc="-12" dirty="0">
                <a:solidFill>
                  <a:srgbClr val="000000"/>
                </a:solidFill>
                <a:latin typeface="Somber"/>
                <a:ea typeface="Somber"/>
                <a:cs typeface="Somber"/>
                <a:sym typeface="Somber"/>
              </a:rPr>
              <a:t>Project - Northern Lights </a:t>
            </a:r>
          </a:p>
        </p:txBody>
      </p:sp>
      <p:sp>
        <p:nvSpPr>
          <p:cNvPr id="54" name="TextBox 53">
            <a:extLst>
              <a:ext uri="{FF2B5EF4-FFF2-40B4-BE49-F238E27FC236}">
                <a16:creationId xmlns:a16="http://schemas.microsoft.com/office/drawing/2014/main" id="{37275F88-3984-8FF1-73AC-60ED5A42E73F}"/>
              </a:ext>
            </a:extLst>
          </p:cNvPr>
          <p:cNvSpPr txBox="1"/>
          <p:nvPr/>
        </p:nvSpPr>
        <p:spPr>
          <a:xfrm>
            <a:off x="524215" y="10265811"/>
            <a:ext cx="6312768" cy="430887"/>
          </a:xfrm>
          <a:prstGeom prst="rect">
            <a:avLst/>
          </a:prstGeom>
          <a:noFill/>
        </p:spPr>
        <p:txBody>
          <a:bodyPr wrap="square">
            <a:spAutoFit/>
          </a:bodyPr>
          <a:lstStyle/>
          <a:p>
            <a:pPr algn="ctr"/>
            <a:r>
              <a:rPr lang="en-US" sz="1100" b="1" spc="56" dirty="0">
                <a:solidFill>
                  <a:srgbClr val="000000"/>
                </a:solidFill>
                <a:latin typeface="Questrial"/>
              </a:rPr>
              <a:t>Godrej Genesis Building, 15th Floor, Unit No. 1502, Sector V, Block EP &amp; GP, Salt Lake City, Kolkata – 700091, West Bengal, India.</a:t>
            </a:r>
            <a:endParaRPr lang="en-IN" sz="1100" b="1" spc="56" dirty="0">
              <a:solidFill>
                <a:srgbClr val="000000"/>
              </a:solidFill>
              <a:latin typeface="Questrial"/>
            </a:endParaRPr>
          </a:p>
        </p:txBody>
      </p:sp>
      <p:sp>
        <p:nvSpPr>
          <p:cNvPr id="42" name="Rectangle 41">
            <a:extLst>
              <a:ext uri="{FF2B5EF4-FFF2-40B4-BE49-F238E27FC236}">
                <a16:creationId xmlns:a16="http://schemas.microsoft.com/office/drawing/2014/main" id="{BD50668A-BDFF-4B97-9804-C9755E223507}"/>
              </a:ext>
            </a:extLst>
          </p:cNvPr>
          <p:cNvSpPr/>
          <p:nvPr/>
        </p:nvSpPr>
        <p:spPr>
          <a:xfrm>
            <a:off x="196850" y="2521629"/>
            <a:ext cx="7113920" cy="3200876"/>
          </a:xfrm>
          <a:prstGeom prst="rect">
            <a:avLst/>
          </a:prstGeom>
        </p:spPr>
        <p:txBody>
          <a:bodyPr wrap="square">
            <a:spAutoFit/>
          </a:bodyPr>
          <a:lstStyle/>
          <a:p>
            <a:r>
              <a:rPr lang="en-IN" sz="4000" b="1" dirty="0">
                <a:latin typeface="Arial Black" panose="020B0A04020102020204" pitchFamily="34" charset="0"/>
              </a:rPr>
              <a:t>5. Potential Impact</a:t>
            </a:r>
            <a:endParaRPr lang="en-US" sz="4000" dirty="0">
              <a:latin typeface="Arial Black" panose="020B0A04020102020204" pitchFamily="34" charset="0"/>
            </a:endParaRPr>
          </a:p>
          <a:p>
            <a:r>
              <a:rPr lang="en-IN" dirty="0"/>
              <a:t>● Up to </a:t>
            </a:r>
            <a:r>
              <a:rPr lang="en-IN" b="1" dirty="0"/>
              <a:t>15–25% energy savings</a:t>
            </a:r>
            <a:r>
              <a:rPr lang="en-IN" dirty="0"/>
              <a:t> compared to conventional CV-driven LED  </a:t>
            </a:r>
          </a:p>
          <a:p>
            <a:r>
              <a:rPr lang="en-IN" dirty="0"/>
              <a:t>   tubes. </a:t>
            </a:r>
            <a:endParaRPr lang="en-US" dirty="0"/>
          </a:p>
          <a:p>
            <a:r>
              <a:rPr lang="en-IN" dirty="0"/>
              <a:t>● </a:t>
            </a:r>
            <a:r>
              <a:rPr lang="en-IN" b="1" dirty="0"/>
              <a:t>Longer lifespan</a:t>
            </a:r>
            <a:r>
              <a:rPr lang="en-IN" dirty="0"/>
              <a:t>, reducing e-waste and replacement costs.</a:t>
            </a:r>
            <a:endParaRPr lang="en-US" dirty="0"/>
          </a:p>
          <a:p>
            <a:r>
              <a:rPr lang="en-IN" dirty="0"/>
              <a:t>● Enhanced lighting comfort for workplaces, hospitals, schools, and    </a:t>
            </a:r>
          </a:p>
          <a:p>
            <a:r>
              <a:rPr lang="en-IN" dirty="0"/>
              <a:t>    homes. </a:t>
            </a:r>
            <a:endParaRPr lang="en-US" dirty="0"/>
          </a:p>
          <a:p>
            <a:r>
              <a:rPr lang="en-IN" dirty="0"/>
              <a:t>● Adoption of sustainable lighting infrastructure aligned with green    </a:t>
            </a:r>
          </a:p>
          <a:p>
            <a:r>
              <a:rPr lang="en-IN" dirty="0"/>
              <a:t>    building standards.</a:t>
            </a:r>
            <a:endParaRPr lang="en-US" dirty="0"/>
          </a:p>
          <a:p>
            <a:r>
              <a:rPr lang="en-IN" dirty="0"/>
              <a:t>● Opportunity for innovation in smart, sensor-based, and IoT-enabled LED    </a:t>
            </a:r>
          </a:p>
          <a:p>
            <a:r>
              <a:rPr lang="en-IN" dirty="0"/>
              <a:t>    lighting markets.</a:t>
            </a:r>
            <a:endParaRPr lang="en-US" dirty="0"/>
          </a:p>
        </p:txBody>
      </p:sp>
    </p:spTree>
    <p:extLst>
      <p:ext uri="{BB962C8B-B14F-4D97-AF65-F5344CB8AC3E}">
        <p14:creationId xmlns:p14="http://schemas.microsoft.com/office/powerpoint/2010/main" val="2259119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560000" cy="1887452"/>
            <a:chOff x="0" y="0"/>
            <a:chExt cx="2709333" cy="793641"/>
          </a:xfrm>
        </p:grpSpPr>
        <p:sp>
          <p:nvSpPr>
            <p:cNvPr id="3" name="Freeform 3"/>
            <p:cNvSpPr/>
            <p:nvPr/>
          </p:nvSpPr>
          <p:spPr>
            <a:xfrm>
              <a:off x="0" y="0"/>
              <a:ext cx="2709333" cy="793641"/>
            </a:xfrm>
            <a:custGeom>
              <a:avLst/>
              <a:gdLst/>
              <a:ahLst/>
              <a:cxnLst/>
              <a:rect l="l" t="t" r="r" b="b"/>
              <a:pathLst>
                <a:path w="2709333" h="793641">
                  <a:moveTo>
                    <a:pt x="0" y="0"/>
                  </a:moveTo>
                  <a:lnTo>
                    <a:pt x="2709333" y="0"/>
                  </a:lnTo>
                  <a:lnTo>
                    <a:pt x="2709333" y="793641"/>
                  </a:lnTo>
                  <a:lnTo>
                    <a:pt x="0" y="793641"/>
                  </a:lnTo>
                  <a:close/>
                </a:path>
              </a:pathLst>
            </a:custGeom>
            <a:solidFill>
              <a:srgbClr val="FFD67F"/>
            </a:solidFill>
          </p:spPr>
        </p:sp>
        <p:sp>
          <p:nvSpPr>
            <p:cNvPr id="4" name="TextBox 4"/>
            <p:cNvSpPr txBox="1"/>
            <p:nvPr/>
          </p:nvSpPr>
          <p:spPr>
            <a:xfrm>
              <a:off x="0" y="-28575"/>
              <a:ext cx="2709333" cy="822216"/>
            </a:xfrm>
            <a:prstGeom prst="rect">
              <a:avLst/>
            </a:prstGeom>
          </p:spPr>
          <p:txBody>
            <a:bodyPr lIns="50800" tIns="50800" rIns="50800" bIns="50800" rtlCol="0" anchor="ctr"/>
            <a:lstStyle/>
            <a:p>
              <a:pPr algn="ctr">
                <a:lnSpc>
                  <a:spcPts val="1960"/>
                </a:lnSpc>
                <a:spcBef>
                  <a:spcPct val="0"/>
                </a:spcBef>
              </a:pPr>
              <a:endParaRPr/>
            </a:p>
          </p:txBody>
        </p:sp>
      </p:grpSp>
      <p:sp>
        <p:nvSpPr>
          <p:cNvPr id="31" name="AutoShape 31"/>
          <p:cNvSpPr/>
          <p:nvPr/>
        </p:nvSpPr>
        <p:spPr>
          <a:xfrm>
            <a:off x="682625" y="9933289"/>
            <a:ext cx="6628145" cy="23511"/>
          </a:xfrm>
          <a:prstGeom prst="line">
            <a:avLst/>
          </a:prstGeom>
          <a:ln w="9525" cap="flat">
            <a:solidFill>
              <a:srgbClr val="45A6B0"/>
            </a:solidFill>
            <a:prstDash val="solid"/>
            <a:headEnd type="none" w="sm" len="sm"/>
            <a:tailEnd type="none" w="sm" len="sm"/>
          </a:ln>
        </p:spPr>
      </p:sp>
      <p:grpSp>
        <p:nvGrpSpPr>
          <p:cNvPr id="32" name="Group 32"/>
          <p:cNvGrpSpPr/>
          <p:nvPr/>
        </p:nvGrpSpPr>
        <p:grpSpPr>
          <a:xfrm>
            <a:off x="0" y="10141752"/>
            <a:ext cx="7560000" cy="676005"/>
            <a:chOff x="0" y="0"/>
            <a:chExt cx="2709333" cy="782249"/>
          </a:xfrm>
        </p:grpSpPr>
        <p:sp>
          <p:nvSpPr>
            <p:cNvPr id="33" name="Freeform 33"/>
            <p:cNvSpPr/>
            <p:nvPr/>
          </p:nvSpPr>
          <p:spPr>
            <a:xfrm>
              <a:off x="0" y="0"/>
              <a:ext cx="2709333" cy="782249"/>
            </a:xfrm>
            <a:custGeom>
              <a:avLst/>
              <a:gdLst/>
              <a:ahLst/>
              <a:cxnLst/>
              <a:rect l="l" t="t" r="r" b="b"/>
              <a:pathLst>
                <a:path w="2709333" h="782249">
                  <a:moveTo>
                    <a:pt x="0" y="0"/>
                  </a:moveTo>
                  <a:lnTo>
                    <a:pt x="2709333" y="0"/>
                  </a:lnTo>
                  <a:lnTo>
                    <a:pt x="2709333" y="782249"/>
                  </a:lnTo>
                  <a:lnTo>
                    <a:pt x="0" y="782249"/>
                  </a:lnTo>
                  <a:close/>
                </a:path>
              </a:pathLst>
            </a:custGeom>
            <a:solidFill>
              <a:srgbClr val="FFD67F"/>
            </a:solidFill>
          </p:spPr>
        </p:sp>
        <p:sp>
          <p:nvSpPr>
            <p:cNvPr id="34" name="TextBox 34"/>
            <p:cNvSpPr txBox="1"/>
            <p:nvPr/>
          </p:nvSpPr>
          <p:spPr>
            <a:xfrm>
              <a:off x="0" y="-28575"/>
              <a:ext cx="2709333" cy="810824"/>
            </a:xfrm>
            <a:prstGeom prst="rect">
              <a:avLst/>
            </a:prstGeom>
          </p:spPr>
          <p:txBody>
            <a:bodyPr lIns="50800" tIns="50800" rIns="50800" bIns="50800" rtlCol="0" anchor="ctr"/>
            <a:lstStyle/>
            <a:p>
              <a:pPr algn="ctr">
                <a:lnSpc>
                  <a:spcPts val="1960"/>
                </a:lnSpc>
                <a:spcBef>
                  <a:spcPct val="0"/>
                </a:spcBef>
              </a:pPr>
              <a:endParaRPr/>
            </a:p>
          </p:txBody>
        </p:sp>
      </p:grpSp>
      <p:sp>
        <p:nvSpPr>
          <p:cNvPr id="38" name="Freeform 38"/>
          <p:cNvSpPr/>
          <p:nvPr/>
        </p:nvSpPr>
        <p:spPr>
          <a:xfrm>
            <a:off x="5028792" y="421581"/>
            <a:ext cx="1949909" cy="1257844"/>
          </a:xfrm>
          <a:custGeom>
            <a:avLst/>
            <a:gdLst/>
            <a:ahLst/>
            <a:cxnLst/>
            <a:rect l="l" t="t" r="r" b="b"/>
            <a:pathLst>
              <a:path w="1615844" h="872976">
                <a:moveTo>
                  <a:pt x="0" y="0"/>
                </a:moveTo>
                <a:lnTo>
                  <a:pt x="1615844" y="0"/>
                </a:lnTo>
                <a:lnTo>
                  <a:pt x="1615844" y="872976"/>
                </a:lnTo>
                <a:lnTo>
                  <a:pt x="0" y="872976"/>
                </a:lnTo>
                <a:lnTo>
                  <a:pt x="0" y="0"/>
                </a:lnTo>
                <a:close/>
              </a:path>
            </a:pathLst>
          </a:custGeom>
          <a:blipFill>
            <a:blip r:embed="rId2"/>
            <a:stretch>
              <a:fillRect/>
            </a:stretch>
          </a:blipFill>
        </p:spPr>
      </p:sp>
      <p:sp>
        <p:nvSpPr>
          <p:cNvPr id="39" name="TextBox 39"/>
          <p:cNvSpPr txBox="1"/>
          <p:nvPr/>
        </p:nvSpPr>
        <p:spPr>
          <a:xfrm>
            <a:off x="577799" y="765525"/>
            <a:ext cx="4450993" cy="531910"/>
          </a:xfrm>
          <a:prstGeom prst="rect">
            <a:avLst/>
          </a:prstGeom>
        </p:spPr>
        <p:txBody>
          <a:bodyPr lIns="0" tIns="0" rIns="0" bIns="0" rtlCol="0" anchor="t">
            <a:spAutoFit/>
          </a:bodyPr>
          <a:lstStyle/>
          <a:p>
            <a:pPr algn="l">
              <a:lnSpc>
                <a:spcPts val="4052"/>
              </a:lnSpc>
            </a:pPr>
            <a:r>
              <a:rPr lang="en-US" sz="3554" spc="-17">
                <a:solidFill>
                  <a:srgbClr val="000000"/>
                </a:solidFill>
                <a:latin typeface="Somber"/>
                <a:ea typeface="Somber"/>
                <a:cs typeface="Somber"/>
                <a:sym typeface="Somber"/>
              </a:rPr>
              <a:t>SUPER 40 WINTER INTERNSHIP</a:t>
            </a:r>
          </a:p>
        </p:txBody>
      </p:sp>
      <p:sp>
        <p:nvSpPr>
          <p:cNvPr id="40" name="TextBox 40"/>
          <p:cNvSpPr txBox="1"/>
          <p:nvPr/>
        </p:nvSpPr>
        <p:spPr>
          <a:xfrm>
            <a:off x="577799" y="421581"/>
            <a:ext cx="5379711" cy="203327"/>
          </a:xfrm>
          <a:prstGeom prst="rect">
            <a:avLst/>
          </a:prstGeom>
        </p:spPr>
        <p:txBody>
          <a:bodyPr lIns="0" tIns="0" rIns="0" bIns="0" rtlCol="0" anchor="t">
            <a:spAutoFit/>
          </a:bodyPr>
          <a:lstStyle/>
          <a:p>
            <a:pPr algn="l">
              <a:lnSpc>
                <a:spcPts val="1533"/>
              </a:lnSpc>
            </a:pPr>
            <a:r>
              <a:rPr lang="en-US" sz="1299" spc="201">
                <a:solidFill>
                  <a:srgbClr val="000000"/>
                </a:solidFill>
                <a:latin typeface="Questrial"/>
                <a:ea typeface="Questrial"/>
                <a:cs typeface="Questrial"/>
                <a:sym typeface="Questrial"/>
              </a:rPr>
              <a:t>IEM RESEARCH FOUNDATION</a:t>
            </a:r>
          </a:p>
        </p:txBody>
      </p:sp>
      <p:sp>
        <p:nvSpPr>
          <p:cNvPr id="52" name="TextBox 52"/>
          <p:cNvSpPr txBox="1"/>
          <p:nvPr/>
        </p:nvSpPr>
        <p:spPr>
          <a:xfrm>
            <a:off x="577799" y="1345445"/>
            <a:ext cx="4450993" cy="361604"/>
          </a:xfrm>
          <a:prstGeom prst="rect">
            <a:avLst/>
          </a:prstGeom>
        </p:spPr>
        <p:txBody>
          <a:bodyPr lIns="0" tIns="0" rIns="0" bIns="0" rtlCol="0" anchor="t">
            <a:spAutoFit/>
          </a:bodyPr>
          <a:lstStyle/>
          <a:p>
            <a:pPr>
              <a:lnSpc>
                <a:spcPts val="2798"/>
              </a:lnSpc>
            </a:pPr>
            <a:r>
              <a:rPr lang="en-US" sz="2454" spc="-12" dirty="0">
                <a:solidFill>
                  <a:srgbClr val="000000"/>
                </a:solidFill>
                <a:latin typeface="Somber"/>
                <a:ea typeface="Somber"/>
                <a:cs typeface="Somber"/>
                <a:sym typeface="Somber"/>
              </a:rPr>
              <a:t>Project - Northern Lights </a:t>
            </a:r>
          </a:p>
        </p:txBody>
      </p:sp>
      <p:sp>
        <p:nvSpPr>
          <p:cNvPr id="54" name="TextBox 53">
            <a:extLst>
              <a:ext uri="{FF2B5EF4-FFF2-40B4-BE49-F238E27FC236}">
                <a16:creationId xmlns:a16="http://schemas.microsoft.com/office/drawing/2014/main" id="{37275F88-3984-8FF1-73AC-60ED5A42E73F}"/>
              </a:ext>
            </a:extLst>
          </p:cNvPr>
          <p:cNvSpPr txBox="1"/>
          <p:nvPr/>
        </p:nvSpPr>
        <p:spPr>
          <a:xfrm>
            <a:off x="524215" y="10265811"/>
            <a:ext cx="6312768" cy="430887"/>
          </a:xfrm>
          <a:prstGeom prst="rect">
            <a:avLst/>
          </a:prstGeom>
          <a:noFill/>
        </p:spPr>
        <p:txBody>
          <a:bodyPr wrap="square">
            <a:spAutoFit/>
          </a:bodyPr>
          <a:lstStyle/>
          <a:p>
            <a:pPr algn="ctr"/>
            <a:r>
              <a:rPr lang="en-US" sz="1100" b="1" spc="56" dirty="0">
                <a:solidFill>
                  <a:srgbClr val="000000"/>
                </a:solidFill>
                <a:latin typeface="Questrial"/>
              </a:rPr>
              <a:t>Godrej Genesis Building, 15th Floor, Unit No. 1502, Sector V, Block EP &amp; GP, Salt Lake City, Kolkata – 700091, West Bengal, India.</a:t>
            </a:r>
            <a:endParaRPr lang="en-IN" sz="1100" b="1" spc="56" dirty="0">
              <a:solidFill>
                <a:srgbClr val="000000"/>
              </a:solidFill>
              <a:latin typeface="Questrial"/>
            </a:endParaRPr>
          </a:p>
        </p:txBody>
      </p:sp>
      <p:sp>
        <p:nvSpPr>
          <p:cNvPr id="5" name="Rectangle 4">
            <a:extLst>
              <a:ext uri="{FF2B5EF4-FFF2-40B4-BE49-F238E27FC236}">
                <a16:creationId xmlns:a16="http://schemas.microsoft.com/office/drawing/2014/main" id="{32A61A52-0080-4BFA-BFBA-BD86EF018FC7}"/>
              </a:ext>
            </a:extLst>
          </p:cNvPr>
          <p:cNvSpPr/>
          <p:nvPr/>
        </p:nvSpPr>
        <p:spPr>
          <a:xfrm>
            <a:off x="1686267" y="4885035"/>
            <a:ext cx="4183966" cy="923330"/>
          </a:xfrm>
          <a:prstGeom prst="rect">
            <a:avLst/>
          </a:prstGeom>
          <a:noFill/>
        </p:spPr>
        <p:txBody>
          <a:bodyPr wrap="none" lIns="91440" tIns="45720" rIns="91440" bIns="45720">
            <a:spAutoFit/>
          </a:bodyPr>
          <a:lstStyle/>
          <a:p>
            <a:pPr algn="ctr"/>
            <a:r>
              <a:rPr lang="en-US"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rial Black" panose="020B0A04020102020204" pitchFamily="34" charset="0"/>
              </a:rPr>
              <a:t>Thank You</a:t>
            </a:r>
            <a:endParaRPr lang="en-US"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915577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793</Words>
  <Application>Microsoft Office PowerPoint</Application>
  <PresentationFormat>Custom</PresentationFormat>
  <Paragraphs>86</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Times New Roman</vt:lpstr>
      <vt:lpstr>Oswald Bold</vt:lpstr>
      <vt:lpstr>Questrial</vt:lpstr>
      <vt:lpstr>Calibri</vt:lpstr>
      <vt:lpstr>Arial</vt:lpstr>
      <vt:lpstr>Somber</vt:lpstr>
      <vt:lpstr>Arial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Yellow Corporate Business Design Roadmap A4 Document</dc:title>
  <dc:creator>Biswajit</dc:creator>
  <cp:lastModifiedBy>USER</cp:lastModifiedBy>
  <cp:revision>18</cp:revision>
  <dcterms:created xsi:type="dcterms:W3CDTF">2006-08-16T00:00:00Z</dcterms:created>
  <dcterms:modified xsi:type="dcterms:W3CDTF">2025-11-29T11:09:45Z</dcterms:modified>
  <dc:identifier>DAG5rlQpufs</dc:identifier>
</cp:coreProperties>
</file>