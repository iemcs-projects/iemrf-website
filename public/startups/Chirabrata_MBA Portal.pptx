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7556500" cy="10693400"/>
  <p:notesSz cx="6858000" cy="9144000"/>
  <p:embeddedFontLst>
    <p:embeddedFont>
      <p:font typeface="Questrial" panose="020B0604020202020204" charset="0"/>
      <p:regular r:id="rId4"/>
    </p:embeddedFont>
    <p:embeddedFont>
      <p:font typeface="Calibri" panose="020F0502020204030204" pitchFamily="34" charset="0"/>
      <p:regular r:id="rId5"/>
      <p:bold r:id="rId6"/>
      <p:italic r:id="rId7"/>
      <p:boldItalic r:id="rId8"/>
    </p:embeddedFont>
    <p:embeddedFont>
      <p:font typeface="Oswald" panose="020B0604020202020204" charset="0"/>
      <p:bold r:id="rId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 roundtripDataSignature="AMtx7mizsId7i8DSN+rc5hC+uuAGMG8Z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3132" y="3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presProps" Target="presProps.xml"/><Relationship Id="rId5" Type="http://schemas.openxmlformats.org/officeDocument/2006/relationships/font" Target="fonts/font2.fntdata"/><Relationship Id="rId10" Type="http://customschemas.google.com/relationships/presentationmetadata" Target="meta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2217738" y="685800"/>
            <a:ext cx="24225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1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1792288" y="612775"/>
            <a:ext cx="5486400" cy="4114800"/>
          </a:xfrm>
          <a:prstGeom prst="rect">
            <a:avLst/>
          </a:prstGeom>
          <a:noFill/>
          <a:ln>
            <a:noFill/>
          </a:ln>
        </p:spPr>
      </p:sp>
      <p:sp>
        <p:nvSpPr>
          <p:cNvPr id="64" name="Google Shape;64;p1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4EA"/>
        </a:solidFill>
        <a:effectLst/>
      </p:bgPr>
    </p:bg>
    <p:spTree>
      <p:nvGrpSpPr>
        <p:cNvPr id="1" name="Shape 83"/>
        <p:cNvGrpSpPr/>
        <p:nvPr/>
      </p:nvGrpSpPr>
      <p:grpSpPr>
        <a:xfrm>
          <a:off x="0" y="0"/>
          <a:ext cx="0" cy="0"/>
          <a:chOff x="0" y="0"/>
          <a:chExt cx="0" cy="0"/>
        </a:xfrm>
      </p:grpSpPr>
      <p:grpSp>
        <p:nvGrpSpPr>
          <p:cNvPr id="84" name="Google Shape;84;p1"/>
          <p:cNvGrpSpPr/>
          <p:nvPr/>
        </p:nvGrpSpPr>
        <p:grpSpPr>
          <a:xfrm>
            <a:off x="0" y="-67958"/>
            <a:ext cx="7560000" cy="1955410"/>
            <a:chOff x="0" y="-28575"/>
            <a:chExt cx="2709333" cy="822216"/>
          </a:xfrm>
        </p:grpSpPr>
        <p:sp>
          <p:nvSpPr>
            <p:cNvPr id="85" name="Google Shape;85;p1"/>
            <p:cNvSpPr/>
            <p:nvPr/>
          </p:nvSpPr>
          <p:spPr>
            <a:xfrm>
              <a:off x="0" y="0"/>
              <a:ext cx="2709333" cy="793641"/>
            </a:xfrm>
            <a:custGeom>
              <a:avLst/>
              <a:gdLst/>
              <a:ahLst/>
              <a:cxnLst/>
              <a:rect l="l" t="t" r="r" b="b"/>
              <a:pathLst>
                <a:path w="2709333" h="793641" extrusionOk="0">
                  <a:moveTo>
                    <a:pt x="0" y="0"/>
                  </a:moveTo>
                  <a:lnTo>
                    <a:pt x="2709333" y="0"/>
                  </a:lnTo>
                  <a:lnTo>
                    <a:pt x="2709333" y="793641"/>
                  </a:lnTo>
                  <a:lnTo>
                    <a:pt x="0" y="793641"/>
                  </a:lnTo>
                  <a:close/>
                </a:path>
              </a:pathLst>
            </a:custGeom>
            <a:solidFill>
              <a:srgbClr val="FFD67F"/>
            </a:solidFill>
            <a:ln>
              <a:noFill/>
            </a:ln>
          </p:spPr>
        </p:sp>
        <p:sp>
          <p:nvSpPr>
            <p:cNvPr id="86" name="Google Shape;86;p1"/>
            <p:cNvSpPr txBox="1"/>
            <p:nvPr/>
          </p:nvSpPr>
          <p:spPr>
            <a:xfrm>
              <a:off x="0" y="-28575"/>
              <a:ext cx="2709333" cy="822216"/>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87" name="Google Shape;87;p1"/>
          <p:cNvCxnSpPr/>
          <p:nvPr/>
        </p:nvCxnSpPr>
        <p:spPr>
          <a:xfrm>
            <a:off x="685843" y="3012417"/>
            <a:ext cx="4763" cy="1420577"/>
          </a:xfrm>
          <a:prstGeom prst="straightConnector1">
            <a:avLst/>
          </a:prstGeom>
          <a:noFill/>
          <a:ln w="9525" cap="flat" cmpd="sng">
            <a:solidFill>
              <a:srgbClr val="45A6B0"/>
            </a:solidFill>
            <a:prstDash val="solid"/>
            <a:round/>
            <a:headEnd type="none" w="sm" len="sm"/>
            <a:tailEnd type="none" w="sm" len="sm"/>
          </a:ln>
        </p:spPr>
      </p:cxnSp>
      <p:sp>
        <p:nvSpPr>
          <p:cNvPr id="88" name="Google Shape;88;p1"/>
          <p:cNvSpPr/>
          <p:nvPr/>
        </p:nvSpPr>
        <p:spPr>
          <a:xfrm>
            <a:off x="473897" y="2451100"/>
            <a:ext cx="423893" cy="423893"/>
          </a:xfrm>
          <a:custGeom>
            <a:avLst/>
            <a:gdLst/>
            <a:ahLst/>
            <a:cxnLst/>
            <a:rect l="l" t="t" r="r" b="b"/>
            <a:pathLst>
              <a:path w="423893" h="423893" extrusionOk="0">
                <a:moveTo>
                  <a:pt x="0" y="0"/>
                </a:moveTo>
                <a:lnTo>
                  <a:pt x="423893" y="0"/>
                </a:lnTo>
                <a:lnTo>
                  <a:pt x="423893" y="423893"/>
                </a:lnTo>
                <a:lnTo>
                  <a:pt x="0" y="423893"/>
                </a:lnTo>
                <a:lnTo>
                  <a:pt x="0" y="0"/>
                </a:lnTo>
                <a:close/>
              </a:path>
            </a:pathLst>
          </a:custGeom>
          <a:blipFill rotWithShape="1">
            <a:blip r:embed="rId3">
              <a:alphaModFix/>
            </a:blip>
            <a:stretch>
              <a:fillRect/>
            </a:stretch>
          </a:blipFill>
          <a:ln>
            <a:noFill/>
          </a:ln>
        </p:spPr>
      </p:sp>
      <p:sp>
        <p:nvSpPr>
          <p:cNvPr id="89" name="Google Shape;89;p1"/>
          <p:cNvSpPr txBox="1"/>
          <p:nvPr/>
        </p:nvSpPr>
        <p:spPr>
          <a:xfrm>
            <a:off x="972310" y="2891203"/>
            <a:ext cx="2807690" cy="1436291"/>
          </a:xfrm>
          <a:prstGeom prst="rect">
            <a:avLst/>
          </a:prstGeom>
          <a:noFill/>
          <a:ln>
            <a:noFill/>
          </a:ln>
        </p:spPr>
        <p:txBody>
          <a:bodyPr spcFirstLastPara="1" wrap="square" lIns="0" tIns="0" rIns="0" bIns="0" anchor="t" anchorCtr="0">
            <a:spAutoFit/>
          </a:bodyPr>
          <a:lstStyle/>
          <a:p>
            <a:pPr marL="0" marR="0" lvl="0" indent="0" algn="l" rtl="0">
              <a:lnSpc>
                <a:spcPct val="118015"/>
              </a:lnSpc>
              <a:spcBef>
                <a:spcPts val="0"/>
              </a:spcBef>
              <a:spcAft>
                <a:spcPts val="0"/>
              </a:spcAft>
              <a:buNone/>
            </a:pPr>
            <a:r>
              <a:rPr lang="en-US" sz="1199" b="0" i="0" u="none" strike="noStrike" cap="none" dirty="0">
                <a:solidFill>
                  <a:srgbClr val="000000"/>
                </a:solidFill>
                <a:latin typeface="Questrial"/>
                <a:ea typeface="Questrial"/>
                <a:cs typeface="Questrial"/>
                <a:sym typeface="Questrial"/>
              </a:rPr>
              <a:t>The current MBA Department website is outdated, poorly structured, and lacks engaging content, resulting in weak communication of program strengths, inadequate user experience, and limited appeal for students, recruiters, and partners.</a:t>
            </a:r>
            <a:endParaRPr sz="1199" b="0" i="0" u="none" strike="noStrike" cap="none" dirty="0">
              <a:solidFill>
                <a:srgbClr val="000000"/>
              </a:solidFill>
              <a:latin typeface="Questrial"/>
              <a:ea typeface="Questrial"/>
              <a:cs typeface="Questrial"/>
              <a:sym typeface="Questrial"/>
            </a:endParaRPr>
          </a:p>
          <a:p>
            <a:pPr marL="0" marR="0" lvl="0" indent="0" algn="l" rtl="0">
              <a:lnSpc>
                <a:spcPct val="118015"/>
              </a:lnSpc>
              <a:spcBef>
                <a:spcPts val="0"/>
              </a:spcBef>
              <a:spcAft>
                <a:spcPts val="0"/>
              </a:spcAft>
              <a:buNone/>
            </a:pPr>
            <a:endParaRPr sz="1199" b="0" i="0" u="none" strike="noStrike" cap="none" dirty="0">
              <a:solidFill>
                <a:srgbClr val="000000"/>
              </a:solidFill>
              <a:latin typeface="Questrial"/>
              <a:ea typeface="Questrial"/>
              <a:cs typeface="Questrial"/>
              <a:sym typeface="Questrial"/>
            </a:endParaRPr>
          </a:p>
        </p:txBody>
      </p:sp>
      <p:sp>
        <p:nvSpPr>
          <p:cNvPr id="90" name="Google Shape;90;p1"/>
          <p:cNvSpPr txBox="1"/>
          <p:nvPr/>
        </p:nvSpPr>
        <p:spPr>
          <a:xfrm>
            <a:off x="972310" y="2222212"/>
            <a:ext cx="2593827" cy="280718"/>
          </a:xfrm>
          <a:prstGeom prst="rect">
            <a:avLst/>
          </a:prstGeom>
          <a:noFill/>
          <a:ln>
            <a:noFill/>
          </a:ln>
        </p:spPr>
        <p:txBody>
          <a:bodyPr spcFirstLastPara="1" wrap="square" lIns="0" tIns="0" rIns="0" bIns="0" anchor="t" anchorCtr="0">
            <a:spAutoFit/>
          </a:bodyPr>
          <a:lstStyle/>
          <a:p>
            <a:pPr marL="0" marR="0" lvl="0" indent="0" algn="l" rtl="0">
              <a:lnSpc>
                <a:spcPct val="114006"/>
              </a:lnSpc>
              <a:spcBef>
                <a:spcPts val="0"/>
              </a:spcBef>
              <a:spcAft>
                <a:spcPts val="0"/>
              </a:spcAft>
              <a:buNone/>
            </a:pPr>
            <a:r>
              <a:rPr lang="en-US" sz="1600" b="1" i="0" u="none" strike="noStrike" cap="none" dirty="0" smtClean="0">
                <a:solidFill>
                  <a:srgbClr val="000000"/>
                </a:solidFill>
                <a:sym typeface="Arial"/>
              </a:rPr>
              <a:t>Problem Statement</a:t>
            </a:r>
            <a:endParaRPr sz="1050" b="1" dirty="0"/>
          </a:p>
        </p:txBody>
      </p:sp>
      <p:cxnSp>
        <p:nvCxnSpPr>
          <p:cNvPr id="91" name="Google Shape;91;p1"/>
          <p:cNvCxnSpPr/>
          <p:nvPr/>
        </p:nvCxnSpPr>
        <p:spPr>
          <a:xfrm>
            <a:off x="695368" y="2016040"/>
            <a:ext cx="5681744" cy="0"/>
          </a:xfrm>
          <a:prstGeom prst="straightConnector1">
            <a:avLst/>
          </a:prstGeom>
          <a:noFill/>
          <a:ln w="9525" cap="flat" cmpd="sng">
            <a:solidFill>
              <a:srgbClr val="45A6B0"/>
            </a:solidFill>
            <a:prstDash val="solid"/>
            <a:round/>
            <a:headEnd type="none" w="sm" len="sm"/>
            <a:tailEnd type="none" w="sm" len="sm"/>
          </a:ln>
        </p:spPr>
      </p:cxnSp>
      <p:sp>
        <p:nvSpPr>
          <p:cNvPr id="92" name="Google Shape;92;p1"/>
          <p:cNvSpPr txBox="1"/>
          <p:nvPr/>
        </p:nvSpPr>
        <p:spPr>
          <a:xfrm>
            <a:off x="3267654" y="2776515"/>
            <a:ext cx="1537580" cy="1365162"/>
          </a:xfrm>
          <a:prstGeom prst="rect">
            <a:avLst/>
          </a:prstGeom>
          <a:noFill/>
          <a:ln>
            <a:noFill/>
          </a:ln>
        </p:spPr>
        <p:txBody>
          <a:bodyPr spcFirstLastPara="1" wrap="square" lIns="0" tIns="0" rIns="0" bIns="0" anchor="t" anchorCtr="0">
            <a:spAutoFit/>
          </a:bodyPr>
          <a:lstStyle/>
          <a:p>
            <a:pPr marL="0" marR="0" lvl="0" indent="0" algn="ctr" rtl="0">
              <a:lnSpc>
                <a:spcPct val="114008"/>
              </a:lnSpc>
              <a:spcBef>
                <a:spcPts val="0"/>
              </a:spcBef>
              <a:spcAft>
                <a:spcPts val="0"/>
              </a:spcAft>
              <a:buNone/>
            </a:pPr>
            <a:r>
              <a:rPr lang="en-US" sz="9344" b="1" i="0" u="none" strike="noStrike" cap="none" dirty="0">
                <a:solidFill>
                  <a:srgbClr val="FFD67F"/>
                </a:solidFill>
                <a:latin typeface="Oswald"/>
                <a:ea typeface="Oswald"/>
                <a:cs typeface="Oswald"/>
                <a:sym typeface="Oswald"/>
              </a:rPr>
              <a:t>1</a:t>
            </a:r>
            <a:endParaRPr dirty="0"/>
          </a:p>
        </p:txBody>
      </p:sp>
      <p:cxnSp>
        <p:nvCxnSpPr>
          <p:cNvPr id="93" name="Google Shape;93;p1"/>
          <p:cNvCxnSpPr/>
          <p:nvPr/>
        </p:nvCxnSpPr>
        <p:spPr>
          <a:xfrm>
            <a:off x="685843" y="4428232"/>
            <a:ext cx="3761353" cy="0"/>
          </a:xfrm>
          <a:prstGeom prst="straightConnector1">
            <a:avLst/>
          </a:prstGeom>
          <a:noFill/>
          <a:ln w="9525" cap="flat" cmpd="sng">
            <a:solidFill>
              <a:srgbClr val="45A6B0"/>
            </a:solidFill>
            <a:prstDash val="solid"/>
            <a:round/>
            <a:headEnd type="none" w="sm" len="sm"/>
            <a:tailEnd type="none" w="sm" len="sm"/>
          </a:ln>
        </p:spPr>
      </p:cxnSp>
      <p:cxnSp>
        <p:nvCxnSpPr>
          <p:cNvPr id="94" name="Google Shape;94;p1"/>
          <p:cNvCxnSpPr/>
          <p:nvPr/>
        </p:nvCxnSpPr>
        <p:spPr>
          <a:xfrm>
            <a:off x="4444070" y="2626679"/>
            <a:ext cx="0" cy="1807446"/>
          </a:xfrm>
          <a:prstGeom prst="straightConnector1">
            <a:avLst/>
          </a:prstGeom>
          <a:noFill/>
          <a:ln w="9525" cap="flat" cmpd="sng">
            <a:solidFill>
              <a:srgbClr val="45A6B0"/>
            </a:solidFill>
            <a:prstDash val="solid"/>
            <a:round/>
            <a:headEnd type="none" w="sm" len="sm"/>
            <a:tailEnd type="none" w="sm" len="sm"/>
          </a:ln>
        </p:spPr>
      </p:cxnSp>
      <p:cxnSp>
        <p:nvCxnSpPr>
          <p:cNvPr id="95" name="Google Shape;95;p1"/>
          <p:cNvCxnSpPr/>
          <p:nvPr/>
        </p:nvCxnSpPr>
        <p:spPr>
          <a:xfrm>
            <a:off x="4439307" y="2631442"/>
            <a:ext cx="878024" cy="0"/>
          </a:xfrm>
          <a:prstGeom prst="straightConnector1">
            <a:avLst/>
          </a:prstGeom>
          <a:noFill/>
          <a:ln w="9525" cap="flat" cmpd="sng">
            <a:solidFill>
              <a:srgbClr val="45A6B0"/>
            </a:solidFill>
            <a:prstDash val="solid"/>
            <a:round/>
            <a:headEnd type="none" w="sm" len="sm"/>
            <a:tailEnd type="none" w="sm" len="sm"/>
          </a:ln>
        </p:spPr>
      </p:cxnSp>
      <p:cxnSp>
        <p:nvCxnSpPr>
          <p:cNvPr id="96" name="Google Shape;96;p1"/>
          <p:cNvCxnSpPr/>
          <p:nvPr/>
        </p:nvCxnSpPr>
        <p:spPr>
          <a:xfrm>
            <a:off x="6283585" y="2640967"/>
            <a:ext cx="878024" cy="0"/>
          </a:xfrm>
          <a:prstGeom prst="straightConnector1">
            <a:avLst/>
          </a:prstGeom>
          <a:noFill/>
          <a:ln w="9525" cap="flat" cmpd="sng">
            <a:solidFill>
              <a:srgbClr val="45A6B0"/>
            </a:solidFill>
            <a:prstDash val="solid"/>
            <a:round/>
            <a:headEnd type="none" w="sm" len="sm"/>
            <a:tailEnd type="none" w="sm" len="sm"/>
          </a:ln>
        </p:spPr>
      </p:cxnSp>
      <p:cxnSp>
        <p:nvCxnSpPr>
          <p:cNvPr id="97" name="Google Shape;97;p1"/>
          <p:cNvCxnSpPr/>
          <p:nvPr/>
        </p:nvCxnSpPr>
        <p:spPr>
          <a:xfrm>
            <a:off x="7166372" y="2645729"/>
            <a:ext cx="0" cy="3050123"/>
          </a:xfrm>
          <a:prstGeom prst="straightConnector1">
            <a:avLst/>
          </a:prstGeom>
          <a:noFill/>
          <a:ln w="9525" cap="flat" cmpd="sng">
            <a:solidFill>
              <a:srgbClr val="45A6B0"/>
            </a:solidFill>
            <a:prstDash val="solid"/>
            <a:round/>
            <a:headEnd type="none" w="sm" len="sm"/>
            <a:tailEnd type="none" w="sm" len="sm"/>
          </a:ln>
        </p:spPr>
      </p:cxnSp>
      <p:cxnSp>
        <p:nvCxnSpPr>
          <p:cNvPr id="98" name="Google Shape;98;p1"/>
          <p:cNvCxnSpPr/>
          <p:nvPr/>
        </p:nvCxnSpPr>
        <p:spPr>
          <a:xfrm rot="10800000" flipH="1">
            <a:off x="4434545" y="5695852"/>
            <a:ext cx="1240035" cy="9525"/>
          </a:xfrm>
          <a:prstGeom prst="straightConnector1">
            <a:avLst/>
          </a:prstGeom>
          <a:noFill/>
          <a:ln w="9525" cap="flat" cmpd="sng">
            <a:solidFill>
              <a:srgbClr val="45A6B0"/>
            </a:solidFill>
            <a:prstDash val="solid"/>
            <a:round/>
            <a:headEnd type="none" w="sm" len="sm"/>
            <a:tailEnd type="none" w="sm" len="sm"/>
          </a:ln>
        </p:spPr>
      </p:cxnSp>
      <p:cxnSp>
        <p:nvCxnSpPr>
          <p:cNvPr id="99" name="Google Shape;99;p1"/>
          <p:cNvCxnSpPr/>
          <p:nvPr/>
        </p:nvCxnSpPr>
        <p:spPr>
          <a:xfrm>
            <a:off x="4434545" y="4661138"/>
            <a:ext cx="0" cy="1052819"/>
          </a:xfrm>
          <a:prstGeom prst="straightConnector1">
            <a:avLst/>
          </a:prstGeom>
          <a:noFill/>
          <a:ln w="9525" cap="flat" cmpd="sng">
            <a:solidFill>
              <a:srgbClr val="45A6B0"/>
            </a:solidFill>
            <a:prstDash val="solid"/>
            <a:round/>
            <a:headEnd type="none" w="sm" len="sm"/>
            <a:tailEnd type="none" w="sm" len="sm"/>
          </a:ln>
        </p:spPr>
      </p:cxnSp>
      <p:sp>
        <p:nvSpPr>
          <p:cNvPr id="101" name="Google Shape;101;p1"/>
          <p:cNvSpPr/>
          <p:nvPr/>
        </p:nvSpPr>
        <p:spPr>
          <a:xfrm>
            <a:off x="5674580" y="5485998"/>
            <a:ext cx="329471" cy="419708"/>
          </a:xfrm>
          <a:custGeom>
            <a:avLst/>
            <a:gdLst/>
            <a:ahLst/>
            <a:cxnLst/>
            <a:rect l="l" t="t" r="r" b="b"/>
            <a:pathLst>
              <a:path w="329471" h="419708" extrusionOk="0">
                <a:moveTo>
                  <a:pt x="0" y="0"/>
                </a:moveTo>
                <a:lnTo>
                  <a:pt x="329471" y="0"/>
                </a:lnTo>
                <a:lnTo>
                  <a:pt x="329471" y="419708"/>
                </a:lnTo>
                <a:lnTo>
                  <a:pt x="0" y="419708"/>
                </a:lnTo>
                <a:lnTo>
                  <a:pt x="0" y="0"/>
                </a:lnTo>
                <a:close/>
              </a:path>
            </a:pathLst>
          </a:custGeom>
          <a:blipFill rotWithShape="1">
            <a:blip r:embed="rId4">
              <a:alphaModFix/>
            </a:blip>
            <a:stretch>
              <a:fillRect/>
            </a:stretch>
          </a:blipFill>
          <a:ln>
            <a:noFill/>
          </a:ln>
        </p:spPr>
      </p:sp>
      <p:cxnSp>
        <p:nvCxnSpPr>
          <p:cNvPr id="102" name="Google Shape;102;p1"/>
          <p:cNvCxnSpPr/>
          <p:nvPr/>
        </p:nvCxnSpPr>
        <p:spPr>
          <a:xfrm rot="10800000" flipH="1">
            <a:off x="6004051" y="5686328"/>
            <a:ext cx="1174852" cy="9525"/>
          </a:xfrm>
          <a:prstGeom prst="straightConnector1">
            <a:avLst/>
          </a:prstGeom>
          <a:noFill/>
          <a:ln w="9525" cap="flat" cmpd="sng">
            <a:solidFill>
              <a:srgbClr val="45A6B0"/>
            </a:solidFill>
            <a:prstDash val="solid"/>
            <a:round/>
            <a:headEnd type="none" w="sm" len="sm"/>
            <a:tailEnd type="none" w="sm" len="sm"/>
          </a:ln>
        </p:spPr>
      </p:cxnSp>
      <p:cxnSp>
        <p:nvCxnSpPr>
          <p:cNvPr id="103" name="Google Shape;103;p1"/>
          <p:cNvCxnSpPr/>
          <p:nvPr/>
        </p:nvCxnSpPr>
        <p:spPr>
          <a:xfrm flipH="1">
            <a:off x="685843" y="2022522"/>
            <a:ext cx="14287" cy="566002"/>
          </a:xfrm>
          <a:prstGeom prst="straightConnector1">
            <a:avLst/>
          </a:prstGeom>
          <a:noFill/>
          <a:ln w="9525" cap="flat" cmpd="sng">
            <a:solidFill>
              <a:srgbClr val="45A6B0"/>
            </a:solidFill>
            <a:prstDash val="solid"/>
            <a:round/>
            <a:headEnd type="none" w="sm" len="sm"/>
            <a:tailEnd type="none" w="sm" len="sm"/>
          </a:ln>
        </p:spPr>
      </p:cxnSp>
      <p:cxnSp>
        <p:nvCxnSpPr>
          <p:cNvPr id="104" name="Google Shape;104;p1"/>
          <p:cNvCxnSpPr/>
          <p:nvPr/>
        </p:nvCxnSpPr>
        <p:spPr>
          <a:xfrm>
            <a:off x="650541" y="4658543"/>
            <a:ext cx="0" cy="1912910"/>
          </a:xfrm>
          <a:prstGeom prst="straightConnector1">
            <a:avLst/>
          </a:prstGeom>
          <a:noFill/>
          <a:ln w="9525" cap="flat" cmpd="sng">
            <a:solidFill>
              <a:srgbClr val="45A6B0"/>
            </a:solidFill>
            <a:prstDash val="solid"/>
            <a:round/>
            <a:headEnd type="none" w="sm" len="sm"/>
            <a:tailEnd type="none" w="sm" len="sm"/>
          </a:ln>
        </p:spPr>
      </p:cxnSp>
      <p:cxnSp>
        <p:nvCxnSpPr>
          <p:cNvPr id="105" name="Google Shape;105;p1"/>
          <p:cNvCxnSpPr/>
          <p:nvPr/>
        </p:nvCxnSpPr>
        <p:spPr>
          <a:xfrm>
            <a:off x="650541" y="6556835"/>
            <a:ext cx="4216134" cy="0"/>
          </a:xfrm>
          <a:prstGeom prst="straightConnector1">
            <a:avLst/>
          </a:prstGeom>
          <a:noFill/>
          <a:ln w="9525" cap="flat" cmpd="sng">
            <a:solidFill>
              <a:srgbClr val="45A6B0"/>
            </a:solidFill>
            <a:prstDash val="solid"/>
            <a:round/>
            <a:headEnd type="none" w="sm" len="sm"/>
            <a:tailEnd type="none" w="sm" len="sm"/>
          </a:ln>
        </p:spPr>
      </p:cxnSp>
      <p:cxnSp>
        <p:nvCxnSpPr>
          <p:cNvPr id="106" name="Google Shape;106;p1"/>
          <p:cNvCxnSpPr/>
          <p:nvPr/>
        </p:nvCxnSpPr>
        <p:spPr>
          <a:xfrm>
            <a:off x="6654592" y="6570609"/>
            <a:ext cx="503983" cy="0"/>
          </a:xfrm>
          <a:prstGeom prst="straightConnector1">
            <a:avLst/>
          </a:prstGeom>
          <a:noFill/>
          <a:ln w="9525" cap="flat" cmpd="sng">
            <a:solidFill>
              <a:srgbClr val="45A6B0"/>
            </a:solidFill>
            <a:prstDash val="solid"/>
            <a:round/>
            <a:headEnd type="none" w="sm" len="sm"/>
            <a:tailEnd type="none" w="sm" len="sm"/>
          </a:ln>
        </p:spPr>
      </p:cxnSp>
      <p:cxnSp>
        <p:nvCxnSpPr>
          <p:cNvPr id="107" name="Google Shape;107;p1"/>
          <p:cNvCxnSpPr/>
          <p:nvPr/>
        </p:nvCxnSpPr>
        <p:spPr>
          <a:xfrm>
            <a:off x="7145450" y="6575392"/>
            <a:ext cx="0" cy="1609810"/>
          </a:xfrm>
          <a:prstGeom prst="straightConnector1">
            <a:avLst/>
          </a:prstGeom>
          <a:noFill/>
          <a:ln w="9525" cap="flat" cmpd="sng">
            <a:solidFill>
              <a:srgbClr val="45A6B0"/>
            </a:solidFill>
            <a:prstDash val="solid"/>
            <a:round/>
            <a:headEnd type="none" w="sm" len="sm"/>
            <a:tailEnd type="none" w="sm" len="sm"/>
          </a:ln>
        </p:spPr>
      </p:cxnSp>
      <p:cxnSp>
        <p:nvCxnSpPr>
          <p:cNvPr id="108" name="Google Shape;108;p1"/>
          <p:cNvCxnSpPr/>
          <p:nvPr/>
        </p:nvCxnSpPr>
        <p:spPr>
          <a:xfrm>
            <a:off x="2130392" y="8394700"/>
            <a:ext cx="4430646" cy="0"/>
          </a:xfrm>
          <a:prstGeom prst="straightConnector1">
            <a:avLst/>
          </a:prstGeom>
          <a:noFill/>
          <a:ln w="9525" cap="flat" cmpd="sng">
            <a:solidFill>
              <a:srgbClr val="45A6B0"/>
            </a:solidFill>
            <a:prstDash val="solid"/>
            <a:round/>
            <a:headEnd type="none" w="sm" len="sm"/>
            <a:tailEnd type="none" w="sm" len="sm"/>
          </a:ln>
        </p:spPr>
      </p:cxnSp>
      <p:cxnSp>
        <p:nvCxnSpPr>
          <p:cNvPr id="109" name="Google Shape;109;p1"/>
          <p:cNvCxnSpPr/>
          <p:nvPr/>
        </p:nvCxnSpPr>
        <p:spPr>
          <a:xfrm>
            <a:off x="2125627" y="7149408"/>
            <a:ext cx="0" cy="1034248"/>
          </a:xfrm>
          <a:prstGeom prst="straightConnector1">
            <a:avLst/>
          </a:prstGeom>
          <a:noFill/>
          <a:ln w="9525" cap="flat" cmpd="sng">
            <a:solidFill>
              <a:srgbClr val="45A6B0"/>
            </a:solidFill>
            <a:prstDash val="solid"/>
            <a:round/>
            <a:headEnd type="none" w="sm" len="sm"/>
            <a:tailEnd type="none" w="sm" len="sm"/>
          </a:ln>
        </p:spPr>
      </p:cxnSp>
      <p:sp>
        <p:nvSpPr>
          <p:cNvPr id="110" name="Google Shape;110;p1"/>
          <p:cNvSpPr txBox="1"/>
          <p:nvPr/>
        </p:nvSpPr>
        <p:spPr>
          <a:xfrm>
            <a:off x="1103375" y="7133098"/>
            <a:ext cx="552480" cy="1365162"/>
          </a:xfrm>
          <a:prstGeom prst="rect">
            <a:avLst/>
          </a:prstGeom>
          <a:noFill/>
          <a:ln>
            <a:noFill/>
          </a:ln>
        </p:spPr>
        <p:txBody>
          <a:bodyPr spcFirstLastPara="1" wrap="square" lIns="0" tIns="0" rIns="0" bIns="0" anchor="t" anchorCtr="0">
            <a:spAutoFit/>
          </a:bodyPr>
          <a:lstStyle/>
          <a:p>
            <a:pPr marL="0" marR="0" lvl="0" indent="0" algn="ctr" rtl="0">
              <a:lnSpc>
                <a:spcPct val="114008"/>
              </a:lnSpc>
              <a:spcBef>
                <a:spcPts val="0"/>
              </a:spcBef>
              <a:spcAft>
                <a:spcPts val="0"/>
              </a:spcAft>
              <a:buNone/>
            </a:pPr>
            <a:r>
              <a:rPr lang="en-US" sz="9344" b="1" i="0" u="none" strike="noStrike" cap="none" dirty="0">
                <a:solidFill>
                  <a:srgbClr val="FFD67F"/>
                </a:solidFill>
                <a:latin typeface="Oswald"/>
                <a:ea typeface="Oswald"/>
                <a:cs typeface="Oswald"/>
                <a:sym typeface="Oswald"/>
              </a:rPr>
              <a:t>5</a:t>
            </a:r>
            <a:endParaRPr dirty="0"/>
          </a:p>
        </p:txBody>
      </p:sp>
      <p:cxnSp>
        <p:nvCxnSpPr>
          <p:cNvPr id="111" name="Google Shape;111;p1"/>
          <p:cNvCxnSpPr/>
          <p:nvPr/>
        </p:nvCxnSpPr>
        <p:spPr>
          <a:xfrm>
            <a:off x="638371" y="7144646"/>
            <a:ext cx="1482487" cy="0"/>
          </a:xfrm>
          <a:prstGeom prst="straightConnector1">
            <a:avLst/>
          </a:prstGeom>
          <a:noFill/>
          <a:ln w="9525" cap="flat" cmpd="sng">
            <a:solidFill>
              <a:srgbClr val="45A6B0"/>
            </a:solidFill>
            <a:prstDash val="solid"/>
            <a:round/>
            <a:headEnd type="none" w="sm" len="sm"/>
            <a:tailEnd type="none" w="sm" len="sm"/>
          </a:ln>
        </p:spPr>
      </p:cxnSp>
      <p:cxnSp>
        <p:nvCxnSpPr>
          <p:cNvPr id="112" name="Google Shape;112;p1"/>
          <p:cNvCxnSpPr/>
          <p:nvPr/>
        </p:nvCxnSpPr>
        <p:spPr>
          <a:xfrm>
            <a:off x="655304" y="7139883"/>
            <a:ext cx="35302" cy="2787992"/>
          </a:xfrm>
          <a:prstGeom prst="straightConnector1">
            <a:avLst/>
          </a:prstGeom>
          <a:noFill/>
          <a:ln w="9525" cap="flat" cmpd="sng">
            <a:solidFill>
              <a:srgbClr val="45A6B0"/>
            </a:solidFill>
            <a:prstDash val="solid"/>
            <a:round/>
            <a:headEnd type="none" w="sm" len="sm"/>
            <a:tailEnd type="none" w="sm" len="sm"/>
          </a:ln>
        </p:spPr>
      </p:cxnSp>
      <p:cxnSp>
        <p:nvCxnSpPr>
          <p:cNvPr id="113" name="Google Shape;113;p1"/>
          <p:cNvCxnSpPr/>
          <p:nvPr/>
        </p:nvCxnSpPr>
        <p:spPr>
          <a:xfrm>
            <a:off x="682625" y="9933289"/>
            <a:ext cx="6628145" cy="23511"/>
          </a:xfrm>
          <a:prstGeom prst="straightConnector1">
            <a:avLst/>
          </a:prstGeom>
          <a:noFill/>
          <a:ln w="9525" cap="flat" cmpd="sng">
            <a:solidFill>
              <a:srgbClr val="45A6B0"/>
            </a:solidFill>
            <a:prstDash val="solid"/>
            <a:round/>
            <a:headEnd type="none" w="sm" len="sm"/>
            <a:tailEnd type="none" w="sm" len="sm"/>
          </a:ln>
        </p:spPr>
      </p:cxnSp>
      <p:grpSp>
        <p:nvGrpSpPr>
          <p:cNvPr id="114" name="Google Shape;114;p1"/>
          <p:cNvGrpSpPr/>
          <p:nvPr/>
        </p:nvGrpSpPr>
        <p:grpSpPr>
          <a:xfrm>
            <a:off x="0" y="10117058"/>
            <a:ext cx="7560000" cy="700699"/>
            <a:chOff x="0" y="-28575"/>
            <a:chExt cx="2709333" cy="810824"/>
          </a:xfrm>
        </p:grpSpPr>
        <p:sp>
          <p:nvSpPr>
            <p:cNvPr id="115" name="Google Shape;115;p1"/>
            <p:cNvSpPr/>
            <p:nvPr/>
          </p:nvSpPr>
          <p:spPr>
            <a:xfrm>
              <a:off x="0" y="0"/>
              <a:ext cx="2709333" cy="782249"/>
            </a:xfrm>
            <a:custGeom>
              <a:avLst/>
              <a:gdLst/>
              <a:ahLst/>
              <a:cxnLst/>
              <a:rect l="l" t="t" r="r" b="b"/>
              <a:pathLst>
                <a:path w="2709333" h="782249" extrusionOk="0">
                  <a:moveTo>
                    <a:pt x="0" y="0"/>
                  </a:moveTo>
                  <a:lnTo>
                    <a:pt x="2709333" y="0"/>
                  </a:lnTo>
                  <a:lnTo>
                    <a:pt x="2709333" y="782249"/>
                  </a:lnTo>
                  <a:lnTo>
                    <a:pt x="0" y="782249"/>
                  </a:lnTo>
                  <a:close/>
                </a:path>
              </a:pathLst>
            </a:custGeom>
            <a:solidFill>
              <a:srgbClr val="FFD67F"/>
            </a:solidFill>
            <a:ln>
              <a:noFill/>
            </a:ln>
          </p:spPr>
        </p:sp>
        <p:sp>
          <p:nvSpPr>
            <p:cNvPr id="116" name="Google Shape;116;p1"/>
            <p:cNvSpPr txBox="1"/>
            <p:nvPr/>
          </p:nvSpPr>
          <p:spPr>
            <a:xfrm>
              <a:off x="0" y="-28575"/>
              <a:ext cx="2709333" cy="810824"/>
            </a:xfrm>
            <a:prstGeom prst="rect">
              <a:avLst/>
            </a:prstGeom>
            <a:noFill/>
            <a:ln>
              <a:noFill/>
            </a:ln>
          </p:spPr>
          <p:txBody>
            <a:bodyPr spcFirstLastPara="1" wrap="square" lIns="50800" tIns="50800" rIns="50800" bIns="50800" anchor="ctr" anchorCtr="0">
              <a:noAutofit/>
            </a:bodyPr>
            <a:lstStyle/>
            <a:p>
              <a:pPr marL="0" marR="0" lvl="0" indent="0" algn="ctr" rtl="0">
                <a:lnSpc>
                  <a:spcPct val="1088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7" name="Google Shape;117;p1"/>
          <p:cNvSpPr/>
          <p:nvPr/>
        </p:nvSpPr>
        <p:spPr>
          <a:xfrm>
            <a:off x="6709140" y="8106304"/>
            <a:ext cx="384112" cy="384112"/>
          </a:xfrm>
          <a:custGeom>
            <a:avLst/>
            <a:gdLst/>
            <a:ahLst/>
            <a:cxnLst/>
            <a:rect l="l" t="t" r="r" b="b"/>
            <a:pathLst>
              <a:path w="384112" h="384112" extrusionOk="0">
                <a:moveTo>
                  <a:pt x="0" y="0"/>
                </a:moveTo>
                <a:lnTo>
                  <a:pt x="384111" y="0"/>
                </a:lnTo>
                <a:lnTo>
                  <a:pt x="384111" y="384112"/>
                </a:lnTo>
                <a:lnTo>
                  <a:pt x="0" y="384112"/>
                </a:lnTo>
                <a:lnTo>
                  <a:pt x="0" y="0"/>
                </a:lnTo>
                <a:close/>
              </a:path>
            </a:pathLst>
          </a:custGeom>
          <a:blipFill rotWithShape="1">
            <a:blip r:embed="rId5">
              <a:alphaModFix/>
            </a:blip>
            <a:stretch>
              <a:fillRect/>
            </a:stretch>
          </a:blipFill>
          <a:ln>
            <a:noFill/>
          </a:ln>
        </p:spPr>
      </p:sp>
      <p:sp>
        <p:nvSpPr>
          <p:cNvPr id="118" name="Google Shape;118;p1"/>
          <p:cNvSpPr/>
          <p:nvPr/>
        </p:nvSpPr>
        <p:spPr>
          <a:xfrm>
            <a:off x="2034905" y="8000343"/>
            <a:ext cx="190974" cy="394779"/>
          </a:xfrm>
          <a:custGeom>
            <a:avLst/>
            <a:gdLst/>
            <a:ahLst/>
            <a:cxnLst/>
            <a:rect l="l" t="t" r="r" b="b"/>
            <a:pathLst>
              <a:path w="190974" h="394779" extrusionOk="0">
                <a:moveTo>
                  <a:pt x="0" y="0"/>
                </a:moveTo>
                <a:lnTo>
                  <a:pt x="190975" y="0"/>
                </a:lnTo>
                <a:lnTo>
                  <a:pt x="190975" y="394779"/>
                </a:lnTo>
                <a:lnTo>
                  <a:pt x="0" y="394779"/>
                </a:lnTo>
                <a:lnTo>
                  <a:pt x="0" y="0"/>
                </a:lnTo>
                <a:close/>
              </a:path>
            </a:pathLst>
          </a:custGeom>
          <a:blipFill rotWithShape="1">
            <a:blip r:embed="rId6">
              <a:alphaModFix/>
            </a:blip>
            <a:stretch>
              <a:fillRect/>
            </a:stretch>
          </a:blipFill>
          <a:ln>
            <a:noFill/>
          </a:ln>
        </p:spPr>
      </p:sp>
      <p:sp>
        <p:nvSpPr>
          <p:cNvPr id="119" name="Google Shape;119;p1"/>
          <p:cNvSpPr/>
          <p:nvPr/>
        </p:nvSpPr>
        <p:spPr>
          <a:xfrm>
            <a:off x="604377" y="6325742"/>
            <a:ext cx="355965" cy="365262"/>
          </a:xfrm>
          <a:custGeom>
            <a:avLst/>
            <a:gdLst/>
            <a:ahLst/>
            <a:cxnLst/>
            <a:rect l="l" t="t" r="r" b="b"/>
            <a:pathLst>
              <a:path w="355965" h="365262" extrusionOk="0">
                <a:moveTo>
                  <a:pt x="0" y="0"/>
                </a:moveTo>
                <a:lnTo>
                  <a:pt x="355965" y="0"/>
                </a:lnTo>
                <a:lnTo>
                  <a:pt x="355965" y="365263"/>
                </a:lnTo>
                <a:lnTo>
                  <a:pt x="0" y="365263"/>
                </a:lnTo>
                <a:lnTo>
                  <a:pt x="0" y="0"/>
                </a:lnTo>
                <a:close/>
              </a:path>
            </a:pathLst>
          </a:custGeom>
          <a:blipFill rotWithShape="1">
            <a:blip r:embed="rId7">
              <a:alphaModFix/>
            </a:blip>
            <a:stretch>
              <a:fillRect/>
            </a:stretch>
          </a:blipFill>
          <a:ln>
            <a:noFill/>
          </a:ln>
        </p:spPr>
      </p:sp>
      <p:sp>
        <p:nvSpPr>
          <p:cNvPr id="120" name="Google Shape;120;p1"/>
          <p:cNvSpPr/>
          <p:nvPr/>
        </p:nvSpPr>
        <p:spPr>
          <a:xfrm>
            <a:off x="5028792" y="421581"/>
            <a:ext cx="1949909" cy="1257844"/>
          </a:xfrm>
          <a:custGeom>
            <a:avLst/>
            <a:gdLst/>
            <a:ahLst/>
            <a:cxnLst/>
            <a:rect l="l" t="t" r="r" b="b"/>
            <a:pathLst>
              <a:path w="1615844" h="872976" extrusionOk="0">
                <a:moveTo>
                  <a:pt x="0" y="0"/>
                </a:moveTo>
                <a:lnTo>
                  <a:pt x="1615844" y="0"/>
                </a:lnTo>
                <a:lnTo>
                  <a:pt x="1615844" y="872976"/>
                </a:lnTo>
                <a:lnTo>
                  <a:pt x="0" y="872976"/>
                </a:lnTo>
                <a:lnTo>
                  <a:pt x="0" y="0"/>
                </a:lnTo>
                <a:close/>
              </a:path>
            </a:pathLst>
          </a:custGeom>
          <a:blipFill rotWithShape="1">
            <a:blip r:embed="rId8">
              <a:alphaModFix/>
            </a:blip>
            <a:stretch>
              <a:fillRect/>
            </a:stretch>
          </a:blipFill>
          <a:ln>
            <a:noFill/>
          </a:ln>
        </p:spPr>
      </p:sp>
      <p:sp>
        <p:nvSpPr>
          <p:cNvPr id="121" name="Google Shape;121;p1"/>
          <p:cNvSpPr txBox="1"/>
          <p:nvPr/>
        </p:nvSpPr>
        <p:spPr>
          <a:xfrm>
            <a:off x="577800" y="765525"/>
            <a:ext cx="4004784" cy="350865"/>
          </a:xfrm>
          <a:prstGeom prst="rect">
            <a:avLst/>
          </a:prstGeom>
          <a:noFill/>
          <a:ln>
            <a:noFill/>
          </a:ln>
        </p:spPr>
        <p:txBody>
          <a:bodyPr spcFirstLastPara="1" wrap="square" lIns="0" tIns="0" rIns="0" bIns="0" anchor="t" anchorCtr="0">
            <a:spAutoFit/>
          </a:bodyPr>
          <a:lstStyle/>
          <a:p>
            <a:pPr marL="0" marR="0" lvl="0" indent="0" algn="l" rtl="0">
              <a:lnSpc>
                <a:spcPct val="114012"/>
              </a:lnSpc>
              <a:spcBef>
                <a:spcPts val="0"/>
              </a:spcBef>
              <a:spcAft>
                <a:spcPts val="0"/>
              </a:spcAft>
              <a:buNone/>
            </a:pPr>
            <a:r>
              <a:rPr lang="en-US" sz="2000" b="1" i="0" u="none" strike="noStrike" cap="none" dirty="0">
                <a:solidFill>
                  <a:srgbClr val="000000"/>
                </a:solidFill>
                <a:sym typeface="Arial"/>
              </a:rPr>
              <a:t>SUPER 40 WINTER INTERNSHIP</a:t>
            </a:r>
            <a:endParaRPr sz="1000" b="1" dirty="0"/>
          </a:p>
        </p:txBody>
      </p:sp>
      <p:sp>
        <p:nvSpPr>
          <p:cNvPr id="122" name="Google Shape;122;p1"/>
          <p:cNvSpPr txBox="1"/>
          <p:nvPr/>
        </p:nvSpPr>
        <p:spPr>
          <a:xfrm>
            <a:off x="577799" y="421581"/>
            <a:ext cx="5379711" cy="203327"/>
          </a:xfrm>
          <a:prstGeom prst="rect">
            <a:avLst/>
          </a:prstGeom>
          <a:noFill/>
          <a:ln>
            <a:noFill/>
          </a:ln>
        </p:spPr>
        <p:txBody>
          <a:bodyPr spcFirstLastPara="1" wrap="square" lIns="0" tIns="0" rIns="0" bIns="0" anchor="t" anchorCtr="0">
            <a:spAutoFit/>
          </a:bodyPr>
          <a:lstStyle/>
          <a:p>
            <a:pPr marL="0" marR="0" lvl="0" indent="0" algn="l" rtl="0">
              <a:lnSpc>
                <a:spcPct val="118013"/>
              </a:lnSpc>
              <a:spcBef>
                <a:spcPts val="0"/>
              </a:spcBef>
              <a:spcAft>
                <a:spcPts val="0"/>
              </a:spcAft>
              <a:buNone/>
            </a:pPr>
            <a:r>
              <a:rPr lang="en-US" sz="1299" b="0" i="0" u="none" strike="noStrike" cap="none" dirty="0">
                <a:solidFill>
                  <a:srgbClr val="000000"/>
                </a:solidFill>
                <a:latin typeface="Questrial"/>
                <a:ea typeface="Questrial"/>
                <a:cs typeface="Questrial"/>
                <a:sym typeface="Questrial"/>
              </a:rPr>
              <a:t>IEM RESEARCH FOUNDATION</a:t>
            </a:r>
            <a:endParaRPr dirty="0"/>
          </a:p>
        </p:txBody>
      </p:sp>
      <p:sp>
        <p:nvSpPr>
          <p:cNvPr id="123" name="Google Shape;123;p1"/>
          <p:cNvSpPr txBox="1"/>
          <p:nvPr/>
        </p:nvSpPr>
        <p:spPr>
          <a:xfrm>
            <a:off x="5028792" y="2077953"/>
            <a:ext cx="1537580" cy="1365162"/>
          </a:xfrm>
          <a:prstGeom prst="rect">
            <a:avLst/>
          </a:prstGeom>
          <a:noFill/>
          <a:ln>
            <a:noFill/>
          </a:ln>
        </p:spPr>
        <p:txBody>
          <a:bodyPr spcFirstLastPara="1" wrap="square" lIns="0" tIns="0" rIns="0" bIns="0" anchor="t" anchorCtr="0">
            <a:spAutoFit/>
          </a:bodyPr>
          <a:lstStyle/>
          <a:p>
            <a:pPr marL="0" marR="0" lvl="0" indent="0" algn="ctr" rtl="0">
              <a:lnSpc>
                <a:spcPct val="114008"/>
              </a:lnSpc>
              <a:spcBef>
                <a:spcPts val="0"/>
              </a:spcBef>
              <a:spcAft>
                <a:spcPts val="0"/>
              </a:spcAft>
              <a:buNone/>
            </a:pPr>
            <a:r>
              <a:rPr lang="en-US" sz="9344" b="1" i="0" u="none" strike="noStrike" cap="none">
                <a:solidFill>
                  <a:srgbClr val="FFD67F"/>
                </a:solidFill>
                <a:latin typeface="Oswald"/>
                <a:ea typeface="Oswald"/>
                <a:cs typeface="Oswald"/>
                <a:sym typeface="Oswald"/>
              </a:rPr>
              <a:t>2</a:t>
            </a:r>
            <a:endParaRPr/>
          </a:p>
        </p:txBody>
      </p:sp>
      <p:sp>
        <p:nvSpPr>
          <p:cNvPr id="124" name="Google Shape;124;p1"/>
          <p:cNvSpPr txBox="1"/>
          <p:nvPr/>
        </p:nvSpPr>
        <p:spPr>
          <a:xfrm>
            <a:off x="4582584" y="3760861"/>
            <a:ext cx="2433559" cy="1795363"/>
          </a:xfrm>
          <a:prstGeom prst="rect">
            <a:avLst/>
          </a:prstGeom>
          <a:noFill/>
          <a:ln>
            <a:noFill/>
          </a:ln>
        </p:spPr>
        <p:txBody>
          <a:bodyPr spcFirstLastPara="1" wrap="square" lIns="0" tIns="0" rIns="0" bIns="0" anchor="t" anchorCtr="0">
            <a:spAutoFit/>
          </a:bodyPr>
          <a:lstStyle/>
          <a:p>
            <a:pPr marL="0" marR="0" lvl="0" indent="0" algn="l" rtl="0">
              <a:lnSpc>
                <a:spcPct val="117916"/>
              </a:lnSpc>
              <a:spcBef>
                <a:spcPts val="0"/>
              </a:spcBef>
              <a:spcAft>
                <a:spcPts val="0"/>
              </a:spcAft>
              <a:buNone/>
            </a:pPr>
            <a:r>
              <a:rPr lang="en-US" sz="1199" b="0" i="0" u="none" strike="noStrike" cap="none" dirty="0">
                <a:solidFill>
                  <a:srgbClr val="000000"/>
                </a:solidFill>
                <a:latin typeface="Questrial"/>
                <a:ea typeface="Questrial"/>
                <a:cs typeface="Questrial"/>
                <a:sym typeface="Questrial"/>
              </a:rPr>
              <a:t>We audited the existing site, benchmarked top MBA websites, gathered stakeholder insights, and identified priorities such as clear program communication, faculty visibility, industry relevance, and improved navigation to guide the new website’s design approach</a:t>
            </a:r>
            <a:r>
              <a:rPr lang="en-US" sz="1200" b="0" i="0" u="none" strike="noStrike" cap="none" dirty="0">
                <a:solidFill>
                  <a:schemeClr val="dk1"/>
                </a:solidFill>
                <a:latin typeface="Calibri"/>
                <a:ea typeface="Calibri"/>
                <a:cs typeface="Calibri"/>
                <a:sym typeface="Calibri"/>
              </a:rPr>
              <a:t>.</a:t>
            </a:r>
            <a:endParaRPr sz="1199" b="0" i="0" u="none" strike="noStrike" cap="none" dirty="0">
              <a:solidFill>
                <a:srgbClr val="000000"/>
              </a:solidFill>
              <a:latin typeface="Questrial"/>
              <a:ea typeface="Questrial"/>
              <a:cs typeface="Questrial"/>
              <a:sym typeface="Questrial"/>
            </a:endParaRPr>
          </a:p>
        </p:txBody>
      </p:sp>
      <p:sp>
        <p:nvSpPr>
          <p:cNvPr id="126" name="Google Shape;126;p1"/>
          <p:cNvSpPr txBox="1"/>
          <p:nvPr/>
        </p:nvSpPr>
        <p:spPr>
          <a:xfrm>
            <a:off x="1316662" y="4996537"/>
            <a:ext cx="2967653" cy="1826269"/>
          </a:xfrm>
          <a:prstGeom prst="rect">
            <a:avLst/>
          </a:prstGeom>
          <a:noFill/>
          <a:ln>
            <a:noFill/>
          </a:ln>
        </p:spPr>
        <p:txBody>
          <a:bodyPr spcFirstLastPara="1" wrap="square" lIns="0" tIns="0" rIns="0" bIns="0" anchor="t" anchorCtr="0">
            <a:spAutoFit/>
          </a:bodyPr>
          <a:lstStyle/>
          <a:p>
            <a:pPr marL="237491" marR="0" lvl="1" indent="-118745" algn="l" rtl="0">
              <a:lnSpc>
                <a:spcPct val="113761"/>
              </a:lnSpc>
              <a:spcBef>
                <a:spcPts val="0"/>
              </a:spcBef>
              <a:spcAft>
                <a:spcPts val="0"/>
              </a:spcAft>
              <a:buClr>
                <a:srgbClr val="000000"/>
              </a:buClr>
              <a:buSzPts val="1199"/>
              <a:buFont typeface="Arial"/>
              <a:buChar char="•"/>
            </a:pPr>
            <a:r>
              <a:rPr lang="en-US" sz="1199" b="0" i="0" u="none" strike="noStrike" cap="none" dirty="0">
                <a:solidFill>
                  <a:srgbClr val="000000"/>
                </a:solidFill>
                <a:latin typeface="Questrial"/>
                <a:ea typeface="Questrial"/>
                <a:cs typeface="Questrial"/>
                <a:sym typeface="Questrial"/>
              </a:rPr>
              <a:t>The new website will present a strong digital identity, </a:t>
            </a:r>
            <a:r>
              <a:rPr lang="en-US" sz="1199" b="0" i="0" u="none" strike="noStrike" cap="none" dirty="0">
                <a:solidFill>
                  <a:srgbClr val="FF0000"/>
                </a:solidFill>
                <a:latin typeface="Questrial"/>
                <a:ea typeface="Questrial"/>
                <a:cs typeface="Questrial"/>
                <a:sym typeface="Questrial"/>
              </a:rPr>
              <a:t>showcase academic excellence</a:t>
            </a:r>
            <a:r>
              <a:rPr lang="en-US" sz="1199" b="0" i="0" u="none" strike="noStrike" cap="none" dirty="0">
                <a:solidFill>
                  <a:srgbClr val="000000"/>
                </a:solidFill>
                <a:latin typeface="Questrial"/>
                <a:ea typeface="Questrial"/>
                <a:cs typeface="Questrial"/>
                <a:sym typeface="Questrial"/>
              </a:rPr>
              <a:t> and industry integration</a:t>
            </a:r>
            <a:endParaRPr sz="1199" b="0" i="0" u="none" strike="noStrike" cap="none" dirty="0">
              <a:solidFill>
                <a:srgbClr val="000000"/>
              </a:solidFill>
              <a:latin typeface="Questrial"/>
              <a:ea typeface="Questrial"/>
              <a:cs typeface="Questrial"/>
              <a:sym typeface="Questrial"/>
            </a:endParaRPr>
          </a:p>
          <a:p>
            <a:pPr marL="237491" marR="0" lvl="1" indent="-118745" algn="l" rtl="0">
              <a:lnSpc>
                <a:spcPct val="113761"/>
              </a:lnSpc>
              <a:spcBef>
                <a:spcPts val="600"/>
              </a:spcBef>
              <a:spcAft>
                <a:spcPts val="0"/>
              </a:spcAft>
              <a:buClr>
                <a:srgbClr val="000000"/>
              </a:buClr>
              <a:buSzPts val="1199"/>
              <a:buFont typeface="Arial"/>
              <a:buChar char="•"/>
            </a:pPr>
            <a:r>
              <a:rPr lang="en-US" sz="1199" b="0" i="0" u="none" strike="noStrike" cap="none" dirty="0">
                <a:solidFill>
                  <a:srgbClr val="FF0000"/>
                </a:solidFill>
                <a:latin typeface="Questrial"/>
                <a:ea typeface="Questrial"/>
                <a:cs typeface="Questrial"/>
                <a:sym typeface="Questrial"/>
              </a:rPr>
              <a:t>Provide information for prospective students, recruiters, and current learners through an engaging, modern, user-centric platform.</a:t>
            </a:r>
            <a:endParaRPr sz="1100" b="0" i="0" u="none" strike="noStrike" cap="none" dirty="0">
              <a:solidFill>
                <a:srgbClr val="FF0000"/>
              </a:solidFill>
              <a:latin typeface="Questrial"/>
              <a:ea typeface="Questrial"/>
              <a:cs typeface="Questrial"/>
              <a:sym typeface="Questrial"/>
            </a:endParaRPr>
          </a:p>
          <a:p>
            <a:pPr marL="0" marR="0" lvl="0" indent="0" algn="l" rtl="0">
              <a:lnSpc>
                <a:spcPct val="117999"/>
              </a:lnSpc>
              <a:spcBef>
                <a:spcPts val="600"/>
              </a:spcBef>
              <a:spcAft>
                <a:spcPts val="0"/>
              </a:spcAft>
              <a:buNone/>
            </a:pPr>
            <a:endParaRPr sz="1100" b="0" i="0" u="none" strike="noStrike" cap="none" dirty="0">
              <a:solidFill>
                <a:srgbClr val="000000"/>
              </a:solidFill>
              <a:latin typeface="Questrial"/>
              <a:ea typeface="Questrial"/>
              <a:cs typeface="Questrial"/>
              <a:sym typeface="Questrial"/>
            </a:endParaRPr>
          </a:p>
        </p:txBody>
      </p:sp>
      <p:sp>
        <p:nvSpPr>
          <p:cNvPr id="128" name="Google Shape;128;p1"/>
          <p:cNvSpPr txBox="1"/>
          <p:nvPr/>
        </p:nvSpPr>
        <p:spPr>
          <a:xfrm>
            <a:off x="707662" y="4861163"/>
            <a:ext cx="552480" cy="1365162"/>
          </a:xfrm>
          <a:prstGeom prst="rect">
            <a:avLst/>
          </a:prstGeom>
          <a:noFill/>
          <a:ln>
            <a:noFill/>
          </a:ln>
        </p:spPr>
        <p:txBody>
          <a:bodyPr spcFirstLastPara="1" wrap="square" lIns="0" tIns="0" rIns="0" bIns="0" anchor="t" anchorCtr="0">
            <a:spAutoFit/>
          </a:bodyPr>
          <a:lstStyle/>
          <a:p>
            <a:pPr marL="0" marR="0" lvl="0" indent="0" algn="ctr" rtl="0">
              <a:lnSpc>
                <a:spcPct val="114008"/>
              </a:lnSpc>
              <a:spcBef>
                <a:spcPts val="0"/>
              </a:spcBef>
              <a:spcAft>
                <a:spcPts val="0"/>
              </a:spcAft>
              <a:buNone/>
            </a:pPr>
            <a:r>
              <a:rPr lang="en-US" sz="9344" b="1" i="0" u="none" strike="noStrike" cap="none">
                <a:solidFill>
                  <a:srgbClr val="FFD67F"/>
                </a:solidFill>
                <a:latin typeface="Oswald"/>
                <a:ea typeface="Oswald"/>
                <a:cs typeface="Oswald"/>
                <a:sym typeface="Oswald"/>
              </a:rPr>
              <a:t>3</a:t>
            </a:r>
            <a:endParaRPr sz="1199" b="0" i="0" u="none" strike="noStrike" cap="none">
              <a:solidFill>
                <a:srgbClr val="000000"/>
              </a:solidFill>
              <a:latin typeface="Questrial"/>
              <a:ea typeface="Questrial"/>
              <a:cs typeface="Questrial"/>
              <a:sym typeface="Questrial"/>
            </a:endParaRPr>
          </a:p>
        </p:txBody>
      </p:sp>
      <p:sp>
        <p:nvSpPr>
          <p:cNvPr id="130" name="Google Shape;130;p1"/>
          <p:cNvSpPr txBox="1"/>
          <p:nvPr/>
        </p:nvSpPr>
        <p:spPr>
          <a:xfrm>
            <a:off x="2225880" y="6699220"/>
            <a:ext cx="552480" cy="1365162"/>
          </a:xfrm>
          <a:prstGeom prst="rect">
            <a:avLst/>
          </a:prstGeom>
          <a:noFill/>
          <a:ln>
            <a:noFill/>
          </a:ln>
        </p:spPr>
        <p:txBody>
          <a:bodyPr spcFirstLastPara="1" wrap="square" lIns="0" tIns="0" rIns="0" bIns="0" anchor="t" anchorCtr="0">
            <a:spAutoFit/>
          </a:bodyPr>
          <a:lstStyle/>
          <a:p>
            <a:pPr marL="0" marR="0" lvl="0" indent="0" algn="ctr" rtl="0">
              <a:lnSpc>
                <a:spcPct val="114008"/>
              </a:lnSpc>
              <a:spcBef>
                <a:spcPts val="0"/>
              </a:spcBef>
              <a:spcAft>
                <a:spcPts val="0"/>
              </a:spcAft>
              <a:buNone/>
            </a:pPr>
            <a:r>
              <a:rPr lang="en-US" sz="9344" b="1" i="0" u="none" strike="noStrike" cap="none">
                <a:solidFill>
                  <a:srgbClr val="FFD67F"/>
                </a:solidFill>
                <a:latin typeface="Oswald"/>
                <a:ea typeface="Oswald"/>
                <a:cs typeface="Oswald"/>
                <a:sym typeface="Oswald"/>
              </a:rPr>
              <a:t>4</a:t>
            </a:r>
            <a:endParaRPr/>
          </a:p>
        </p:txBody>
      </p:sp>
      <p:sp>
        <p:nvSpPr>
          <p:cNvPr id="131" name="Google Shape;131;p1"/>
          <p:cNvSpPr txBox="1"/>
          <p:nvPr/>
        </p:nvSpPr>
        <p:spPr>
          <a:xfrm>
            <a:off x="2830024" y="7192356"/>
            <a:ext cx="4126646" cy="1460400"/>
          </a:xfrm>
          <a:prstGeom prst="rect">
            <a:avLst/>
          </a:prstGeom>
          <a:noFill/>
          <a:ln>
            <a:noFill/>
          </a:ln>
        </p:spPr>
        <p:txBody>
          <a:bodyPr spcFirstLastPara="1" wrap="square" lIns="0" tIns="0" rIns="0" bIns="0" anchor="t" anchorCtr="0">
            <a:spAutoFit/>
          </a:bodyPr>
          <a:lstStyle/>
          <a:p>
            <a:pPr marL="259080" marR="0" lvl="1" indent="-129540" algn="l" rtl="0">
              <a:lnSpc>
                <a:spcPct val="118015"/>
              </a:lnSpc>
              <a:spcBef>
                <a:spcPts val="0"/>
              </a:spcBef>
              <a:spcAft>
                <a:spcPts val="0"/>
              </a:spcAft>
              <a:buClr>
                <a:srgbClr val="000000"/>
              </a:buClr>
              <a:buSzPts val="1199"/>
              <a:buFont typeface="Arial"/>
              <a:buChar char="•"/>
            </a:pPr>
            <a:r>
              <a:rPr lang="en-US" sz="1199" b="0" i="0" u="none" strike="noStrike" cap="none" dirty="0">
                <a:solidFill>
                  <a:srgbClr val="000000"/>
                </a:solidFill>
                <a:latin typeface="Questrial"/>
                <a:ea typeface="Questrial"/>
                <a:cs typeface="Questrial"/>
                <a:sym typeface="Questrial"/>
              </a:rPr>
              <a:t>Redesign the website with intuitive navigation, fresh content, interactive elements, </a:t>
            </a:r>
            <a:r>
              <a:rPr lang="en-US" sz="1199" b="0" i="0" u="none" strike="noStrike" cap="none" dirty="0">
                <a:solidFill>
                  <a:srgbClr val="FF0000"/>
                </a:solidFill>
                <a:latin typeface="Questrial"/>
                <a:ea typeface="Questrial"/>
                <a:cs typeface="Questrial"/>
                <a:sym typeface="Questrial"/>
              </a:rPr>
              <a:t>SEO </a:t>
            </a:r>
            <a:r>
              <a:rPr lang="en-US" sz="1199" b="0" i="0" u="none" strike="noStrike" cap="none" dirty="0" smtClean="0">
                <a:solidFill>
                  <a:srgbClr val="FF0000"/>
                </a:solidFill>
                <a:latin typeface="Questrial"/>
                <a:ea typeface="Questrial"/>
                <a:cs typeface="Questrial"/>
                <a:sym typeface="Questrial"/>
              </a:rPr>
              <a:t>optimization, </a:t>
            </a:r>
            <a:r>
              <a:rPr lang="en-US" sz="1199" b="0" i="0" u="none" strike="noStrike" cap="none" dirty="0">
                <a:solidFill>
                  <a:srgbClr val="FF0000"/>
                </a:solidFill>
                <a:latin typeface="Questrial"/>
                <a:ea typeface="Questrial"/>
                <a:cs typeface="Questrial"/>
                <a:sym typeface="Questrial"/>
              </a:rPr>
              <a:t>and seamless integration with LMS and admission systems</a:t>
            </a:r>
            <a:r>
              <a:rPr lang="en-US" sz="1199" b="0" i="0" u="none" strike="noStrike" cap="none" dirty="0">
                <a:solidFill>
                  <a:srgbClr val="000000"/>
                </a:solidFill>
                <a:latin typeface="Questrial"/>
                <a:ea typeface="Questrial"/>
                <a:cs typeface="Questrial"/>
                <a:sym typeface="Questrial"/>
              </a:rPr>
              <a:t>, </a:t>
            </a:r>
            <a:endParaRPr sz="1199" b="0" i="0" u="none" strike="noStrike" cap="none" dirty="0">
              <a:solidFill>
                <a:srgbClr val="000000"/>
              </a:solidFill>
              <a:latin typeface="Questrial"/>
              <a:ea typeface="Questrial"/>
              <a:cs typeface="Questrial"/>
              <a:sym typeface="Questrial"/>
            </a:endParaRPr>
          </a:p>
          <a:p>
            <a:pPr marL="259080" marR="0" lvl="1" indent="-129540" algn="l" rtl="0">
              <a:lnSpc>
                <a:spcPct val="118015"/>
              </a:lnSpc>
              <a:spcBef>
                <a:spcPts val="600"/>
              </a:spcBef>
              <a:spcAft>
                <a:spcPts val="0"/>
              </a:spcAft>
              <a:buClr>
                <a:srgbClr val="000000"/>
              </a:buClr>
              <a:buSzPts val="1199"/>
              <a:buFont typeface="Arial"/>
              <a:buChar char="•"/>
            </a:pPr>
            <a:r>
              <a:rPr lang="en-US" sz="1199" b="0" i="0" u="none" strike="noStrike" cap="none" dirty="0">
                <a:solidFill>
                  <a:srgbClr val="000000"/>
                </a:solidFill>
                <a:latin typeface="Questrial"/>
                <a:ea typeface="Questrial"/>
                <a:cs typeface="Questrial"/>
                <a:sym typeface="Questrial"/>
              </a:rPr>
              <a:t>Ensuring a mobile-first, visually compelling, and </a:t>
            </a:r>
            <a:r>
              <a:rPr lang="en-US" sz="1199" b="0" i="0" u="none" strike="noStrike" cap="none" dirty="0">
                <a:solidFill>
                  <a:srgbClr val="FF0000"/>
                </a:solidFill>
                <a:latin typeface="Questrial"/>
                <a:ea typeface="Questrial"/>
                <a:cs typeface="Questrial"/>
                <a:sym typeface="Questrial"/>
              </a:rPr>
              <a:t>stakeholder-aligned digital experience</a:t>
            </a:r>
            <a:r>
              <a:rPr lang="en-US" sz="1199" b="0" i="0" u="none" strike="noStrike" cap="none" dirty="0">
                <a:solidFill>
                  <a:srgbClr val="000000"/>
                </a:solidFill>
                <a:latin typeface="Questrial"/>
                <a:ea typeface="Questrial"/>
                <a:cs typeface="Questrial"/>
                <a:sym typeface="Questrial"/>
              </a:rPr>
              <a:t>.</a:t>
            </a:r>
            <a:endParaRPr sz="1199" b="0" i="0" u="none" strike="noStrike" cap="none" dirty="0">
              <a:solidFill>
                <a:srgbClr val="000000"/>
              </a:solidFill>
              <a:latin typeface="Questrial"/>
              <a:ea typeface="Questrial"/>
              <a:cs typeface="Questrial"/>
              <a:sym typeface="Questrial"/>
            </a:endParaRPr>
          </a:p>
          <a:p>
            <a:pPr marL="0" marR="0" lvl="0" indent="0" algn="l" rtl="0">
              <a:lnSpc>
                <a:spcPct val="118015"/>
              </a:lnSpc>
              <a:spcBef>
                <a:spcPts val="600"/>
              </a:spcBef>
              <a:spcAft>
                <a:spcPts val="0"/>
              </a:spcAft>
              <a:buNone/>
            </a:pPr>
            <a:endParaRPr sz="1199" b="0" i="0" u="none" strike="noStrike" cap="none" dirty="0">
              <a:solidFill>
                <a:srgbClr val="000000"/>
              </a:solidFill>
              <a:latin typeface="Questrial"/>
              <a:ea typeface="Questrial"/>
              <a:cs typeface="Questrial"/>
              <a:sym typeface="Questrial"/>
            </a:endParaRPr>
          </a:p>
        </p:txBody>
      </p:sp>
      <p:sp>
        <p:nvSpPr>
          <p:cNvPr id="132" name="Google Shape;132;p1"/>
          <p:cNvSpPr txBox="1"/>
          <p:nvPr/>
        </p:nvSpPr>
        <p:spPr>
          <a:xfrm>
            <a:off x="672955" y="9089306"/>
            <a:ext cx="6358328" cy="653256"/>
          </a:xfrm>
          <a:prstGeom prst="rect">
            <a:avLst/>
          </a:prstGeom>
          <a:noFill/>
          <a:ln>
            <a:noFill/>
          </a:ln>
        </p:spPr>
        <p:txBody>
          <a:bodyPr spcFirstLastPara="1" wrap="square" lIns="0" tIns="0" rIns="0" bIns="0" anchor="t" anchorCtr="0">
            <a:spAutoFit/>
          </a:bodyPr>
          <a:lstStyle/>
          <a:p>
            <a:pPr marL="129540" marR="0" lvl="1" indent="0" algn="l" rtl="0">
              <a:lnSpc>
                <a:spcPct val="118015"/>
              </a:lnSpc>
              <a:spcBef>
                <a:spcPts val="0"/>
              </a:spcBef>
              <a:spcAft>
                <a:spcPts val="0"/>
              </a:spcAft>
              <a:buNone/>
            </a:pPr>
            <a:r>
              <a:rPr lang="en-US" sz="1199" b="0" i="0" u="none" strike="noStrike" cap="none" dirty="0">
                <a:solidFill>
                  <a:srgbClr val="FF0000"/>
                </a:solidFill>
                <a:latin typeface="Questrial"/>
                <a:ea typeface="Questrial"/>
                <a:cs typeface="Questrial"/>
                <a:sym typeface="Questrial"/>
              </a:rPr>
              <a:t>Improved student engagement and inquiries, strengthened departmental brand, enhanced recruiter confidence, better visibility of faculty and achievements, and a scalable digital platform supporting continuous updates, partnerships, and long-term institutional growth</a:t>
            </a:r>
            <a:r>
              <a:rPr lang="en-US" sz="1199" b="0" i="0" u="none" strike="noStrike" cap="none" dirty="0">
                <a:solidFill>
                  <a:srgbClr val="000000"/>
                </a:solidFill>
                <a:latin typeface="Questrial"/>
                <a:ea typeface="Questrial"/>
                <a:cs typeface="Questrial"/>
                <a:sym typeface="Questrial"/>
              </a:rPr>
              <a:t>.</a:t>
            </a:r>
            <a:endParaRPr sz="1199" b="0" i="0" u="none" strike="noStrike" cap="none" dirty="0">
              <a:solidFill>
                <a:srgbClr val="000000"/>
              </a:solidFill>
              <a:latin typeface="Questrial"/>
              <a:ea typeface="Questrial"/>
              <a:cs typeface="Questrial"/>
              <a:sym typeface="Questrial"/>
            </a:endParaRPr>
          </a:p>
        </p:txBody>
      </p:sp>
      <p:sp>
        <p:nvSpPr>
          <p:cNvPr id="134" name="Google Shape;134;p1"/>
          <p:cNvSpPr txBox="1"/>
          <p:nvPr/>
        </p:nvSpPr>
        <p:spPr>
          <a:xfrm>
            <a:off x="577799" y="1345445"/>
            <a:ext cx="4450993" cy="350865"/>
          </a:xfrm>
          <a:prstGeom prst="rect">
            <a:avLst/>
          </a:prstGeom>
          <a:noFill/>
          <a:ln>
            <a:noFill/>
          </a:ln>
        </p:spPr>
        <p:txBody>
          <a:bodyPr spcFirstLastPara="1" wrap="square" lIns="0" tIns="0" rIns="0" bIns="0" anchor="t" anchorCtr="0">
            <a:spAutoFit/>
          </a:bodyPr>
          <a:lstStyle/>
          <a:p>
            <a:pPr marL="0" marR="0" lvl="0" indent="0" algn="l" rtl="0">
              <a:lnSpc>
                <a:spcPct val="114017"/>
              </a:lnSpc>
              <a:spcBef>
                <a:spcPts val="0"/>
              </a:spcBef>
              <a:spcAft>
                <a:spcPts val="0"/>
              </a:spcAft>
              <a:buNone/>
            </a:pPr>
            <a:r>
              <a:rPr lang="en-US" sz="2000" b="1" i="0" u="none" strike="noStrike" cap="none" dirty="0">
                <a:solidFill>
                  <a:srgbClr val="000000"/>
                </a:solidFill>
                <a:latin typeface="Arial"/>
                <a:ea typeface="Arial"/>
                <a:cs typeface="Arial"/>
                <a:sym typeface="Arial"/>
              </a:rPr>
              <a:t>Project – MBA Portal </a:t>
            </a:r>
            <a:endParaRPr sz="2000" b="1" i="0" u="none" strike="noStrike" cap="none" dirty="0">
              <a:solidFill>
                <a:srgbClr val="000000"/>
              </a:solidFill>
              <a:latin typeface="Arial"/>
              <a:ea typeface="Arial"/>
              <a:cs typeface="Arial"/>
              <a:sym typeface="Arial"/>
            </a:endParaRPr>
          </a:p>
        </p:txBody>
      </p:sp>
      <p:sp>
        <p:nvSpPr>
          <p:cNvPr id="135" name="Google Shape;135;p1"/>
          <p:cNvSpPr txBox="1"/>
          <p:nvPr/>
        </p:nvSpPr>
        <p:spPr>
          <a:xfrm>
            <a:off x="524215" y="10265811"/>
            <a:ext cx="6312768" cy="4308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u="none" strike="noStrike" cap="none">
                <a:solidFill>
                  <a:srgbClr val="000000"/>
                </a:solidFill>
                <a:latin typeface="Questrial"/>
                <a:ea typeface="Questrial"/>
                <a:cs typeface="Questrial"/>
                <a:sym typeface="Questrial"/>
              </a:rPr>
              <a:t>Godrej Genesis Building, 15th Floor, Unit No. 1502, Sector V, Block EP &amp; GP, Salt Lake City, Kolkata – 700091, West Bengal, India.</a:t>
            </a:r>
            <a:endParaRPr sz="1100" b="1" i="0" u="none" strike="noStrike" cap="none">
              <a:solidFill>
                <a:srgbClr val="000000"/>
              </a:solidFill>
              <a:latin typeface="Questrial"/>
              <a:ea typeface="Questrial"/>
              <a:cs typeface="Questrial"/>
              <a:sym typeface="Questrial"/>
            </a:endParaRPr>
          </a:p>
        </p:txBody>
      </p:sp>
      <p:sp>
        <p:nvSpPr>
          <p:cNvPr id="54" name="Google Shape;90;p1"/>
          <p:cNvSpPr txBox="1"/>
          <p:nvPr/>
        </p:nvSpPr>
        <p:spPr>
          <a:xfrm>
            <a:off x="1029026" y="4560546"/>
            <a:ext cx="2011758" cy="280718"/>
          </a:xfrm>
          <a:prstGeom prst="rect">
            <a:avLst/>
          </a:prstGeom>
          <a:noFill/>
          <a:ln>
            <a:noFill/>
          </a:ln>
        </p:spPr>
        <p:txBody>
          <a:bodyPr spcFirstLastPara="1" wrap="square" lIns="0" tIns="0" rIns="0" bIns="0" anchor="t" anchorCtr="0">
            <a:spAutoFit/>
          </a:bodyPr>
          <a:lstStyle/>
          <a:p>
            <a:pPr marL="0" marR="0" lvl="0" indent="0" algn="l" rtl="0">
              <a:lnSpc>
                <a:spcPct val="114006"/>
              </a:lnSpc>
              <a:spcBef>
                <a:spcPts val="0"/>
              </a:spcBef>
              <a:spcAft>
                <a:spcPts val="0"/>
              </a:spcAft>
              <a:buNone/>
            </a:pPr>
            <a:r>
              <a:rPr lang="en-US" sz="1600" b="1" i="0" u="none" strike="noStrike" cap="none" dirty="0" smtClean="0">
                <a:solidFill>
                  <a:srgbClr val="000000"/>
                </a:solidFill>
                <a:sym typeface="Arial"/>
              </a:rPr>
              <a:t>Value Proposition</a:t>
            </a:r>
            <a:endParaRPr sz="1050" b="1" dirty="0"/>
          </a:p>
        </p:txBody>
      </p:sp>
      <p:sp>
        <p:nvSpPr>
          <p:cNvPr id="55" name="Google Shape;90;p1"/>
          <p:cNvSpPr txBox="1"/>
          <p:nvPr/>
        </p:nvSpPr>
        <p:spPr>
          <a:xfrm>
            <a:off x="4593988" y="3353065"/>
            <a:ext cx="2490653" cy="280718"/>
          </a:xfrm>
          <a:prstGeom prst="rect">
            <a:avLst/>
          </a:prstGeom>
          <a:noFill/>
          <a:ln>
            <a:noFill/>
          </a:ln>
        </p:spPr>
        <p:txBody>
          <a:bodyPr spcFirstLastPara="1" wrap="square" lIns="0" tIns="0" rIns="0" bIns="0" anchor="t" anchorCtr="0">
            <a:spAutoFit/>
          </a:bodyPr>
          <a:lstStyle/>
          <a:p>
            <a:pPr marL="0" marR="0" lvl="0" indent="0" algn="l" rtl="0">
              <a:lnSpc>
                <a:spcPct val="114006"/>
              </a:lnSpc>
              <a:spcBef>
                <a:spcPts val="0"/>
              </a:spcBef>
              <a:spcAft>
                <a:spcPts val="0"/>
              </a:spcAft>
              <a:buNone/>
            </a:pPr>
            <a:r>
              <a:rPr lang="en-US" sz="1600" b="1" dirty="0" smtClean="0"/>
              <a:t>Research and Ideation</a:t>
            </a:r>
            <a:endParaRPr sz="1050" b="1" dirty="0"/>
          </a:p>
        </p:txBody>
      </p:sp>
      <p:sp>
        <p:nvSpPr>
          <p:cNvPr id="56" name="Google Shape;90;p1"/>
          <p:cNvSpPr txBox="1"/>
          <p:nvPr/>
        </p:nvSpPr>
        <p:spPr>
          <a:xfrm>
            <a:off x="3084509" y="6741124"/>
            <a:ext cx="2777172" cy="280718"/>
          </a:xfrm>
          <a:prstGeom prst="rect">
            <a:avLst/>
          </a:prstGeom>
          <a:noFill/>
          <a:ln>
            <a:noFill/>
          </a:ln>
        </p:spPr>
        <p:txBody>
          <a:bodyPr spcFirstLastPara="1" wrap="square" lIns="0" tIns="0" rIns="0" bIns="0" anchor="t" anchorCtr="0">
            <a:spAutoFit/>
          </a:bodyPr>
          <a:lstStyle/>
          <a:p>
            <a:pPr marL="0" marR="0" lvl="0" indent="0" algn="l" rtl="0">
              <a:lnSpc>
                <a:spcPct val="114006"/>
              </a:lnSpc>
              <a:spcBef>
                <a:spcPts val="0"/>
              </a:spcBef>
              <a:spcAft>
                <a:spcPts val="0"/>
              </a:spcAft>
              <a:buNone/>
            </a:pPr>
            <a:r>
              <a:rPr lang="en-US" sz="1600" b="1" i="0" u="none" strike="noStrike" cap="none" dirty="0" smtClean="0">
                <a:solidFill>
                  <a:srgbClr val="000000"/>
                </a:solidFill>
                <a:sym typeface="Arial"/>
              </a:rPr>
              <a:t>Proposed Solution</a:t>
            </a:r>
            <a:endParaRPr sz="1050" b="1" dirty="0"/>
          </a:p>
        </p:txBody>
      </p:sp>
      <p:sp>
        <p:nvSpPr>
          <p:cNvPr id="57" name="Google Shape;90;p1"/>
          <p:cNvSpPr txBox="1"/>
          <p:nvPr/>
        </p:nvSpPr>
        <p:spPr>
          <a:xfrm>
            <a:off x="849973" y="8704993"/>
            <a:ext cx="2369864" cy="280718"/>
          </a:xfrm>
          <a:prstGeom prst="rect">
            <a:avLst/>
          </a:prstGeom>
          <a:noFill/>
          <a:ln>
            <a:noFill/>
          </a:ln>
        </p:spPr>
        <p:txBody>
          <a:bodyPr spcFirstLastPara="1" wrap="square" lIns="0" tIns="0" rIns="0" bIns="0" anchor="t" anchorCtr="0">
            <a:spAutoFit/>
          </a:bodyPr>
          <a:lstStyle/>
          <a:p>
            <a:pPr marL="0" marR="0" lvl="0" indent="0" algn="l" rtl="0">
              <a:lnSpc>
                <a:spcPct val="114006"/>
              </a:lnSpc>
              <a:spcBef>
                <a:spcPts val="0"/>
              </a:spcBef>
              <a:spcAft>
                <a:spcPts val="0"/>
              </a:spcAft>
              <a:buNone/>
            </a:pPr>
            <a:r>
              <a:rPr lang="en-US" sz="1600" b="1" i="0" u="none" strike="noStrike" cap="none" dirty="0" smtClean="0">
                <a:solidFill>
                  <a:srgbClr val="000000"/>
                </a:solidFill>
                <a:sym typeface="Arial"/>
              </a:rPr>
              <a:t>Potential Impact</a:t>
            </a:r>
            <a:endParaRPr sz="1050" b="1"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250</Words>
  <Application>Microsoft Office PowerPoint</Application>
  <PresentationFormat>Custom</PresentationFormat>
  <Paragraphs>21</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Questrial</vt:lpstr>
      <vt:lpstr>Calibri</vt:lpstr>
      <vt:lpstr>Arial</vt:lpstr>
      <vt:lpstr>Oswald</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Biswajit</dc:creator>
  <cp:lastModifiedBy>USER</cp:lastModifiedBy>
  <cp:revision>2</cp:revision>
  <dcterms:created xsi:type="dcterms:W3CDTF">2006-08-16T00:00:00Z</dcterms:created>
  <dcterms:modified xsi:type="dcterms:W3CDTF">2025-12-15T11:44:18Z</dcterms:modified>
</cp:coreProperties>
</file>